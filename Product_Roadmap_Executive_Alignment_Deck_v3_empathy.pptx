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3" r:id="rId24"/>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I want to separate three things that have become mixed together: product direction, discovery readiness, and delivery certainty. The objective is not to defend a Product artifact. It is to create a shared operating contract so the CEO, CTO and Sales can all get the information they need from one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The recurring disagreement is really about certainty. The CEO needs portfolio visibility and credible timing. Sales needs to know what can be said to customers. The CTO needs to protect Engineering from dates that have not been validated. Product needs to communicate future direction before every bet is fully discovered. Those needs are all legitimate. Before we discuss the operating model, I want to acknowledge the human and business impact of not having enough visibility.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t>The response to that legitimate need is not to force one artifact to pretend it can provide certainty it does not yet have. Research across Atlassian, Productboard, Aha!, ProductPlan, airfocus and Pendo consistently separates strategic roadmapping from detailed delivery planning. I propose three connected layers: roadmap for investment direction and sequencing; discovery/readiness for uncertainty reduction; and delivery/release planning for credible customer availability. Connected does not mean collapsed.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Rather than arguing from opinion, apply a roadmap test. Does the artifact connect to strategy? Does it show priorities and product direction? Does it provide sequencing or a time horizon? Does it show progress or confidence? Our JPD does: goals, themes, solutions, quarters, discovery maturity and Artefact Ready. Published definitions do not require every future item to have a finished PRD and prototype before it can appear. The unresolved issue is what level of delivery certainty each item carries.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explicitly acknowledge the CTO's valid concern. Immature work cannot responsibly carry a high-confidence delivery promise. Feasibility, dependencies, scope and capacity matter. Where I would draw the line differently is using completed discovery as the definition of a roadmap. That would hide future direction and turn the roadmap into a near-term delivery pipeline. The better protection is an explicit Definition of Committed.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need one semantic decision. A quarter on the roadmap should mean our current target horizon based on what we know today. It can contain committed items, but the quarter itself is not what creates the commitment. Commitment comes from an explicit status backed by readiness, feasibility, dependencies and capacity. If we instead decide every quarterly label is a guaranteed customer date, then only delivery-ready work can appear and we should call that artifact a release plan.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especially important because our existing Discovery Maturity and Artefact Ready model is not a weakness; it is the mechanism for progressively reducing uncertainty. Atlassian's own JPD guidance separates Discovery, Ready for delivery and Delivery. So Artefact Ready should be the readiness threshold for robust delivery planning, not the admission ticket to the roadmap. Committed comes after Product and Engineering have agreed the required delivery conditions.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CEO and Sales are right to ask for better dates. The answer is progressive certainty, not false precision. Early bets may only have a target quarter. As discovery and engineering planning progress, the forecast narrows from a quarter to a month or range and eventually to a committed release window. Every forecast should carry a confidence signal so nobody converts low-confidence roadmap intent into a customer promise.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CEO should not have to choose between strategy and delivery visibility. This portfolio view combines both: why we are investing, the roadmap horizon, maturity, delivery forecast and confidence. That allows two different questions: is this still the right bet, and how credible is the current delivery forecast?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Sales needs an explicit communication contract. The exact labels here are our proposed governance, not an industry standard: Vision, Planned, Forecast and Committed. The important best-practice principle is to distinguish directional roadmap information from customer-safe delivery commitments. This gives Sales more usable information while reducing accidental promises.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CTO, the useful view is engineering integrity: discovery maturity, readiness, dependencies, feasibility, capacity and forecast confidence. The roadmap does not remove Engineering's role in delivery commitment. It makes the transition from strategic intent to engineering commitment visible and governed.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propose that Committed be a jointly governed status. Required product artifacts are complete to the agreed threshold; feasibility and dependencies have been reviewed; scope is sufficiently understood; engineering sizing exists; and capacity has been allocated. The exact checklist can be calibrated, but the principle is that Product cannot create a delivery commitment unilaterally.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monthly Product and Delivery Outlook should review movement, not re-present the entire roadmap. Which bets changed? Which discovery items matured? Which delivery forecasts narrowed or moved? Which commitments are at risk? And which trade-offs require executive decisions? This creates predictable governance without turning every roadmap review into sprint management.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rights need to be explicit. Product owns strategic prioritization and roadmap integrity. Product and Engineering jointly govern readiness and commitment. Engineering owns credible execution forecasting with Product input. Sales owns customer conversations within the agreed communication status. Leadership arbitrates material portfolio trade-offs.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does not require a tooling migration. Week one is vocabulary and field definitions. Week two is the Definition of Committed and customer-communication rules. Week three is the CEO, CTO and Sales views in JPD. Week four is the first Product and Delivery Outlook. We fix the operating contract first and let JPD remain the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am asking for five decisions: agree what a roadmap quarter means; confirm Discovery Maturity and Artefact Ready as readiness signals; agree the Definition of Committed; agree the delivery-forecast confidence model; and agree what Sales may communicate at each status. Once those are explicit, most of today's disagreement should disappear.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framework has now been cross-checked against a broader set of product-management and SaaS sources. The strongest direct evidence for our specific case comes from Atlassian JPD itself, which separates Discovery, Ready for delivery and Delivery. Productboard, Aha!, ProductPlan, airfocus and Pendo reinforce the broader distinction between strategic roadmapping and more detailed delivery/release planning. The companion document contains the full URLs and claim-by-claim evidence table.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Before we debate definitions, I want to acknowledge the concern behind the debate. If you are accountable for revenue, customer commitments, engineering capacity or company credibility, not seeing a dependable delivery outlook is uncomfortable. That is a legitimate leadership need. Product should not answer it by asking everyone to tolerate ambiguity. We should answer it with better visibility: what is directional, what is mature, what has a forecast, what is committed, and how confidence increases over time. The goal is not false certainty; it is managed uncertainty.</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4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787D"/>
          </a:solidFill>
          <a:ln w="12700">
            <a:solidFill>
              <a:srgbClr val="00787D"/>
            </a:solidFill>
            <a:prstDash val="solid"/>
          </a:ln>
        </p:spPr>
        <p:txBody>
          <a:bodyPr/>
          <a:p/>
        </p:txBody>
      </p:sp>
      <p:sp>
        <p:nvSpPr>
          <p:cNvPr id="3" name="Text 1"/>
          <p:cNvSpPr/>
          <p:nvPr/>
        </p:nvSpPr>
        <p:spPr>
          <a:xfrm>
            <a:off x="731520" y="1051560"/>
            <a:ext cx="6949440" cy="548640"/>
          </a:xfrm>
          <a:prstGeom prst="rect">
            <a:avLst/>
          </a:prstGeom>
          <a:noFill/>
          <a:ln/>
        </p:spPr>
        <p:txBody>
          <a:bodyPr wrap="square" lIns="0" tIns="0" rIns="0" bIns="0" rtlCol="0" anchor="ctr"/>
          <a:lstStyle/>
          <a:p>
            <a:pPr indent="0" marL="0">
              <a:buNone/>
            </a:pPr>
            <a:r>
              <a:rPr lang="en-US" sz="3100" b="1" dirty="0">
                <a:solidFill>
                  <a:srgbClr val="FFFFFF"/>
                </a:solidFill>
              </a:rPr>
              <a:t>ROADMAP TO DELIVERY</a:t>
            </a:r>
            <a:endParaRPr lang="en-US" sz="3100" dirty="0"/>
          </a:p>
        </p:txBody>
      </p:sp>
      <p:sp>
        <p:nvSpPr>
          <p:cNvPr id="4" name="Text 2"/>
          <p:cNvSpPr/>
          <p:nvPr/>
        </p:nvSpPr>
        <p:spPr>
          <a:xfrm>
            <a:off x="731520" y="1737360"/>
            <a:ext cx="9875520" cy="960120"/>
          </a:xfrm>
          <a:prstGeom prst="rect">
            <a:avLst/>
          </a:prstGeom>
          <a:noFill/>
          <a:ln/>
        </p:spPr>
        <p:txBody>
          <a:bodyPr wrap="square" lIns="0" tIns="0" rIns="0" bIns="0" rtlCol="0" anchor="ctr"/>
          <a:lstStyle/>
          <a:p>
            <a:pPr indent="0" marL="0">
              <a:buNone/>
            </a:pPr>
            <a:r>
              <a:rPr lang="en-US" sz="2200" dirty="0">
                <a:solidFill>
                  <a:srgbClr val="DDE8ED"/>
                </a:solidFill>
              </a:rPr>
              <a:t>Creating executive alignment on product direction, discovery maturity and delivery certainty</a:t>
            </a:r>
            <a:endParaRPr lang="en-US" sz="2200" dirty="0"/>
          </a:p>
        </p:txBody>
      </p:sp>
      <p:sp>
        <p:nvSpPr>
          <p:cNvPr id="5" name="Shape 3"/>
          <p:cNvSpPr/>
          <p:nvPr/>
        </p:nvSpPr>
        <p:spPr>
          <a:xfrm>
            <a:off x="731520" y="2926080"/>
            <a:ext cx="3657600" cy="0"/>
          </a:xfrm>
          <a:prstGeom prst="line">
            <a:avLst/>
          </a:prstGeom>
          <a:noFill/>
          <a:ln w="38100">
            <a:solidFill>
              <a:srgbClr val="00787D"/>
            </a:solidFill>
            <a:prstDash val="solid"/>
          </a:ln>
        </p:spPr>
        <p:txBody>
          <a:bodyPr/>
          <a:p/>
        </p:txBody>
      </p:sp>
      <p:sp>
        <p:nvSpPr>
          <p:cNvPr id="6" name="Text 4"/>
          <p:cNvSpPr/>
          <p:nvPr/>
        </p:nvSpPr>
        <p:spPr>
          <a:xfrm>
            <a:off x="731520" y="3200400"/>
            <a:ext cx="5943600" cy="320040"/>
          </a:xfrm>
          <a:prstGeom prst="rect">
            <a:avLst/>
          </a:prstGeom>
          <a:noFill/>
          <a:ln/>
        </p:spPr>
        <p:txBody>
          <a:bodyPr wrap="square" lIns="0" tIns="0" rIns="0" bIns="0" rtlCol="0" anchor="ctr"/>
          <a:lstStyle/>
          <a:p>
            <a:pPr indent="0" marL="0">
              <a:buNone/>
            </a:pPr>
            <a:r>
              <a:rPr lang="en-US" sz="1300" b="1" dirty="0">
                <a:solidFill>
                  <a:srgbClr val="BFD8DB"/>
                </a:solidFill>
              </a:rPr>
              <a:t>CEO • CTO • Head of Product • Head of Sales</a:t>
            </a:r>
            <a:endParaRPr lang="en-US" sz="1300" dirty="0"/>
          </a:p>
        </p:txBody>
      </p:sp>
      <p:sp>
        <p:nvSpPr>
          <p:cNvPr id="7" name="Text 5"/>
          <p:cNvSpPr/>
          <p:nvPr/>
        </p:nvSpPr>
        <p:spPr>
          <a:xfrm>
            <a:off x="731520" y="4800600"/>
            <a:ext cx="9875520" cy="502920"/>
          </a:xfrm>
          <a:prstGeom prst="rect">
            <a:avLst/>
          </a:prstGeom>
          <a:noFill/>
          <a:ln/>
        </p:spPr>
        <p:txBody>
          <a:bodyPr wrap="square" lIns="0" tIns="0" rIns="0" bIns="0" rtlCol="0" anchor="ctr"/>
          <a:lstStyle/>
          <a:p>
            <a:pPr indent="0" marL="0">
              <a:buNone/>
            </a:pPr>
            <a:r>
              <a:rPr lang="en-US" sz="1700" b="1" dirty="0">
                <a:solidFill>
                  <a:srgbClr val="FFFFFF"/>
                </a:solidFill>
              </a:rPr>
              <a:t>Core idea: one source of truth, different questions, progressively higher certainty.</a:t>
            </a:r>
            <a:endParaRPr lang="en-US" sz="1700" dirty="0"/>
          </a:p>
        </p:txBody>
      </p:sp>
      <p:sp>
        <p:nvSpPr>
          <p:cNvPr id="8" name="Text 6"/>
          <p:cNvSpPr/>
          <p:nvPr/>
        </p:nvSpPr>
        <p:spPr>
          <a:xfrm>
            <a:off x="731520" y="6126480"/>
            <a:ext cx="1828800" cy="228600"/>
          </a:xfrm>
          <a:prstGeom prst="rect">
            <a:avLst/>
          </a:prstGeom>
          <a:noFill/>
          <a:ln/>
        </p:spPr>
        <p:txBody>
          <a:bodyPr wrap="square" lIns="0" tIns="0" rIns="0" bIns="0" rtlCol="0" anchor="ctr"/>
          <a:lstStyle/>
          <a:p>
            <a:pPr indent="0" marL="0">
              <a:buNone/>
            </a:pPr>
            <a:r>
              <a:rPr lang="en-US" sz="1000" dirty="0">
                <a:solidFill>
                  <a:srgbClr val="AFC2CC"/>
                </a:solidFill>
              </a:rPr>
              <a:t>September 2026</a:t>
            </a:r>
            <a:endParaRPr lang="en-US" sz="1000" dirty="0"/>
          </a:p>
        </p:txBody>
      </p:sp>
      <p:sp>
        <p:nvSpPr>
          <p:cNvPr id="9" name="Text 7"/>
          <p:cNvSpPr/>
          <p:nvPr/>
        </p:nvSpPr>
        <p:spPr>
          <a:xfrm>
            <a:off x="11201400" y="6473952"/>
            <a:ext cx="320040" cy="182880"/>
          </a:xfrm>
          <a:prstGeom prst="rect">
            <a:avLst/>
          </a:prstGeom>
          <a:noFill/>
          <a:ln/>
        </p:spPr>
        <p:txBody>
          <a:bodyPr wrap="square" lIns="0" tIns="0" rIns="0" bIns="0" rtlCol="0" anchor="ctr"/>
          <a:lstStyle/>
          <a:p>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EXECUTIVE DIAGNOSIS</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The real problem is not the roadmap — it is certainty</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685800" y="1508760"/>
            <a:ext cx="3429000" cy="3154680"/>
          </a:xfrm>
          <a:prstGeom prst="roundRect">
            <a:avLst>
              <a:gd name="adj" fmla="val 1739"/>
            </a:avLst>
          </a:prstGeom>
          <a:solidFill>
            <a:srgbClr val="F3F5F6"/>
          </a:solidFill>
          <a:ln w="10160">
            <a:solidFill>
              <a:srgbClr val="D9E0E3"/>
            </a:solidFill>
            <a:prstDash val="solid"/>
          </a:ln>
        </p:spPr>
        <p:txBody>
          <a:bodyPr/>
          <a:p/>
        </p:txBody>
      </p:sp>
      <p:sp>
        <p:nvSpPr>
          <p:cNvPr id="7" name="Shape 5"/>
          <p:cNvSpPr/>
          <p:nvPr/>
        </p:nvSpPr>
        <p:spPr>
          <a:xfrm>
            <a:off x="685800" y="1508760"/>
            <a:ext cx="54864" cy="3154680"/>
          </a:xfrm>
          <a:prstGeom prst="rect">
            <a:avLst/>
          </a:prstGeom>
          <a:solidFill>
            <a:srgbClr val="E7A83E"/>
          </a:solidFill>
          <a:ln w="12700">
            <a:solidFill>
              <a:srgbClr val="E7A83E"/>
            </a:solidFill>
            <a:prstDash val="solid"/>
          </a:ln>
        </p:spPr>
        <p:txBody>
          <a:bodyPr/>
          <a:p/>
        </p:txBody>
      </p:sp>
      <p:sp>
        <p:nvSpPr>
          <p:cNvPr id="8" name="Text 6"/>
          <p:cNvSpPr/>
          <p:nvPr/>
        </p:nvSpPr>
        <p:spPr>
          <a:xfrm>
            <a:off x="886968" y="1655064"/>
            <a:ext cx="3108960" cy="274320"/>
          </a:xfrm>
          <a:prstGeom prst="rect">
            <a:avLst/>
          </a:prstGeom>
          <a:noFill/>
          <a:ln/>
        </p:spPr>
        <p:txBody>
          <a:bodyPr wrap="square" lIns="0" tIns="0" rIns="0" bIns="0" rtlCol="0" anchor="ctr"/>
          <a:lstStyle/>
          <a:p>
            <a:pPr indent="0" marL="0">
              <a:buNone/>
            </a:pPr>
            <a:r>
              <a:rPr lang="en-US" sz="1300" b="1" dirty="0">
                <a:solidFill>
                  <a:srgbClr val="123047"/>
                </a:solidFill>
              </a:rPr>
              <a:t>CEO</a:t>
            </a:r>
            <a:endParaRPr lang="en-US" sz="1300" dirty="0"/>
          </a:p>
        </p:txBody>
      </p:sp>
      <p:sp>
        <p:nvSpPr>
          <p:cNvPr id="9" name="Text 7"/>
          <p:cNvSpPr/>
          <p:nvPr/>
        </p:nvSpPr>
        <p:spPr>
          <a:xfrm>
            <a:off x="886968" y="2011680"/>
            <a:ext cx="3081528" cy="2532888"/>
          </a:xfrm>
          <a:prstGeom prst="rect">
            <a:avLst/>
          </a:prstGeom>
          <a:noFill/>
          <a:ln/>
        </p:spPr>
        <p:txBody>
          <a:bodyPr wrap="square" lIns="0" tIns="0" rIns="0" bIns="0" rtlCol="0" anchor="ctr">
            <a:normAutofit/>
          </a:bodyPr>
          <a:lstStyle/>
          <a:p>
            <a:pPr indent="0" marL="0">
              <a:buNone/>
            </a:pPr>
            <a:r>
              <a:rPr lang="en-US" sz="1050" dirty="0">
                <a:solidFill>
                  <a:srgbClr val="182026"/>
                </a:solidFill>
              </a:rPr>
              <a:t>“Where are we investing — and when will customers actually get it?”</a:t>
            </a:r>
            <a:endParaRPr lang="en-US" sz="1050" dirty="0"/>
          </a:p>
        </p:txBody>
      </p:sp>
      <p:sp>
        <p:nvSpPr>
          <p:cNvPr id="10" name="Shape 8"/>
          <p:cNvSpPr/>
          <p:nvPr/>
        </p:nvSpPr>
        <p:spPr>
          <a:xfrm>
            <a:off x="4389120" y="1508760"/>
            <a:ext cx="3429000" cy="3154680"/>
          </a:xfrm>
          <a:prstGeom prst="roundRect">
            <a:avLst>
              <a:gd name="adj" fmla="val 1739"/>
            </a:avLst>
          </a:prstGeom>
          <a:solidFill>
            <a:srgbClr val="F3F5F6"/>
          </a:solidFill>
          <a:ln w="10160">
            <a:solidFill>
              <a:srgbClr val="D9E0E3"/>
            </a:solidFill>
            <a:prstDash val="solid"/>
          </a:ln>
        </p:spPr>
        <p:txBody>
          <a:bodyPr/>
          <a:p/>
        </p:txBody>
      </p:sp>
      <p:sp>
        <p:nvSpPr>
          <p:cNvPr id="11" name="Shape 9"/>
          <p:cNvSpPr/>
          <p:nvPr/>
        </p:nvSpPr>
        <p:spPr>
          <a:xfrm>
            <a:off x="4389120" y="1508760"/>
            <a:ext cx="54864" cy="3154680"/>
          </a:xfrm>
          <a:prstGeom prst="rect">
            <a:avLst/>
          </a:prstGeom>
          <a:solidFill>
            <a:srgbClr val="00787D"/>
          </a:solidFill>
          <a:ln w="12700">
            <a:solidFill>
              <a:srgbClr val="00787D"/>
            </a:solidFill>
            <a:prstDash val="solid"/>
          </a:ln>
        </p:spPr>
        <p:txBody>
          <a:bodyPr/>
          <a:p/>
        </p:txBody>
      </p:sp>
      <p:sp>
        <p:nvSpPr>
          <p:cNvPr id="12" name="Text 10"/>
          <p:cNvSpPr/>
          <p:nvPr/>
        </p:nvSpPr>
        <p:spPr>
          <a:xfrm>
            <a:off x="4590288" y="1655064"/>
            <a:ext cx="3108960" cy="274320"/>
          </a:xfrm>
          <a:prstGeom prst="rect">
            <a:avLst/>
          </a:prstGeom>
          <a:noFill/>
          <a:ln/>
        </p:spPr>
        <p:txBody>
          <a:bodyPr wrap="square" lIns="0" tIns="0" rIns="0" bIns="0" rtlCol="0" anchor="ctr"/>
          <a:lstStyle/>
          <a:p>
            <a:pPr indent="0" marL="0">
              <a:buNone/>
            </a:pPr>
            <a:r>
              <a:rPr lang="en-US" sz="1300" b="1" dirty="0">
                <a:solidFill>
                  <a:srgbClr val="123047"/>
                </a:solidFill>
              </a:rPr>
              <a:t>CTO</a:t>
            </a:r>
            <a:endParaRPr lang="en-US" sz="1300" dirty="0"/>
          </a:p>
        </p:txBody>
      </p:sp>
      <p:sp>
        <p:nvSpPr>
          <p:cNvPr id="13" name="Text 11"/>
          <p:cNvSpPr/>
          <p:nvPr/>
        </p:nvSpPr>
        <p:spPr>
          <a:xfrm>
            <a:off x="4590288" y="2011680"/>
            <a:ext cx="3081528" cy="2532888"/>
          </a:xfrm>
          <a:prstGeom prst="rect">
            <a:avLst/>
          </a:prstGeom>
          <a:noFill/>
          <a:ln/>
        </p:spPr>
        <p:txBody>
          <a:bodyPr wrap="square" lIns="0" tIns="0" rIns="0" bIns="0" rtlCol="0" anchor="ctr">
            <a:normAutofit/>
          </a:bodyPr>
          <a:lstStyle/>
          <a:p>
            <a:pPr indent="0" marL="0">
              <a:buNone/>
            </a:pPr>
            <a:r>
              <a:rPr lang="en-US" sz="1050" dirty="0">
                <a:solidFill>
                  <a:srgbClr val="182026"/>
                </a:solidFill>
              </a:rPr>
              <a:t>“Do not imply an Engineering commitment before the solution is mature and feasible.”</a:t>
            </a:r>
            <a:endParaRPr lang="en-US" sz="1050" dirty="0"/>
          </a:p>
        </p:txBody>
      </p:sp>
      <p:sp>
        <p:nvSpPr>
          <p:cNvPr id="14" name="Shape 12"/>
          <p:cNvSpPr/>
          <p:nvPr/>
        </p:nvSpPr>
        <p:spPr>
          <a:xfrm>
            <a:off x="8092440" y="1508760"/>
            <a:ext cx="3429000" cy="3154680"/>
          </a:xfrm>
          <a:prstGeom prst="roundRect">
            <a:avLst>
              <a:gd name="adj" fmla="val 1739"/>
            </a:avLst>
          </a:prstGeom>
          <a:solidFill>
            <a:srgbClr val="F3F5F6"/>
          </a:solidFill>
          <a:ln w="10160">
            <a:solidFill>
              <a:srgbClr val="D9E0E3"/>
            </a:solidFill>
            <a:prstDash val="solid"/>
          </a:ln>
        </p:spPr>
        <p:txBody>
          <a:bodyPr/>
          <a:p/>
        </p:txBody>
      </p:sp>
      <p:sp>
        <p:nvSpPr>
          <p:cNvPr id="15" name="Shape 13"/>
          <p:cNvSpPr/>
          <p:nvPr/>
        </p:nvSpPr>
        <p:spPr>
          <a:xfrm>
            <a:off x="8092440" y="1508760"/>
            <a:ext cx="54864" cy="3154680"/>
          </a:xfrm>
          <a:prstGeom prst="rect">
            <a:avLst/>
          </a:prstGeom>
          <a:solidFill>
            <a:srgbClr val="2E7D5B"/>
          </a:solidFill>
          <a:ln w="12700">
            <a:solidFill>
              <a:srgbClr val="2E7D5B"/>
            </a:solidFill>
            <a:prstDash val="solid"/>
          </a:ln>
        </p:spPr>
        <p:txBody>
          <a:bodyPr/>
          <a:p/>
        </p:txBody>
      </p:sp>
      <p:sp>
        <p:nvSpPr>
          <p:cNvPr id="16" name="Text 14"/>
          <p:cNvSpPr/>
          <p:nvPr/>
        </p:nvSpPr>
        <p:spPr>
          <a:xfrm>
            <a:off x="8293608" y="1655064"/>
            <a:ext cx="3108960" cy="274320"/>
          </a:xfrm>
          <a:prstGeom prst="rect">
            <a:avLst/>
          </a:prstGeom>
          <a:noFill/>
          <a:ln/>
        </p:spPr>
        <p:txBody>
          <a:bodyPr wrap="square" lIns="0" tIns="0" rIns="0" bIns="0" rtlCol="0" anchor="ctr"/>
          <a:lstStyle/>
          <a:p>
            <a:pPr indent="0" marL="0">
              <a:buNone/>
            </a:pPr>
            <a:r>
              <a:rPr lang="en-US" sz="1300" b="1" dirty="0">
                <a:solidFill>
                  <a:srgbClr val="123047"/>
                </a:solidFill>
              </a:rPr>
              <a:t>Head of Sales</a:t>
            </a:r>
            <a:endParaRPr lang="en-US" sz="1300" dirty="0"/>
          </a:p>
        </p:txBody>
      </p:sp>
      <p:sp>
        <p:nvSpPr>
          <p:cNvPr id="17" name="Text 15"/>
          <p:cNvSpPr/>
          <p:nvPr/>
        </p:nvSpPr>
        <p:spPr>
          <a:xfrm>
            <a:off x="8293608" y="2011680"/>
            <a:ext cx="3081528" cy="2532888"/>
          </a:xfrm>
          <a:prstGeom prst="rect">
            <a:avLst/>
          </a:prstGeom>
          <a:noFill/>
          <a:ln/>
        </p:spPr>
        <p:txBody>
          <a:bodyPr wrap="square" lIns="0" tIns="0" rIns="0" bIns="0" rtlCol="0" anchor="ctr">
            <a:normAutofit/>
          </a:bodyPr>
          <a:lstStyle/>
          <a:p>
            <a:pPr indent="0" marL="0">
              <a:buNone/>
            </a:pPr>
            <a:r>
              <a:rPr lang="en-US" sz="1050" dirty="0">
                <a:solidFill>
                  <a:srgbClr val="182026"/>
                </a:solidFill>
              </a:rPr>
              <a:t>“What can I tell a customer, and how certain is the date?”</a:t>
            </a:r>
            <a:endParaRPr lang="en-US" sz="1050" dirty="0"/>
          </a:p>
        </p:txBody>
      </p:sp>
      <p:sp>
        <p:nvSpPr>
          <p:cNvPr id="18" name="Text 16"/>
          <p:cNvSpPr/>
          <p:nvPr/>
        </p:nvSpPr>
        <p:spPr>
          <a:xfrm>
            <a:off x="1005840" y="5074920"/>
            <a:ext cx="10149840" cy="502920"/>
          </a:xfrm>
          <a:prstGeom prst="rect">
            <a:avLst/>
          </a:prstGeom>
          <a:noFill/>
          <a:ln/>
        </p:spPr>
        <p:txBody>
          <a:bodyPr wrap="square" lIns="0" tIns="0" rIns="0" bIns="0" rtlCol="0" anchor="ctr"/>
          <a:lstStyle/>
          <a:p>
            <a:pPr algn="ctr" indent="0" marL="0">
              <a:buNone/>
            </a:pPr>
            <a:r>
              <a:rPr lang="en-US" sz="1900" b="1" dirty="0">
                <a:solidFill>
                  <a:srgbClr val="123047"/>
                </a:solidFill>
              </a:rPr>
              <a:t>Today, one quarterly JPD view is being asked to answer all three questions.</a:t>
            </a:r>
            <a:endParaRPr lang="en-US" sz="1900" dirty="0"/>
          </a:p>
        </p:txBody>
      </p:sp>
      <p:sp>
        <p:nvSpPr>
          <p:cNvPr id="19" name="Text 17"/>
          <p:cNvSpPr/>
          <p:nvPr/>
        </p:nvSpPr>
        <p:spPr>
          <a:xfrm>
            <a:off x="1005840" y="5650992"/>
            <a:ext cx="10149840" cy="365760"/>
          </a:xfrm>
          <a:prstGeom prst="rect">
            <a:avLst/>
          </a:prstGeom>
          <a:noFill/>
          <a:ln/>
        </p:spPr>
        <p:txBody>
          <a:bodyPr wrap="square" lIns="0" tIns="0" rIns="0" bIns="0" rtlCol="0" anchor="ctr"/>
          <a:lstStyle/>
          <a:p>
            <a:r>
              <a:t>Before fixing the operating model, we should acknowledge why that lack of certainty is uncomfortable.</a:t>
            </a:r>
          </a:p>
        </p:txBody>
      </p:sp>
      <p:sp>
        <p:nvSpPr>
          <p:cNvPr id="20" name="Text 18"/>
          <p:cNvSpPr/>
          <p:nvPr/>
        </p:nvSpPr>
        <p:spPr>
          <a:xfrm>
            <a:off x="11201400" y="6473952"/>
            <a:ext cx="320040" cy="182880"/>
          </a:xfrm>
          <a:prstGeom prst="rect">
            <a:avLst/>
          </a:prstGeom>
          <a:noFill/>
          <a:ln/>
        </p:spPr>
        <p:txBody>
          <a:bodyPr wrap="square" lIns="0" tIns="0" rIns="0" bIns="0" rtlCol="0" anchor="ctr"/>
          <a:lstStyle/>
          <a:p>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r>
              <a:t>LEADERSHIP EMPATHY</a:t>
            </a:r>
          </a:p>
        </p:txBody>
      </p:sp>
      <p:sp>
        <p:nvSpPr>
          <p:cNvPr id="4" name="Text 2"/>
          <p:cNvSpPr/>
          <p:nvPr/>
        </p:nvSpPr>
        <p:spPr>
          <a:xfrm>
            <a:off x="640080" y="603504"/>
            <a:ext cx="10881360" cy="594360"/>
          </a:xfrm>
          <a:prstGeom prst="rect">
            <a:avLst/>
          </a:prstGeom>
          <a:noFill/>
          <a:ln/>
        </p:spPr>
        <p:txBody>
          <a:bodyPr wrap="square" lIns="0" tIns="0" rIns="0" bIns="0" rtlCol="0" anchor="ctr"/>
          <a:lstStyle/>
          <a:p>
            <a:r>
              <a:rPr sz="2700"/>
              <a:t>Uncertainty is a legitimate leadership concern</a:t>
            </a:r>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685800" y="1508760"/>
            <a:ext cx="3429000" cy="3154680"/>
          </a:xfrm>
          <a:prstGeom prst="roundRect">
            <a:avLst>
              <a:gd name="adj" fmla="val 1739"/>
            </a:avLst>
          </a:prstGeom>
          <a:solidFill>
            <a:srgbClr val="F3F5F6"/>
          </a:solidFill>
          <a:ln w="10160">
            <a:solidFill>
              <a:srgbClr val="D9E0E3"/>
            </a:solidFill>
            <a:prstDash val="solid"/>
          </a:ln>
        </p:spPr>
        <p:txBody>
          <a:bodyPr/>
          <a:p/>
        </p:txBody>
      </p:sp>
      <p:sp>
        <p:nvSpPr>
          <p:cNvPr id="7" name="Shape 5"/>
          <p:cNvSpPr/>
          <p:nvPr/>
        </p:nvSpPr>
        <p:spPr>
          <a:xfrm>
            <a:off x="685800" y="1508760"/>
            <a:ext cx="54864" cy="3154680"/>
          </a:xfrm>
          <a:prstGeom prst="rect">
            <a:avLst/>
          </a:prstGeom>
          <a:solidFill>
            <a:srgbClr val="E7A83E"/>
          </a:solidFill>
          <a:ln w="12700">
            <a:solidFill>
              <a:srgbClr val="E7A83E"/>
            </a:solidFill>
            <a:prstDash val="solid"/>
          </a:ln>
        </p:spPr>
        <p:txBody>
          <a:bodyPr/>
          <a:p/>
        </p:txBody>
      </p:sp>
      <p:sp>
        <p:nvSpPr>
          <p:cNvPr id="8" name="Text 6"/>
          <p:cNvSpPr/>
          <p:nvPr/>
        </p:nvSpPr>
        <p:spPr>
          <a:xfrm>
            <a:off x="886968" y="1655064"/>
            <a:ext cx="3108960" cy="274320"/>
          </a:xfrm>
          <a:prstGeom prst="rect">
            <a:avLst/>
          </a:prstGeom>
          <a:noFill/>
          <a:ln/>
        </p:spPr>
        <p:txBody>
          <a:bodyPr wrap="square" lIns="0" tIns="0" rIns="0" bIns="0" rtlCol="0" anchor="ctr"/>
          <a:lstStyle/>
          <a:p>
            <a:r>
              <a:t>CEO</a:t>
            </a:r>
          </a:p>
        </p:txBody>
      </p:sp>
      <p:sp>
        <p:nvSpPr>
          <p:cNvPr id="9" name="Text 7"/>
          <p:cNvSpPr/>
          <p:nvPr/>
        </p:nvSpPr>
        <p:spPr>
          <a:xfrm>
            <a:off x="886968" y="2011680"/>
            <a:ext cx="3081528" cy="2532888"/>
          </a:xfrm>
          <a:prstGeom prst="rect">
            <a:avLst/>
          </a:prstGeom>
          <a:noFill/>
          <a:ln/>
        </p:spPr>
        <p:txBody>
          <a:bodyPr wrap="square" lIns="0" tIns="0" rIns="0" bIns="0" rtlCol="0" anchor="ctr">
            <a:normAutofit/>
          </a:bodyPr>
          <a:lstStyle/>
          <a:p>
            <a:r>
              <a:t>Carries portfolio, revenue and credibility risk. Needs a dependable view of what is likely, when, and with what confidence.</a:t>
            </a:r>
          </a:p>
        </p:txBody>
      </p:sp>
      <p:sp>
        <p:nvSpPr>
          <p:cNvPr id="10" name="Shape 8"/>
          <p:cNvSpPr/>
          <p:nvPr/>
        </p:nvSpPr>
        <p:spPr>
          <a:xfrm>
            <a:off x="4389120" y="1508760"/>
            <a:ext cx="3429000" cy="3154680"/>
          </a:xfrm>
          <a:prstGeom prst="roundRect">
            <a:avLst>
              <a:gd name="adj" fmla="val 1739"/>
            </a:avLst>
          </a:prstGeom>
          <a:solidFill>
            <a:srgbClr val="F3F5F6"/>
          </a:solidFill>
          <a:ln w="10160">
            <a:solidFill>
              <a:srgbClr val="D9E0E3"/>
            </a:solidFill>
            <a:prstDash val="solid"/>
          </a:ln>
        </p:spPr>
        <p:txBody>
          <a:bodyPr/>
          <a:p/>
        </p:txBody>
      </p:sp>
      <p:sp>
        <p:nvSpPr>
          <p:cNvPr id="11" name="Shape 9"/>
          <p:cNvSpPr/>
          <p:nvPr/>
        </p:nvSpPr>
        <p:spPr>
          <a:xfrm>
            <a:off x="4389120" y="1508760"/>
            <a:ext cx="54864" cy="3154680"/>
          </a:xfrm>
          <a:prstGeom prst="rect">
            <a:avLst/>
          </a:prstGeom>
          <a:solidFill>
            <a:srgbClr val="00787D"/>
          </a:solidFill>
          <a:ln w="12700">
            <a:solidFill>
              <a:srgbClr val="00787D"/>
            </a:solidFill>
            <a:prstDash val="solid"/>
          </a:ln>
        </p:spPr>
        <p:txBody>
          <a:bodyPr/>
          <a:p/>
        </p:txBody>
      </p:sp>
      <p:sp>
        <p:nvSpPr>
          <p:cNvPr id="12" name="Text 10"/>
          <p:cNvSpPr/>
          <p:nvPr/>
        </p:nvSpPr>
        <p:spPr>
          <a:xfrm>
            <a:off x="4590288" y="1655064"/>
            <a:ext cx="3108960" cy="274320"/>
          </a:xfrm>
          <a:prstGeom prst="rect">
            <a:avLst/>
          </a:prstGeom>
          <a:noFill/>
          <a:ln/>
        </p:spPr>
        <p:txBody>
          <a:bodyPr wrap="square" lIns="0" tIns="0" rIns="0" bIns="0" rtlCol="0" anchor="ctr"/>
          <a:lstStyle/>
          <a:p>
            <a:r>
              <a:t>CTO</a:t>
            </a:r>
          </a:p>
        </p:txBody>
      </p:sp>
      <p:sp>
        <p:nvSpPr>
          <p:cNvPr id="13" name="Text 11"/>
          <p:cNvSpPr/>
          <p:nvPr/>
        </p:nvSpPr>
        <p:spPr>
          <a:xfrm>
            <a:off x="4590288" y="2011680"/>
            <a:ext cx="3081528" cy="2532888"/>
          </a:xfrm>
          <a:prstGeom prst="rect">
            <a:avLst/>
          </a:prstGeom>
          <a:noFill/>
          <a:ln/>
        </p:spPr>
        <p:txBody>
          <a:bodyPr wrap="square" lIns="0" tIns="0" rIns="0" bIns="0" rtlCol="0" anchor="ctr">
            <a:normAutofit/>
          </a:bodyPr>
          <a:lstStyle/>
          <a:p>
            <a:r>
              <a:t>Carries feasibility, capacity and delivery risk. Needs protection from premature scope and date commitments.</a:t>
            </a:r>
          </a:p>
        </p:txBody>
      </p:sp>
      <p:sp>
        <p:nvSpPr>
          <p:cNvPr id="14" name="Shape 12"/>
          <p:cNvSpPr/>
          <p:nvPr/>
        </p:nvSpPr>
        <p:spPr>
          <a:xfrm>
            <a:off x="8092440" y="1508760"/>
            <a:ext cx="3429000" cy="3154680"/>
          </a:xfrm>
          <a:prstGeom prst="roundRect">
            <a:avLst>
              <a:gd name="adj" fmla="val 1739"/>
            </a:avLst>
          </a:prstGeom>
          <a:solidFill>
            <a:srgbClr val="F3F5F6"/>
          </a:solidFill>
          <a:ln w="10160">
            <a:solidFill>
              <a:srgbClr val="D9E0E3"/>
            </a:solidFill>
            <a:prstDash val="solid"/>
          </a:ln>
        </p:spPr>
        <p:txBody>
          <a:bodyPr/>
          <a:p/>
        </p:txBody>
      </p:sp>
      <p:sp>
        <p:nvSpPr>
          <p:cNvPr id="15" name="Shape 13"/>
          <p:cNvSpPr/>
          <p:nvPr/>
        </p:nvSpPr>
        <p:spPr>
          <a:xfrm>
            <a:off x="8092440" y="1508760"/>
            <a:ext cx="54864" cy="3154680"/>
          </a:xfrm>
          <a:prstGeom prst="rect">
            <a:avLst/>
          </a:prstGeom>
          <a:solidFill>
            <a:srgbClr val="2E7D5B"/>
          </a:solidFill>
          <a:ln w="12700">
            <a:solidFill>
              <a:srgbClr val="2E7D5B"/>
            </a:solidFill>
            <a:prstDash val="solid"/>
          </a:ln>
        </p:spPr>
        <p:txBody>
          <a:bodyPr/>
          <a:p/>
        </p:txBody>
      </p:sp>
      <p:sp>
        <p:nvSpPr>
          <p:cNvPr id="16" name="Text 14"/>
          <p:cNvSpPr/>
          <p:nvPr/>
        </p:nvSpPr>
        <p:spPr>
          <a:xfrm>
            <a:off x="8293608" y="1655064"/>
            <a:ext cx="3108960" cy="274320"/>
          </a:xfrm>
          <a:prstGeom prst="rect">
            <a:avLst/>
          </a:prstGeom>
          <a:noFill/>
          <a:ln/>
        </p:spPr>
        <p:txBody>
          <a:bodyPr wrap="square" lIns="0" tIns="0" rIns="0" bIns="0" rtlCol="0" anchor="ctr"/>
          <a:lstStyle/>
          <a:p>
            <a:r>
              <a:t>Head of Sales</a:t>
            </a:r>
          </a:p>
        </p:txBody>
      </p:sp>
      <p:sp>
        <p:nvSpPr>
          <p:cNvPr id="17" name="Text 15"/>
          <p:cNvSpPr/>
          <p:nvPr/>
        </p:nvSpPr>
        <p:spPr>
          <a:xfrm>
            <a:off x="8293608" y="2011680"/>
            <a:ext cx="3081528" cy="2532888"/>
          </a:xfrm>
          <a:prstGeom prst="rect">
            <a:avLst/>
          </a:prstGeom>
          <a:noFill/>
          <a:ln/>
        </p:spPr>
        <p:txBody>
          <a:bodyPr wrap="square" lIns="0" tIns="0" rIns="0" bIns="0" rtlCol="0" anchor="ctr">
            <a:normAutofit/>
          </a:bodyPr>
          <a:lstStyle/>
          <a:p>
            <a:r>
              <a:t>Carries customer, deal and renewal risk. Needs clear guidance on what can be communicated — and how confidently.</a:t>
            </a:r>
          </a:p>
        </p:txBody>
      </p:sp>
      <p:sp>
        <p:nvSpPr>
          <p:cNvPr id="18" name="Text 16"/>
          <p:cNvSpPr/>
          <p:nvPr/>
        </p:nvSpPr>
        <p:spPr>
          <a:xfrm>
            <a:off x="1005840" y="5074920"/>
            <a:ext cx="10149840" cy="502920"/>
          </a:xfrm>
          <a:prstGeom prst="rect">
            <a:avLst/>
          </a:prstGeom>
          <a:noFill/>
          <a:ln/>
        </p:spPr>
        <p:txBody>
          <a:bodyPr wrap="square" lIns="0" tIns="0" rIns="0" bIns="0" rtlCol="0" anchor="ctr"/>
          <a:lstStyle/>
          <a:p>
            <a:r>
              <a:t>When future delivery is hard to see, discomfort is rational — not a failure to understand Product.</a:t>
            </a:r>
          </a:p>
        </p:txBody>
      </p:sp>
      <p:sp>
        <p:nvSpPr>
          <p:cNvPr id="19" name="Text 17"/>
          <p:cNvSpPr/>
          <p:nvPr/>
        </p:nvSpPr>
        <p:spPr>
          <a:xfrm>
            <a:off x="1005840" y="5650992"/>
            <a:ext cx="10149840" cy="365760"/>
          </a:xfrm>
          <a:prstGeom prst="rect">
            <a:avLst/>
          </a:prstGeom>
          <a:noFill/>
          <a:ln/>
        </p:spPr>
        <p:txBody>
          <a:bodyPr wrap="square" lIns="0" tIns="0" rIns="0" bIns="0" rtlCol="0" anchor="ctr"/>
          <a:lstStyle/>
          <a:p>
            <a:r>
              <a:t>Our job is to replace hidden uncertainty with visible maturity, honest confidence and progressively narrower delivery forecasts.</a:t>
            </a:r>
          </a:p>
        </p:txBody>
      </p:sp>
      <p:sp>
        <p:nvSpPr>
          <p:cNvPr id="20" name="Text 18"/>
          <p:cNvSpPr/>
          <p:nvPr/>
        </p:nvSpPr>
        <p:spPr>
          <a:xfrm>
            <a:off x="11201400" y="6473952"/>
            <a:ext cx="320040" cy="182880"/>
          </a:xfrm>
          <a:prstGeom prst="rect">
            <a:avLst/>
          </a:prstGeom>
          <a:noFill/>
          <a:ln/>
        </p:spPr>
        <p:txBody>
          <a:bodyPr wrap="square" lIns="0" tIns="0" rIns="0" bIns="0" rtlCol="0" anchor="ctr"/>
          <a:lstStyle/>
          <a:p>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OPERATING MODEL</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Three questions require three connected management layers</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731520" y="1554480"/>
            <a:ext cx="2971800" cy="2971800"/>
          </a:xfrm>
          <a:prstGeom prst="roundRect">
            <a:avLst>
              <a:gd name="adj" fmla="val 1846"/>
            </a:avLst>
          </a:prstGeom>
          <a:solidFill>
            <a:srgbClr val="EAF4F4"/>
          </a:solidFill>
          <a:ln w="10160">
            <a:solidFill>
              <a:srgbClr val="D9E0E3"/>
            </a:solidFill>
            <a:prstDash val="solid"/>
          </a:ln>
        </p:spPr>
        <p:txBody>
          <a:bodyPr/>
          <a:p/>
        </p:txBody>
      </p:sp>
      <p:sp>
        <p:nvSpPr>
          <p:cNvPr id="7" name="Shape 5"/>
          <p:cNvSpPr/>
          <p:nvPr/>
        </p:nvSpPr>
        <p:spPr>
          <a:xfrm>
            <a:off x="731520" y="1554480"/>
            <a:ext cx="54864" cy="2971800"/>
          </a:xfrm>
          <a:prstGeom prst="rect">
            <a:avLst/>
          </a:prstGeom>
          <a:solidFill>
            <a:srgbClr val="00787D"/>
          </a:solidFill>
          <a:ln w="12700">
            <a:solidFill>
              <a:srgbClr val="00787D"/>
            </a:solidFill>
            <a:prstDash val="solid"/>
          </a:ln>
        </p:spPr>
        <p:txBody>
          <a:bodyPr/>
          <a:p/>
        </p:txBody>
      </p:sp>
      <p:sp>
        <p:nvSpPr>
          <p:cNvPr id="8" name="Text 6"/>
          <p:cNvSpPr/>
          <p:nvPr/>
        </p:nvSpPr>
        <p:spPr>
          <a:xfrm>
            <a:off x="932688" y="1700784"/>
            <a:ext cx="2651760" cy="274320"/>
          </a:xfrm>
          <a:prstGeom prst="rect">
            <a:avLst/>
          </a:prstGeom>
          <a:noFill/>
          <a:ln/>
        </p:spPr>
        <p:txBody>
          <a:bodyPr wrap="square" lIns="0" tIns="0" rIns="0" bIns="0" rtlCol="0" anchor="ctr"/>
          <a:lstStyle/>
          <a:p>
            <a:pPr indent="0" marL="0">
              <a:buNone/>
            </a:pPr>
            <a:r>
              <a:rPr lang="en-US" sz="1300" b="1" dirty="0">
                <a:solidFill>
                  <a:srgbClr val="123047"/>
                </a:solidFill>
              </a:rPr>
              <a:t>1. PRODUCT ROADMAP</a:t>
            </a:r>
            <a:endParaRPr lang="en-US" sz="1300" dirty="0"/>
          </a:p>
        </p:txBody>
      </p:sp>
      <p:sp>
        <p:nvSpPr>
          <p:cNvPr id="9" name="Text 7"/>
          <p:cNvSpPr/>
          <p:nvPr/>
        </p:nvSpPr>
        <p:spPr>
          <a:xfrm>
            <a:off x="932688" y="2057400"/>
            <a:ext cx="2624328" cy="2350008"/>
          </a:xfrm>
          <a:prstGeom prst="rect">
            <a:avLst/>
          </a:prstGeom>
          <a:noFill/>
          <a:ln/>
        </p:spPr>
        <p:txBody>
          <a:bodyPr wrap="square" lIns="0" tIns="0" rIns="0" bIns="0" rtlCol="0" anchor="ctr">
            <a:normAutofit/>
          </a:bodyPr>
          <a:lstStyle/>
          <a:p>
            <a:pPr indent="0" marL="0">
              <a:buNone/>
            </a:pPr>
            <a:r>
              <a:rPr lang="en-US" sz="1050" dirty="0">
                <a:solidFill>
                  <a:srgbClr val="182026"/>
                </a:solidFill>
              </a:rPr>
              <a:t>Where should we invest, and roughly when?</a:t>
            </a:r>
            <a:endParaRPr lang="en-US" sz="1050" dirty="0"/>
          </a:p>
          <a:p>
            <a:pPr indent="0" marL="0">
              <a:buNone/>
            </a:pPr>
            <a:endParaRPr lang="en-US" sz="1050" dirty="0"/>
          </a:p>
          <a:p>
            <a:pPr indent="0" marL="0">
              <a:buNone/>
            </a:pPr>
            <a:r>
              <a:rPr lang="en-US" sz="1050" dirty="0">
                <a:solidFill>
                  <a:srgbClr val="182026"/>
                </a:solidFill>
              </a:rPr>
              <a:t>Goals • Themes • Bets • Priority • Target quarter</a:t>
            </a:r>
            <a:endParaRPr lang="en-US" sz="1050" dirty="0"/>
          </a:p>
        </p:txBody>
      </p:sp>
      <p:sp>
        <p:nvSpPr>
          <p:cNvPr id="10" name="Shape 8"/>
          <p:cNvSpPr/>
          <p:nvPr/>
        </p:nvSpPr>
        <p:spPr>
          <a:xfrm>
            <a:off x="3794760" y="2651760"/>
            <a:ext cx="502920" cy="594360"/>
          </a:xfrm>
          <a:prstGeom prst="chevron">
            <a:avLst/>
          </a:prstGeom>
          <a:solidFill>
            <a:srgbClr val="C8D2D7"/>
          </a:solidFill>
          <a:ln w="12700">
            <a:solidFill>
              <a:srgbClr val="C8D2D7"/>
            </a:solidFill>
            <a:prstDash val="solid"/>
          </a:ln>
        </p:spPr>
        <p:txBody>
          <a:bodyPr/>
          <a:p/>
        </p:txBody>
      </p:sp>
      <p:sp>
        <p:nvSpPr>
          <p:cNvPr id="11" name="Shape 9"/>
          <p:cNvSpPr/>
          <p:nvPr/>
        </p:nvSpPr>
        <p:spPr>
          <a:xfrm>
            <a:off x="4160520" y="1554480"/>
            <a:ext cx="2971800" cy="2971800"/>
          </a:xfrm>
          <a:prstGeom prst="roundRect">
            <a:avLst>
              <a:gd name="adj" fmla="val 1846"/>
            </a:avLst>
          </a:prstGeom>
          <a:solidFill>
            <a:srgbClr val="EEF3F8"/>
          </a:solidFill>
          <a:ln w="10160">
            <a:solidFill>
              <a:srgbClr val="D9E0E3"/>
            </a:solidFill>
            <a:prstDash val="solid"/>
          </a:ln>
        </p:spPr>
        <p:txBody>
          <a:bodyPr/>
          <a:p/>
        </p:txBody>
      </p:sp>
      <p:sp>
        <p:nvSpPr>
          <p:cNvPr id="12" name="Shape 10"/>
          <p:cNvSpPr/>
          <p:nvPr/>
        </p:nvSpPr>
        <p:spPr>
          <a:xfrm>
            <a:off x="4160520" y="1554480"/>
            <a:ext cx="54864" cy="2971800"/>
          </a:xfrm>
          <a:prstGeom prst="rect">
            <a:avLst/>
          </a:prstGeom>
          <a:solidFill>
            <a:srgbClr val="477FA6"/>
          </a:solidFill>
          <a:ln w="12700">
            <a:solidFill>
              <a:srgbClr val="477FA6"/>
            </a:solidFill>
            <a:prstDash val="solid"/>
          </a:ln>
        </p:spPr>
        <p:txBody>
          <a:bodyPr/>
          <a:p/>
        </p:txBody>
      </p:sp>
      <p:sp>
        <p:nvSpPr>
          <p:cNvPr id="13" name="Text 11"/>
          <p:cNvSpPr/>
          <p:nvPr/>
        </p:nvSpPr>
        <p:spPr>
          <a:xfrm>
            <a:off x="4361688" y="1700784"/>
            <a:ext cx="2651760" cy="274320"/>
          </a:xfrm>
          <a:prstGeom prst="rect">
            <a:avLst/>
          </a:prstGeom>
          <a:noFill/>
          <a:ln/>
        </p:spPr>
        <p:txBody>
          <a:bodyPr wrap="square" lIns="0" tIns="0" rIns="0" bIns="0" rtlCol="0" anchor="ctr"/>
          <a:lstStyle/>
          <a:p>
            <a:pPr indent="0" marL="0">
              <a:buNone/>
            </a:pPr>
            <a:r>
              <a:rPr lang="en-US" sz="1300" b="1" dirty="0">
                <a:solidFill>
                  <a:srgbClr val="123047"/>
                </a:solidFill>
              </a:rPr>
              <a:t>2. DISCOVERY / READINESS</a:t>
            </a:r>
            <a:endParaRPr lang="en-US" sz="1300" dirty="0"/>
          </a:p>
        </p:txBody>
      </p:sp>
      <p:sp>
        <p:nvSpPr>
          <p:cNvPr id="14" name="Text 12"/>
          <p:cNvSpPr/>
          <p:nvPr/>
        </p:nvSpPr>
        <p:spPr>
          <a:xfrm>
            <a:off x="4361688" y="2057400"/>
            <a:ext cx="2624328" cy="2350008"/>
          </a:xfrm>
          <a:prstGeom prst="rect">
            <a:avLst/>
          </a:prstGeom>
          <a:noFill/>
          <a:ln/>
        </p:spPr>
        <p:txBody>
          <a:bodyPr wrap="square" lIns="0" tIns="0" rIns="0" bIns="0" rtlCol="0" anchor="ctr">
            <a:normAutofit/>
          </a:bodyPr>
          <a:lstStyle/>
          <a:p>
            <a:pPr indent="0" marL="0">
              <a:buNone/>
            </a:pPr>
            <a:r>
              <a:rPr lang="en-US" sz="1050" dirty="0">
                <a:solidFill>
                  <a:srgbClr val="182026"/>
                </a:solidFill>
              </a:rPr>
              <a:t>How much do we know — and are we ready?</a:t>
            </a:r>
            <a:endParaRPr lang="en-US" sz="1050" dirty="0"/>
          </a:p>
          <a:p>
            <a:pPr indent="0" marL="0">
              <a:buNone/>
            </a:pPr>
            <a:endParaRPr lang="en-US" sz="1050" dirty="0"/>
          </a:p>
          <a:p>
            <a:pPr indent="0" marL="0">
              <a:buNone/>
            </a:pPr>
            <a:r>
              <a:rPr lang="en-US" sz="1050" dirty="0">
                <a:solidFill>
                  <a:srgbClr val="182026"/>
                </a:solidFill>
              </a:rPr>
              <a:t>Evidence • PRD • Prototype • Validation • Artefact Ready</a:t>
            </a:r>
            <a:endParaRPr lang="en-US" sz="1050" dirty="0"/>
          </a:p>
        </p:txBody>
      </p:sp>
      <p:sp>
        <p:nvSpPr>
          <p:cNvPr id="15" name="Shape 13"/>
          <p:cNvSpPr/>
          <p:nvPr/>
        </p:nvSpPr>
        <p:spPr>
          <a:xfrm>
            <a:off x="7223760" y="2651760"/>
            <a:ext cx="502920" cy="594360"/>
          </a:xfrm>
          <a:prstGeom prst="chevron">
            <a:avLst/>
          </a:prstGeom>
          <a:solidFill>
            <a:srgbClr val="C8D2D7"/>
          </a:solidFill>
          <a:ln w="12700">
            <a:solidFill>
              <a:srgbClr val="C8D2D7"/>
            </a:solidFill>
            <a:prstDash val="solid"/>
          </a:ln>
        </p:spPr>
        <p:txBody>
          <a:bodyPr/>
          <a:p/>
        </p:txBody>
      </p:sp>
      <p:sp>
        <p:nvSpPr>
          <p:cNvPr id="16" name="Shape 14"/>
          <p:cNvSpPr/>
          <p:nvPr/>
        </p:nvSpPr>
        <p:spPr>
          <a:xfrm>
            <a:off x="7589520" y="1554480"/>
            <a:ext cx="2971800" cy="2971800"/>
          </a:xfrm>
          <a:prstGeom prst="roundRect">
            <a:avLst>
              <a:gd name="adj" fmla="val 1846"/>
            </a:avLst>
          </a:prstGeom>
          <a:solidFill>
            <a:srgbClr val="F5F1E8"/>
          </a:solidFill>
          <a:ln w="10160">
            <a:solidFill>
              <a:srgbClr val="D9E0E3"/>
            </a:solidFill>
            <a:prstDash val="solid"/>
          </a:ln>
        </p:spPr>
        <p:txBody>
          <a:bodyPr/>
          <a:p/>
        </p:txBody>
      </p:sp>
      <p:sp>
        <p:nvSpPr>
          <p:cNvPr id="17" name="Shape 15"/>
          <p:cNvSpPr/>
          <p:nvPr/>
        </p:nvSpPr>
        <p:spPr>
          <a:xfrm>
            <a:off x="7589520" y="1554480"/>
            <a:ext cx="54864" cy="2971800"/>
          </a:xfrm>
          <a:prstGeom prst="rect">
            <a:avLst/>
          </a:prstGeom>
          <a:solidFill>
            <a:srgbClr val="E7A83E"/>
          </a:solidFill>
          <a:ln w="12700">
            <a:solidFill>
              <a:srgbClr val="E7A83E"/>
            </a:solidFill>
            <a:prstDash val="solid"/>
          </a:ln>
        </p:spPr>
        <p:txBody>
          <a:bodyPr/>
          <a:p/>
        </p:txBody>
      </p:sp>
      <p:sp>
        <p:nvSpPr>
          <p:cNvPr id="18" name="Text 16"/>
          <p:cNvSpPr/>
          <p:nvPr/>
        </p:nvSpPr>
        <p:spPr>
          <a:xfrm>
            <a:off x="7790688" y="1700784"/>
            <a:ext cx="2651760" cy="274320"/>
          </a:xfrm>
          <a:prstGeom prst="rect">
            <a:avLst/>
          </a:prstGeom>
          <a:noFill/>
          <a:ln/>
        </p:spPr>
        <p:txBody>
          <a:bodyPr wrap="square" lIns="0" tIns="0" rIns="0" bIns="0" rtlCol="0" anchor="ctr"/>
          <a:lstStyle/>
          <a:p>
            <a:pPr indent="0" marL="0">
              <a:buNone/>
            </a:pPr>
            <a:r>
              <a:rPr lang="en-US" sz="1300" b="1" dirty="0">
                <a:solidFill>
                  <a:srgbClr val="123047"/>
                </a:solidFill>
              </a:rPr>
              <a:t>3. DELIVERY / RELEASE PLAN</a:t>
            </a:r>
            <a:endParaRPr lang="en-US" sz="1300" dirty="0"/>
          </a:p>
        </p:txBody>
      </p:sp>
      <p:sp>
        <p:nvSpPr>
          <p:cNvPr id="19" name="Text 17"/>
          <p:cNvSpPr/>
          <p:nvPr/>
        </p:nvSpPr>
        <p:spPr>
          <a:xfrm>
            <a:off x="7790688" y="2057400"/>
            <a:ext cx="2624328" cy="2350008"/>
          </a:xfrm>
          <a:prstGeom prst="rect">
            <a:avLst/>
          </a:prstGeom>
          <a:noFill/>
          <a:ln/>
        </p:spPr>
        <p:txBody>
          <a:bodyPr wrap="square" lIns="0" tIns="0" rIns="0" bIns="0" rtlCol="0" anchor="ctr">
            <a:normAutofit/>
          </a:bodyPr>
          <a:lstStyle/>
          <a:p>
            <a:pPr indent="0" marL="0">
              <a:buNone/>
            </a:pPr>
            <a:r>
              <a:rPr lang="en-US" sz="1050" dirty="0">
                <a:solidFill>
                  <a:srgbClr val="182026"/>
                </a:solidFill>
              </a:rPr>
              <a:t>When can customers realistically get it?</a:t>
            </a:r>
            <a:endParaRPr lang="en-US" sz="1050" dirty="0"/>
          </a:p>
          <a:p>
            <a:pPr indent="0" marL="0">
              <a:buNone/>
            </a:pPr>
            <a:endParaRPr lang="en-US" sz="1050" dirty="0"/>
          </a:p>
          <a:p>
            <a:pPr indent="0" marL="0">
              <a:buNone/>
            </a:pPr>
            <a:r>
              <a:rPr lang="en-US" sz="1050" dirty="0">
                <a:solidFill>
                  <a:srgbClr val="182026"/>
                </a:solidFill>
              </a:rPr>
              <a:t>Scope • Dependencies • Capacity • Milestones • Forecast</a:t>
            </a:r>
            <a:endParaRPr lang="en-US" sz="1050" dirty="0"/>
          </a:p>
        </p:txBody>
      </p:sp>
      <p:sp>
        <p:nvSpPr>
          <p:cNvPr id="20" name="Text 18"/>
          <p:cNvSpPr/>
          <p:nvPr/>
        </p:nvSpPr>
        <p:spPr>
          <a:xfrm>
            <a:off x="4160520" y="4983480"/>
            <a:ext cx="3840480" cy="320040"/>
          </a:xfrm>
          <a:prstGeom prst="rect">
            <a:avLst/>
          </a:prstGeom>
          <a:noFill/>
          <a:ln/>
        </p:spPr>
        <p:txBody>
          <a:bodyPr wrap="square" lIns="0" tIns="0" rIns="0" bIns="0" rtlCol="0" anchor="ctr"/>
          <a:lstStyle/>
          <a:p>
            <a:pPr algn="ctr" indent="0" marL="0">
              <a:buNone/>
            </a:pPr>
            <a:r>
              <a:rPr lang="en-US" sz="1800" b="1" dirty="0">
                <a:solidFill>
                  <a:srgbClr val="123047"/>
                </a:solidFill>
              </a:rPr>
              <a:t>Connected ≠ collapsed</a:t>
            </a:r>
            <a:endParaRPr lang="en-US" sz="1800" dirty="0"/>
          </a:p>
        </p:txBody>
      </p:sp>
      <p:sp>
        <p:nvSpPr>
          <p:cNvPr id="21" name="Text 19"/>
          <p:cNvSpPr/>
          <p:nvPr/>
        </p:nvSpPr>
        <p:spPr>
          <a:xfrm>
            <a:off x="1097280" y="5504688"/>
            <a:ext cx="9966960" cy="502920"/>
          </a:xfrm>
          <a:prstGeom prst="rect">
            <a:avLst/>
          </a:prstGeom>
          <a:noFill/>
          <a:ln/>
        </p:spPr>
        <p:txBody>
          <a:bodyPr wrap="square" lIns="0" tIns="0" rIns="0" bIns="0" rtlCol="0" anchor="ctr"/>
          <a:lstStyle/>
          <a:p>
            <a:pPr algn="ctr" indent="0" marL="0">
              <a:buNone/>
            </a:pPr>
            <a:r>
              <a:rPr lang="en-US" sz="1400" dirty="0">
                <a:solidFill>
                  <a:srgbClr val="66747D"/>
                </a:solidFill>
              </a:rPr>
              <a:t>A single source of truth can expose all three layers without pretending they are the same decision.</a:t>
            </a:r>
            <a:endParaRPr lang="en-US" sz="1400" dirty="0"/>
          </a:p>
        </p:txBody>
      </p:sp>
      <p:sp>
        <p:nvSpPr>
          <p:cNvPr id="22" name="Text 20"/>
          <p:cNvSpPr/>
          <p:nvPr/>
        </p:nvSpPr>
        <p:spPr>
          <a:xfrm>
            <a:off x="11201400" y="6473952"/>
            <a:ext cx="320040" cy="182880"/>
          </a:xfrm>
          <a:prstGeom prst="rect">
            <a:avLst/>
          </a:prstGeom>
          <a:noFill/>
          <a:ln/>
        </p:spPr>
        <p:txBody>
          <a:bodyPr wrap="square" lIns="0" tIns="0" rIns="0" bIns="0" rtlCol="0" anchor="ctr"/>
          <a:lstStyle/>
          <a:p>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CURRENT STATE</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r>
              <a:t>Our JPD passes the research-based roadmap test</a:t>
            </a:r>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777240" y="1508760"/>
            <a:ext cx="3246120" cy="1170432"/>
          </a:xfrm>
          <a:prstGeom prst="roundRect">
            <a:avLst>
              <a:gd name="adj" fmla="val 4688"/>
            </a:avLst>
          </a:prstGeom>
          <a:solidFill>
            <a:srgbClr val="EAF4F4"/>
          </a:solidFill>
          <a:ln w="10160">
            <a:solidFill>
              <a:srgbClr val="D9E0E3"/>
            </a:solidFill>
            <a:prstDash val="solid"/>
          </a:ln>
        </p:spPr>
        <p:txBody>
          <a:bodyPr/>
          <a:p/>
        </p:txBody>
      </p:sp>
      <p:sp>
        <p:nvSpPr>
          <p:cNvPr id="7" name="Shape 5"/>
          <p:cNvSpPr/>
          <p:nvPr/>
        </p:nvSpPr>
        <p:spPr>
          <a:xfrm>
            <a:off x="777240" y="1508760"/>
            <a:ext cx="54864" cy="1170432"/>
          </a:xfrm>
          <a:prstGeom prst="rect">
            <a:avLst/>
          </a:prstGeom>
          <a:solidFill>
            <a:srgbClr val="00787D"/>
          </a:solidFill>
          <a:ln w="12700">
            <a:solidFill>
              <a:srgbClr val="00787D"/>
            </a:solidFill>
            <a:prstDash val="solid"/>
          </a:ln>
        </p:spPr>
        <p:txBody>
          <a:bodyPr/>
          <a:p/>
        </p:txBody>
      </p:sp>
      <p:sp>
        <p:nvSpPr>
          <p:cNvPr id="8" name="Text 6"/>
          <p:cNvSpPr/>
          <p:nvPr/>
        </p:nvSpPr>
        <p:spPr>
          <a:xfrm>
            <a:off x="978408" y="1655064"/>
            <a:ext cx="2926080" cy="274320"/>
          </a:xfrm>
          <a:prstGeom prst="rect">
            <a:avLst/>
          </a:prstGeom>
          <a:noFill/>
          <a:ln/>
        </p:spPr>
        <p:txBody>
          <a:bodyPr wrap="square" lIns="0" tIns="0" rIns="0" bIns="0" rtlCol="0" anchor="ctr"/>
          <a:lstStyle/>
          <a:p>
            <a:r>
              <a:t>Goals</a:t>
            </a:r>
          </a:p>
        </p:txBody>
      </p:sp>
      <p:sp>
        <p:nvSpPr>
          <p:cNvPr id="9" name="Text 7"/>
          <p:cNvSpPr/>
          <p:nvPr/>
        </p:nvSpPr>
        <p:spPr>
          <a:xfrm>
            <a:off x="978408" y="2011680"/>
            <a:ext cx="2898648" cy="548640"/>
          </a:xfrm>
          <a:prstGeom prst="rect">
            <a:avLst/>
          </a:prstGeom>
          <a:noFill/>
          <a:ln/>
        </p:spPr>
        <p:txBody>
          <a:bodyPr wrap="square" lIns="0" tIns="0" rIns="0" bIns="0" rtlCol="0" anchor="ctr">
            <a:normAutofit/>
          </a:bodyPr>
          <a:lstStyle/>
          <a:p>
            <a:r>
              <a:t>STRATEGY / WHY</a:t>
            </a:r>
          </a:p>
        </p:txBody>
      </p:sp>
      <p:sp>
        <p:nvSpPr>
          <p:cNvPr id="10" name="Shape 8"/>
          <p:cNvSpPr/>
          <p:nvPr/>
        </p:nvSpPr>
        <p:spPr>
          <a:xfrm>
            <a:off x="4526280" y="1508760"/>
            <a:ext cx="3246120" cy="1170432"/>
          </a:xfrm>
          <a:prstGeom prst="roundRect">
            <a:avLst>
              <a:gd name="adj" fmla="val 4688"/>
            </a:avLst>
          </a:prstGeom>
          <a:solidFill>
            <a:srgbClr val="EAF4F4"/>
          </a:solidFill>
          <a:ln w="10160">
            <a:solidFill>
              <a:srgbClr val="D9E0E3"/>
            </a:solidFill>
            <a:prstDash val="solid"/>
          </a:ln>
        </p:spPr>
        <p:txBody>
          <a:bodyPr/>
          <a:p/>
        </p:txBody>
      </p:sp>
      <p:sp>
        <p:nvSpPr>
          <p:cNvPr id="11" name="Shape 9"/>
          <p:cNvSpPr/>
          <p:nvPr/>
        </p:nvSpPr>
        <p:spPr>
          <a:xfrm>
            <a:off x="4526280" y="1508760"/>
            <a:ext cx="54864" cy="1170432"/>
          </a:xfrm>
          <a:prstGeom prst="rect">
            <a:avLst/>
          </a:prstGeom>
          <a:solidFill>
            <a:srgbClr val="00787D"/>
          </a:solidFill>
          <a:ln w="12700">
            <a:solidFill>
              <a:srgbClr val="00787D"/>
            </a:solidFill>
            <a:prstDash val="solid"/>
          </a:ln>
        </p:spPr>
        <p:txBody>
          <a:bodyPr/>
          <a:p/>
        </p:txBody>
      </p:sp>
      <p:sp>
        <p:nvSpPr>
          <p:cNvPr id="12" name="Text 10"/>
          <p:cNvSpPr/>
          <p:nvPr/>
        </p:nvSpPr>
        <p:spPr>
          <a:xfrm>
            <a:off x="4727448" y="1655064"/>
            <a:ext cx="2926080" cy="274320"/>
          </a:xfrm>
          <a:prstGeom prst="rect">
            <a:avLst/>
          </a:prstGeom>
          <a:noFill/>
          <a:ln/>
        </p:spPr>
        <p:txBody>
          <a:bodyPr wrap="square" lIns="0" tIns="0" rIns="0" bIns="0" rtlCol="0" anchor="ctr"/>
          <a:lstStyle/>
          <a:p>
            <a:r>
              <a:t>Themes</a:t>
            </a:r>
          </a:p>
        </p:txBody>
      </p:sp>
      <p:sp>
        <p:nvSpPr>
          <p:cNvPr id="13" name="Text 11"/>
          <p:cNvSpPr/>
          <p:nvPr/>
        </p:nvSpPr>
        <p:spPr>
          <a:xfrm>
            <a:off x="4727448" y="2011680"/>
            <a:ext cx="2898648" cy="548640"/>
          </a:xfrm>
          <a:prstGeom prst="rect">
            <a:avLst/>
          </a:prstGeom>
          <a:noFill/>
          <a:ln/>
        </p:spPr>
        <p:txBody>
          <a:bodyPr wrap="square" lIns="0" tIns="0" rIns="0" bIns="0" rtlCol="0" anchor="ctr">
            <a:normAutofit/>
          </a:bodyPr>
          <a:lstStyle/>
          <a:p>
            <a:r>
              <a:t>PRIORITY / WHERE</a:t>
            </a:r>
          </a:p>
        </p:txBody>
      </p:sp>
      <p:sp>
        <p:nvSpPr>
          <p:cNvPr id="14" name="Shape 12"/>
          <p:cNvSpPr/>
          <p:nvPr/>
        </p:nvSpPr>
        <p:spPr>
          <a:xfrm>
            <a:off x="8275320" y="1508760"/>
            <a:ext cx="3246120" cy="1170432"/>
          </a:xfrm>
          <a:prstGeom prst="roundRect">
            <a:avLst>
              <a:gd name="adj" fmla="val 4688"/>
            </a:avLst>
          </a:prstGeom>
          <a:solidFill>
            <a:srgbClr val="EAF4F4"/>
          </a:solidFill>
          <a:ln w="10160">
            <a:solidFill>
              <a:srgbClr val="D9E0E3"/>
            </a:solidFill>
            <a:prstDash val="solid"/>
          </a:ln>
        </p:spPr>
        <p:txBody>
          <a:bodyPr/>
          <a:p/>
        </p:txBody>
      </p:sp>
      <p:sp>
        <p:nvSpPr>
          <p:cNvPr id="15" name="Shape 13"/>
          <p:cNvSpPr/>
          <p:nvPr/>
        </p:nvSpPr>
        <p:spPr>
          <a:xfrm>
            <a:off x="8275320" y="1508760"/>
            <a:ext cx="54864" cy="1170432"/>
          </a:xfrm>
          <a:prstGeom prst="rect">
            <a:avLst/>
          </a:prstGeom>
          <a:solidFill>
            <a:srgbClr val="00787D"/>
          </a:solidFill>
          <a:ln w="12700">
            <a:solidFill>
              <a:srgbClr val="00787D"/>
            </a:solidFill>
            <a:prstDash val="solid"/>
          </a:ln>
        </p:spPr>
        <p:txBody>
          <a:bodyPr/>
          <a:p/>
        </p:txBody>
      </p:sp>
      <p:sp>
        <p:nvSpPr>
          <p:cNvPr id="16" name="Text 14"/>
          <p:cNvSpPr/>
          <p:nvPr/>
        </p:nvSpPr>
        <p:spPr>
          <a:xfrm>
            <a:off x="8476488" y="1655064"/>
            <a:ext cx="2926080" cy="274320"/>
          </a:xfrm>
          <a:prstGeom prst="rect">
            <a:avLst/>
          </a:prstGeom>
          <a:noFill/>
          <a:ln/>
        </p:spPr>
        <p:txBody>
          <a:bodyPr wrap="square" lIns="0" tIns="0" rIns="0" bIns="0" rtlCol="0" anchor="ctr"/>
          <a:lstStyle/>
          <a:p>
            <a:r>
              <a:t>Solutions / bets</a:t>
            </a:r>
          </a:p>
        </p:txBody>
      </p:sp>
      <p:sp>
        <p:nvSpPr>
          <p:cNvPr id="17" name="Text 15"/>
          <p:cNvSpPr/>
          <p:nvPr/>
        </p:nvSpPr>
        <p:spPr>
          <a:xfrm>
            <a:off x="8476488" y="2011680"/>
            <a:ext cx="2898648" cy="548640"/>
          </a:xfrm>
          <a:prstGeom prst="rect">
            <a:avLst/>
          </a:prstGeom>
          <a:noFill/>
          <a:ln/>
        </p:spPr>
        <p:txBody>
          <a:bodyPr wrap="square" lIns="0" tIns="0" rIns="0" bIns="0" rtlCol="0" anchor="ctr">
            <a:normAutofit/>
          </a:bodyPr>
          <a:lstStyle/>
          <a:p>
            <a:r>
              <a:t>DIRECTION / WHAT</a:t>
            </a:r>
          </a:p>
        </p:txBody>
      </p:sp>
      <p:sp>
        <p:nvSpPr>
          <p:cNvPr id="18" name="Shape 16"/>
          <p:cNvSpPr/>
          <p:nvPr/>
        </p:nvSpPr>
        <p:spPr>
          <a:xfrm>
            <a:off x="777240" y="3108960"/>
            <a:ext cx="3246120" cy="1170432"/>
          </a:xfrm>
          <a:prstGeom prst="roundRect">
            <a:avLst>
              <a:gd name="adj" fmla="val 4688"/>
            </a:avLst>
          </a:prstGeom>
          <a:solidFill>
            <a:srgbClr val="F3F5F6"/>
          </a:solidFill>
          <a:ln w="10160">
            <a:solidFill>
              <a:srgbClr val="D9E0E3"/>
            </a:solidFill>
            <a:prstDash val="solid"/>
          </a:ln>
        </p:spPr>
        <p:txBody>
          <a:bodyPr/>
          <a:p/>
        </p:txBody>
      </p:sp>
      <p:sp>
        <p:nvSpPr>
          <p:cNvPr id="19" name="Shape 17"/>
          <p:cNvSpPr/>
          <p:nvPr/>
        </p:nvSpPr>
        <p:spPr>
          <a:xfrm>
            <a:off x="777240" y="3108960"/>
            <a:ext cx="54864" cy="1170432"/>
          </a:xfrm>
          <a:prstGeom prst="rect">
            <a:avLst/>
          </a:prstGeom>
          <a:solidFill>
            <a:srgbClr val="123047"/>
          </a:solidFill>
          <a:ln w="12700">
            <a:solidFill>
              <a:srgbClr val="123047"/>
            </a:solidFill>
            <a:prstDash val="solid"/>
          </a:ln>
        </p:spPr>
        <p:txBody>
          <a:bodyPr/>
          <a:p/>
        </p:txBody>
      </p:sp>
      <p:sp>
        <p:nvSpPr>
          <p:cNvPr id="20" name="Text 18"/>
          <p:cNvSpPr/>
          <p:nvPr/>
        </p:nvSpPr>
        <p:spPr>
          <a:xfrm>
            <a:off x="978408" y="3255264"/>
            <a:ext cx="2926080" cy="274320"/>
          </a:xfrm>
          <a:prstGeom prst="rect">
            <a:avLst/>
          </a:prstGeom>
          <a:noFill/>
          <a:ln/>
        </p:spPr>
        <p:txBody>
          <a:bodyPr wrap="square" lIns="0" tIns="0" rIns="0" bIns="0" rtlCol="0" anchor="ctr"/>
          <a:lstStyle/>
          <a:p>
            <a:r>
              <a:t>Quarter</a:t>
            </a:r>
          </a:p>
        </p:txBody>
      </p:sp>
      <p:sp>
        <p:nvSpPr>
          <p:cNvPr id="21" name="Text 19"/>
          <p:cNvSpPr/>
          <p:nvPr/>
        </p:nvSpPr>
        <p:spPr>
          <a:xfrm>
            <a:off x="978408" y="3611880"/>
            <a:ext cx="2898648" cy="548640"/>
          </a:xfrm>
          <a:prstGeom prst="rect">
            <a:avLst/>
          </a:prstGeom>
          <a:noFill/>
          <a:ln/>
        </p:spPr>
        <p:txBody>
          <a:bodyPr wrap="square" lIns="0" tIns="0" rIns="0" bIns="0" rtlCol="0" anchor="ctr">
            <a:normAutofit/>
          </a:bodyPr>
          <a:lstStyle/>
          <a:p>
            <a:r>
              <a:t>SEQUENCING / WHEN</a:t>
            </a:r>
          </a:p>
        </p:txBody>
      </p:sp>
      <p:sp>
        <p:nvSpPr>
          <p:cNvPr id="22" name="Shape 20"/>
          <p:cNvSpPr/>
          <p:nvPr/>
        </p:nvSpPr>
        <p:spPr>
          <a:xfrm>
            <a:off x="4526280" y="3108960"/>
            <a:ext cx="3246120" cy="1170432"/>
          </a:xfrm>
          <a:prstGeom prst="roundRect">
            <a:avLst>
              <a:gd name="adj" fmla="val 4688"/>
            </a:avLst>
          </a:prstGeom>
          <a:solidFill>
            <a:srgbClr val="F3F5F6"/>
          </a:solidFill>
          <a:ln w="10160">
            <a:solidFill>
              <a:srgbClr val="D9E0E3"/>
            </a:solidFill>
            <a:prstDash val="solid"/>
          </a:ln>
        </p:spPr>
        <p:txBody>
          <a:bodyPr/>
          <a:p/>
        </p:txBody>
      </p:sp>
      <p:sp>
        <p:nvSpPr>
          <p:cNvPr id="23" name="Shape 21"/>
          <p:cNvSpPr/>
          <p:nvPr/>
        </p:nvSpPr>
        <p:spPr>
          <a:xfrm>
            <a:off x="4526280" y="3108960"/>
            <a:ext cx="54864" cy="1170432"/>
          </a:xfrm>
          <a:prstGeom prst="rect">
            <a:avLst/>
          </a:prstGeom>
          <a:solidFill>
            <a:srgbClr val="123047"/>
          </a:solidFill>
          <a:ln w="12700">
            <a:solidFill>
              <a:srgbClr val="123047"/>
            </a:solidFill>
            <a:prstDash val="solid"/>
          </a:ln>
        </p:spPr>
        <p:txBody>
          <a:bodyPr/>
          <a:p/>
        </p:txBody>
      </p:sp>
      <p:sp>
        <p:nvSpPr>
          <p:cNvPr id="24" name="Text 22"/>
          <p:cNvSpPr/>
          <p:nvPr/>
        </p:nvSpPr>
        <p:spPr>
          <a:xfrm>
            <a:off x="4727448" y="3255264"/>
            <a:ext cx="2926080" cy="274320"/>
          </a:xfrm>
          <a:prstGeom prst="rect">
            <a:avLst/>
          </a:prstGeom>
          <a:noFill/>
          <a:ln/>
        </p:spPr>
        <p:txBody>
          <a:bodyPr wrap="square" lIns="0" tIns="0" rIns="0" bIns="0" rtlCol="0" anchor="ctr"/>
          <a:lstStyle/>
          <a:p>
            <a:r>
              <a:t>Discovery maturity</a:t>
            </a:r>
          </a:p>
        </p:txBody>
      </p:sp>
      <p:sp>
        <p:nvSpPr>
          <p:cNvPr id="25" name="Text 23"/>
          <p:cNvSpPr/>
          <p:nvPr/>
        </p:nvSpPr>
        <p:spPr>
          <a:xfrm>
            <a:off x="4727448" y="3611880"/>
            <a:ext cx="2898648" cy="548640"/>
          </a:xfrm>
          <a:prstGeom prst="rect">
            <a:avLst/>
          </a:prstGeom>
          <a:noFill/>
          <a:ln/>
        </p:spPr>
        <p:txBody>
          <a:bodyPr wrap="square" lIns="0" tIns="0" rIns="0" bIns="0" rtlCol="0" anchor="ctr">
            <a:normAutofit/>
          </a:bodyPr>
          <a:lstStyle/>
          <a:p>
            <a:r>
              <a:t>STATUS / CONFIDENCE</a:t>
            </a:r>
          </a:p>
        </p:txBody>
      </p:sp>
      <p:sp>
        <p:nvSpPr>
          <p:cNvPr id="26" name="Shape 24"/>
          <p:cNvSpPr/>
          <p:nvPr/>
        </p:nvSpPr>
        <p:spPr>
          <a:xfrm>
            <a:off x="8275320" y="3108960"/>
            <a:ext cx="3246120" cy="1170432"/>
          </a:xfrm>
          <a:prstGeom prst="roundRect">
            <a:avLst>
              <a:gd name="adj" fmla="val 4688"/>
            </a:avLst>
          </a:prstGeom>
          <a:solidFill>
            <a:srgbClr val="F3F5F6"/>
          </a:solidFill>
          <a:ln w="10160">
            <a:solidFill>
              <a:srgbClr val="D9E0E3"/>
            </a:solidFill>
            <a:prstDash val="solid"/>
          </a:ln>
        </p:spPr>
        <p:txBody>
          <a:bodyPr/>
          <a:p/>
        </p:txBody>
      </p:sp>
      <p:sp>
        <p:nvSpPr>
          <p:cNvPr id="27" name="Shape 25"/>
          <p:cNvSpPr/>
          <p:nvPr/>
        </p:nvSpPr>
        <p:spPr>
          <a:xfrm>
            <a:off x="8275320" y="3108960"/>
            <a:ext cx="54864" cy="1170432"/>
          </a:xfrm>
          <a:prstGeom prst="rect">
            <a:avLst/>
          </a:prstGeom>
          <a:solidFill>
            <a:srgbClr val="123047"/>
          </a:solidFill>
          <a:ln w="12700">
            <a:solidFill>
              <a:srgbClr val="123047"/>
            </a:solidFill>
            <a:prstDash val="solid"/>
          </a:ln>
        </p:spPr>
        <p:txBody>
          <a:bodyPr/>
          <a:p/>
        </p:txBody>
      </p:sp>
      <p:sp>
        <p:nvSpPr>
          <p:cNvPr id="28" name="Text 26"/>
          <p:cNvSpPr/>
          <p:nvPr/>
        </p:nvSpPr>
        <p:spPr>
          <a:xfrm>
            <a:off x="8476488" y="3255264"/>
            <a:ext cx="2926080" cy="274320"/>
          </a:xfrm>
          <a:prstGeom prst="rect">
            <a:avLst/>
          </a:prstGeom>
          <a:noFill/>
          <a:ln/>
        </p:spPr>
        <p:txBody>
          <a:bodyPr wrap="square" lIns="0" tIns="0" rIns="0" bIns="0" rtlCol="0" anchor="ctr"/>
          <a:lstStyle/>
          <a:p>
            <a:r>
              <a:t>Artefact Ready</a:t>
            </a:r>
          </a:p>
        </p:txBody>
      </p:sp>
      <p:sp>
        <p:nvSpPr>
          <p:cNvPr id="29" name="Text 27"/>
          <p:cNvSpPr/>
          <p:nvPr/>
        </p:nvSpPr>
        <p:spPr>
          <a:xfrm>
            <a:off x="8476488" y="3611880"/>
            <a:ext cx="2898648" cy="548640"/>
          </a:xfrm>
          <a:prstGeom prst="rect">
            <a:avLst/>
          </a:prstGeom>
          <a:noFill/>
          <a:ln/>
        </p:spPr>
        <p:txBody>
          <a:bodyPr wrap="square" lIns="0" tIns="0" rIns="0" bIns="0" rtlCol="0" anchor="ctr">
            <a:normAutofit/>
          </a:bodyPr>
          <a:lstStyle/>
          <a:p>
            <a:r>
              <a:t>READINESS SIGNAL</a:t>
            </a:r>
          </a:p>
        </p:txBody>
      </p:sp>
      <p:sp>
        <p:nvSpPr>
          <p:cNvPr id="30" name="Text 28"/>
          <p:cNvSpPr/>
          <p:nvPr/>
        </p:nvSpPr>
        <p:spPr>
          <a:xfrm>
            <a:off x="914400" y="4983480"/>
            <a:ext cx="10332720" cy="365760"/>
          </a:xfrm>
          <a:prstGeom prst="rect">
            <a:avLst/>
          </a:prstGeom>
          <a:noFill/>
          <a:ln/>
        </p:spPr>
        <p:txBody>
          <a:bodyPr wrap="square" lIns="0" tIns="0" rIns="0" bIns="0" rtlCol="0" anchor="ctr"/>
          <a:lstStyle/>
          <a:p>
            <a:r>
              <a:t>Published definitions converge on strategy, priorities, direction, sequencing/time and progress — not “every item has a finished PRD/prototype.”</a:t>
            </a:r>
          </a:p>
        </p:txBody>
      </p:sp>
      <p:sp>
        <p:nvSpPr>
          <p:cNvPr id="31" name="Text 29"/>
          <p:cNvSpPr/>
          <p:nvPr/>
        </p:nvSpPr>
        <p:spPr>
          <a:xfrm>
            <a:off x="914400" y="5486400"/>
            <a:ext cx="10332720" cy="411480"/>
          </a:xfrm>
          <a:prstGeom prst="rect">
            <a:avLst/>
          </a:prstGeom>
          <a:noFill/>
          <a:ln/>
        </p:spPr>
        <p:txBody>
          <a:bodyPr wrap="square" lIns="0" tIns="0" rIns="0" bIns="0" rtlCol="0" anchor="ctr"/>
          <a:lstStyle/>
          <a:p>
            <a:r>
              <a:t>Our remaining gap is a delivery-certainty contract: what does a quarter promise, and when does an item become committed?</a:t>
            </a:r>
          </a:p>
        </p:txBody>
      </p:sp>
      <p:sp>
        <p:nvSpPr>
          <p:cNvPr id="32" name="Text 30"/>
          <p:cNvSpPr/>
          <p:nvPr/>
        </p:nvSpPr>
        <p:spPr>
          <a:xfrm>
            <a:off x="11201400" y="6473952"/>
            <a:ext cx="320040" cy="182880"/>
          </a:xfrm>
          <a:prstGeom prst="rect">
            <a:avLst/>
          </a:prstGeom>
          <a:noFill/>
          <a:ln/>
        </p:spPr>
        <p:txBody>
          <a:bodyPr wrap="square" lIns="0" tIns="0" rIns="0" bIns="0" rtlCol="0" anchor="ctr"/>
          <a:lstStyle/>
          <a:p>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CTO ALIGNMENT</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r>
              <a:t>The CTO is right about delivery integrity — not about making completed discovery the definition of a roadmap</a:t>
            </a:r>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777240" y="1508760"/>
            <a:ext cx="5166360" cy="3337560"/>
          </a:xfrm>
          <a:prstGeom prst="roundRect">
            <a:avLst>
              <a:gd name="adj" fmla="val 1644"/>
            </a:avLst>
          </a:prstGeom>
          <a:solidFill>
            <a:srgbClr val="EEF3F8"/>
          </a:solidFill>
          <a:ln w="10160">
            <a:solidFill>
              <a:srgbClr val="D9E0E3"/>
            </a:solidFill>
            <a:prstDash val="solid"/>
          </a:ln>
        </p:spPr>
        <p:txBody>
          <a:bodyPr/>
          <a:p/>
        </p:txBody>
      </p:sp>
      <p:sp>
        <p:nvSpPr>
          <p:cNvPr id="7" name="Shape 5"/>
          <p:cNvSpPr/>
          <p:nvPr/>
        </p:nvSpPr>
        <p:spPr>
          <a:xfrm>
            <a:off x="777240" y="1508760"/>
            <a:ext cx="54864" cy="3337560"/>
          </a:xfrm>
          <a:prstGeom prst="rect">
            <a:avLst/>
          </a:prstGeom>
          <a:solidFill>
            <a:srgbClr val="477FA6"/>
          </a:solidFill>
          <a:ln w="12700">
            <a:solidFill>
              <a:srgbClr val="477FA6"/>
            </a:solidFill>
            <a:prstDash val="solid"/>
          </a:ln>
        </p:spPr>
        <p:txBody>
          <a:bodyPr/>
          <a:p/>
        </p:txBody>
      </p:sp>
      <p:sp>
        <p:nvSpPr>
          <p:cNvPr id="8" name="Text 6"/>
          <p:cNvSpPr/>
          <p:nvPr/>
        </p:nvSpPr>
        <p:spPr>
          <a:xfrm>
            <a:off x="978408" y="1655064"/>
            <a:ext cx="4846320" cy="274320"/>
          </a:xfrm>
          <a:prstGeom prst="rect">
            <a:avLst/>
          </a:prstGeom>
          <a:noFill/>
          <a:ln/>
        </p:spPr>
        <p:txBody>
          <a:bodyPr wrap="square" lIns="0" tIns="0" rIns="0" bIns="0" rtlCol="0" anchor="ctr"/>
          <a:lstStyle/>
          <a:p>
            <a:pPr indent="0" marL="0">
              <a:buNone/>
            </a:pPr>
            <a:r>
              <a:rPr lang="en-US" sz="1300" b="1" dirty="0">
                <a:solidFill>
                  <a:srgbClr val="123047"/>
                </a:solidFill>
              </a:rPr>
              <a:t>The CTO is right about…</a:t>
            </a:r>
            <a:endParaRPr lang="en-US" sz="1300" dirty="0"/>
          </a:p>
        </p:txBody>
      </p:sp>
      <p:sp>
        <p:nvSpPr>
          <p:cNvPr id="9" name="Text 7"/>
          <p:cNvSpPr/>
          <p:nvPr/>
        </p:nvSpPr>
        <p:spPr>
          <a:xfrm>
            <a:off x="978408" y="2011680"/>
            <a:ext cx="4818888" cy="2715768"/>
          </a:xfrm>
          <a:prstGeom prst="rect">
            <a:avLst/>
          </a:prstGeom>
          <a:noFill/>
          <a:ln/>
        </p:spPr>
        <p:txBody>
          <a:bodyPr wrap="square" lIns="0" tIns="0" rIns="0" bIns="0" rtlCol="0" anchor="ctr">
            <a:normAutofit/>
          </a:bodyPr>
          <a:lstStyle/>
          <a:p>
            <a:pPr indent="0" marL="0">
              <a:buNone/>
            </a:pPr>
            <a:r>
              <a:rPr lang="en-US" sz="1050" dirty="0">
                <a:solidFill>
                  <a:srgbClr val="182026"/>
                </a:solidFill>
              </a:rPr>
              <a:t>• Immature work cannot carry a high-confidence delivery promise.</a:t>
            </a:r>
            <a:endParaRPr lang="en-US" sz="1050" dirty="0"/>
          </a:p>
          <a:p>
            <a:pPr indent="0" marL="0">
              <a:buNone/>
            </a:pPr>
            <a:r>
              <a:rPr lang="en-US" sz="1050" dirty="0">
                <a:solidFill>
                  <a:srgbClr val="182026"/>
                </a:solidFill>
              </a:rPr>
              <a:t>• PRD/prototype/technical validation can materially change scope.</a:t>
            </a:r>
            <a:endParaRPr lang="en-US" sz="1050" dirty="0"/>
          </a:p>
          <a:p>
            <a:pPr indent="0" marL="0">
              <a:buNone/>
            </a:pPr>
            <a:r>
              <a:rPr lang="en-US" sz="1050" dirty="0">
                <a:solidFill>
                  <a:srgbClr val="182026"/>
                </a:solidFill>
              </a:rPr>
              <a:t>• Engineering dependencies and capacity affect the date.</a:t>
            </a:r>
            <a:endParaRPr lang="en-US" sz="1050" dirty="0"/>
          </a:p>
          <a:p>
            <a:pPr indent="0" marL="0">
              <a:buNone/>
            </a:pPr>
            <a:r>
              <a:rPr lang="en-US" sz="1050" dirty="0">
                <a:solidFill>
                  <a:srgbClr val="182026"/>
                </a:solidFill>
              </a:rPr>
              <a:t>• A roadmap quarter must not silently become an Engineering commitment.</a:t>
            </a:r>
            <a:endParaRPr lang="en-US" sz="1050" dirty="0"/>
          </a:p>
        </p:txBody>
      </p:sp>
      <p:sp>
        <p:nvSpPr>
          <p:cNvPr id="10" name="Shape 8"/>
          <p:cNvSpPr/>
          <p:nvPr/>
        </p:nvSpPr>
        <p:spPr>
          <a:xfrm>
            <a:off x="6263640" y="1508760"/>
            <a:ext cx="5166360" cy="3337560"/>
          </a:xfrm>
          <a:prstGeom prst="roundRect">
            <a:avLst>
              <a:gd name="adj" fmla="val 1644"/>
            </a:avLst>
          </a:prstGeom>
          <a:solidFill>
            <a:srgbClr val="F8F2EC"/>
          </a:solidFill>
          <a:ln w="10160">
            <a:solidFill>
              <a:srgbClr val="D9E0E3"/>
            </a:solidFill>
            <a:prstDash val="solid"/>
          </a:ln>
        </p:spPr>
        <p:txBody>
          <a:bodyPr/>
          <a:p/>
        </p:txBody>
      </p:sp>
      <p:sp>
        <p:nvSpPr>
          <p:cNvPr id="11" name="Shape 9"/>
          <p:cNvSpPr/>
          <p:nvPr/>
        </p:nvSpPr>
        <p:spPr>
          <a:xfrm>
            <a:off x="6263640" y="1508760"/>
            <a:ext cx="54864" cy="3337560"/>
          </a:xfrm>
          <a:prstGeom prst="rect">
            <a:avLst/>
          </a:prstGeom>
          <a:solidFill>
            <a:srgbClr val="E7A83E"/>
          </a:solidFill>
          <a:ln w="12700">
            <a:solidFill>
              <a:srgbClr val="E7A83E"/>
            </a:solidFill>
            <a:prstDash val="solid"/>
          </a:ln>
        </p:spPr>
        <p:txBody>
          <a:bodyPr/>
          <a:p/>
        </p:txBody>
      </p:sp>
      <p:sp>
        <p:nvSpPr>
          <p:cNvPr id="12" name="Text 10"/>
          <p:cNvSpPr/>
          <p:nvPr/>
        </p:nvSpPr>
        <p:spPr>
          <a:xfrm>
            <a:off x="6464808" y="1655064"/>
            <a:ext cx="4846320" cy="274320"/>
          </a:xfrm>
          <a:prstGeom prst="rect">
            <a:avLst/>
          </a:prstGeom>
          <a:noFill/>
          <a:ln/>
        </p:spPr>
        <p:txBody>
          <a:bodyPr wrap="square" lIns="0" tIns="0" rIns="0" bIns="0" rtlCol="0" anchor="ctr"/>
          <a:lstStyle/>
          <a:p>
            <a:pPr indent="0" marL="0">
              <a:buNone/>
            </a:pPr>
            <a:r>
              <a:rPr lang="en-US" sz="1300" b="1" dirty="0">
                <a:solidFill>
                  <a:srgbClr val="123047"/>
                </a:solidFill>
              </a:rPr>
              <a:t>But requiring Artefact Ready before roadmap visibility would…</a:t>
            </a:r>
            <a:endParaRPr lang="en-US" sz="1300" dirty="0"/>
          </a:p>
        </p:txBody>
      </p:sp>
      <p:sp>
        <p:nvSpPr>
          <p:cNvPr id="13" name="Text 11"/>
          <p:cNvSpPr/>
          <p:nvPr/>
        </p:nvSpPr>
        <p:spPr>
          <a:xfrm>
            <a:off x="6464808" y="2011680"/>
            <a:ext cx="4818888" cy="2715768"/>
          </a:xfrm>
          <a:prstGeom prst="rect">
            <a:avLst/>
          </a:prstGeom>
          <a:noFill/>
          <a:ln/>
        </p:spPr>
        <p:txBody>
          <a:bodyPr wrap="square" lIns="0" tIns="0" rIns="0" bIns="0" rtlCol="0" anchor="ctr">
            <a:normAutofit/>
          </a:bodyPr>
          <a:lstStyle/>
          <a:p>
            <a:pPr indent="0" marL="0">
              <a:buNone/>
            </a:pPr>
            <a:r>
              <a:rPr lang="en-US" sz="1050" dirty="0">
                <a:solidFill>
                  <a:srgbClr val="182026"/>
                </a:solidFill>
              </a:rPr>
              <a:t>• Hide future strategic direction until late.</a:t>
            </a:r>
            <a:endParaRPr lang="en-US" sz="1050" dirty="0"/>
          </a:p>
          <a:p>
            <a:pPr indent="0" marL="0">
              <a:buNone/>
            </a:pPr>
            <a:r>
              <a:rPr lang="en-US" sz="1050" dirty="0">
                <a:solidFill>
                  <a:srgbClr val="182026"/>
                </a:solidFill>
              </a:rPr>
              <a:t>• Force detailed discovery too early.</a:t>
            </a:r>
            <a:endParaRPr lang="en-US" sz="1050" dirty="0"/>
          </a:p>
          <a:p>
            <a:pPr indent="0" marL="0">
              <a:buNone/>
            </a:pPr>
            <a:r>
              <a:rPr lang="en-US" sz="1050" dirty="0">
                <a:solidFill>
                  <a:srgbClr val="182026"/>
                </a:solidFill>
              </a:rPr>
              <a:t>• Turn the roadmap into a near-term delivery pipeline.</a:t>
            </a:r>
            <a:endParaRPr lang="en-US" sz="1050" dirty="0"/>
          </a:p>
          <a:p>
            <a:pPr indent="0" marL="0">
              <a:buNone/>
            </a:pPr>
            <a:r>
              <a:rPr lang="en-US" sz="1050" dirty="0">
                <a:solidFill>
                  <a:srgbClr val="182026"/>
                </a:solidFill>
              </a:rPr>
              <a:t>• Make discovery a prerequisite to deciding what deserves discovery investment.</a:t>
            </a:r>
            <a:endParaRPr lang="en-US" sz="1050" dirty="0"/>
          </a:p>
        </p:txBody>
      </p:sp>
      <p:sp>
        <p:nvSpPr>
          <p:cNvPr id="14" name="Text 12"/>
          <p:cNvSpPr/>
          <p:nvPr/>
        </p:nvSpPr>
        <p:spPr>
          <a:xfrm>
            <a:off x="914400" y="5212080"/>
            <a:ext cx="10332720" cy="685800"/>
          </a:xfrm>
          <a:prstGeom prst="rect">
            <a:avLst/>
          </a:prstGeom>
          <a:noFill/>
          <a:ln/>
        </p:spPr>
        <p:txBody>
          <a:bodyPr wrap="square" lIns="0" tIns="0" rIns="0" bIns="0" rtlCol="0" anchor="ctr"/>
          <a:lstStyle/>
          <a:p>
            <a:pPr algn="ctr" indent="0" marL="0">
              <a:buNone/>
            </a:pPr>
            <a:r>
              <a:rPr lang="en-US" sz="1700" b="1" dirty="0">
                <a:solidFill>
                  <a:srgbClr val="123047"/>
                </a:solidFill>
              </a:rPr>
              <a:t>Resolution: protect delivery integrity with a Definition of Committed — not by redefining the roadmap as “only fully discovered work.”</a:t>
            </a:r>
            <a:endParaRPr lang="en-US" sz="1700" dirty="0"/>
          </a:p>
        </p:txBody>
      </p:sp>
      <p:sp>
        <p:nvSpPr>
          <p:cNvPr id="15" name="Text 13"/>
          <p:cNvSpPr/>
          <p:nvPr/>
        </p:nvSpPr>
        <p:spPr>
          <a:xfrm>
            <a:off x="11201400" y="6473952"/>
            <a:ext cx="320040" cy="182880"/>
          </a:xfrm>
          <a:prstGeom prst="rect">
            <a:avLst/>
          </a:prstGeom>
          <a:noFill/>
          <a:ln/>
        </p:spPr>
        <p:txBody>
          <a:bodyPr wrap="square" lIns="0" tIns="0" rIns="0" bIns="0" rtlCol="0" anchor="ctr"/>
          <a:lstStyle/>
          <a:p>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ROADMAP CONTRACT</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The critical semantic decision: what does “Q2” mean?</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914400" y="1463040"/>
            <a:ext cx="10332720" cy="1143000"/>
          </a:xfrm>
          <a:prstGeom prst="roundRect">
            <a:avLst/>
          </a:prstGeom>
          <a:solidFill>
            <a:srgbClr val="EAF4F4"/>
          </a:solidFill>
          <a:ln w="19050">
            <a:solidFill>
              <a:srgbClr val="00787D"/>
            </a:solidFill>
            <a:prstDash val="solid"/>
          </a:ln>
        </p:spPr>
        <p:txBody>
          <a:bodyPr/>
          <a:p/>
        </p:txBody>
      </p:sp>
      <p:sp>
        <p:nvSpPr>
          <p:cNvPr id="7" name="Text 5"/>
          <p:cNvSpPr/>
          <p:nvPr/>
        </p:nvSpPr>
        <p:spPr>
          <a:xfrm>
            <a:off x="1188720" y="1691640"/>
            <a:ext cx="2011680" cy="274320"/>
          </a:xfrm>
          <a:prstGeom prst="rect">
            <a:avLst/>
          </a:prstGeom>
          <a:noFill/>
          <a:ln/>
        </p:spPr>
        <p:txBody>
          <a:bodyPr wrap="square" lIns="0" tIns="0" rIns="0" bIns="0" rtlCol="0" anchor="ctr"/>
          <a:lstStyle/>
          <a:p>
            <a:pPr indent="0" marL="0">
              <a:buNone/>
            </a:pPr>
            <a:r>
              <a:rPr lang="en-US" sz="1200" b="1" dirty="0">
                <a:solidFill>
                  <a:srgbClr val="00787D"/>
                </a:solidFill>
              </a:rPr>
              <a:t>Recommended definition</a:t>
            </a:r>
            <a:endParaRPr lang="en-US" sz="1200" dirty="0"/>
          </a:p>
        </p:txBody>
      </p:sp>
      <p:sp>
        <p:nvSpPr>
          <p:cNvPr id="8" name="Text 6"/>
          <p:cNvSpPr/>
          <p:nvPr/>
        </p:nvSpPr>
        <p:spPr>
          <a:xfrm>
            <a:off x="1188720" y="1993392"/>
            <a:ext cx="9601200" cy="411480"/>
          </a:xfrm>
          <a:prstGeom prst="rect">
            <a:avLst/>
          </a:prstGeom>
          <a:noFill/>
          <a:ln/>
        </p:spPr>
        <p:txBody>
          <a:bodyPr wrap="square" lIns="0" tIns="0" rIns="0" bIns="0" rtlCol="0" anchor="ctr"/>
          <a:lstStyle/>
          <a:p>
            <a:r>
              <a:t>Q2 = current planning intent / target horizon based on what we know today. Selected items may become commitments — but the quarter label alone is not the commitment.</a:t>
            </a:r>
          </a:p>
        </p:txBody>
      </p:sp>
      <p:sp>
        <p:nvSpPr>
          <p:cNvPr id="9" name="Shape 7"/>
          <p:cNvSpPr/>
          <p:nvPr/>
        </p:nvSpPr>
        <p:spPr>
          <a:xfrm>
            <a:off x="914400" y="3063240"/>
            <a:ext cx="4892040" cy="1965960"/>
          </a:xfrm>
          <a:prstGeom prst="roundRect">
            <a:avLst>
              <a:gd name="adj" fmla="val 2791"/>
            </a:avLst>
          </a:prstGeom>
          <a:solidFill>
            <a:srgbClr val="F3F5F6"/>
          </a:solidFill>
          <a:ln w="10160">
            <a:solidFill>
              <a:srgbClr val="D9E0E3"/>
            </a:solidFill>
            <a:prstDash val="solid"/>
          </a:ln>
        </p:spPr>
        <p:txBody>
          <a:bodyPr/>
          <a:p/>
        </p:txBody>
      </p:sp>
      <p:sp>
        <p:nvSpPr>
          <p:cNvPr id="10" name="Shape 8"/>
          <p:cNvSpPr/>
          <p:nvPr/>
        </p:nvSpPr>
        <p:spPr>
          <a:xfrm>
            <a:off x="914400" y="3063240"/>
            <a:ext cx="54864" cy="1965960"/>
          </a:xfrm>
          <a:prstGeom prst="rect">
            <a:avLst/>
          </a:prstGeom>
          <a:solidFill>
            <a:srgbClr val="00787D"/>
          </a:solidFill>
          <a:ln w="12700">
            <a:solidFill>
              <a:srgbClr val="00787D"/>
            </a:solidFill>
            <a:prstDash val="solid"/>
          </a:ln>
        </p:spPr>
        <p:txBody>
          <a:bodyPr/>
          <a:p/>
        </p:txBody>
      </p:sp>
      <p:sp>
        <p:nvSpPr>
          <p:cNvPr id="11" name="Text 9"/>
          <p:cNvSpPr/>
          <p:nvPr/>
        </p:nvSpPr>
        <p:spPr>
          <a:xfrm>
            <a:off x="1115568" y="3209544"/>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If Q2 means roadmap intent</a:t>
            </a:r>
            <a:endParaRPr lang="en-US" sz="1300" dirty="0"/>
          </a:p>
        </p:txBody>
      </p:sp>
      <p:sp>
        <p:nvSpPr>
          <p:cNvPr id="12" name="Text 10"/>
          <p:cNvSpPr/>
          <p:nvPr/>
        </p:nvSpPr>
        <p:spPr>
          <a:xfrm>
            <a:off x="1115568" y="3566160"/>
            <a:ext cx="4544568" cy="1344168"/>
          </a:xfrm>
          <a:prstGeom prst="rect">
            <a:avLst/>
          </a:prstGeom>
          <a:noFill/>
          <a:ln/>
        </p:spPr>
        <p:txBody>
          <a:bodyPr wrap="square" lIns="0" tIns="0" rIns="0" bIns="0" rtlCol="0" anchor="ctr">
            <a:normAutofit/>
          </a:bodyPr>
          <a:lstStyle/>
          <a:p>
            <a:pPr indent="0" marL="0">
              <a:buNone/>
            </a:pPr>
            <a:r>
              <a:rPr lang="en-US" sz="1050" dirty="0">
                <a:solidFill>
                  <a:srgbClr val="182026"/>
                </a:solidFill>
              </a:rPr>
              <a:t>Early discovery items can be visible. Confidence varies. The roadmap remains strategic and forward-looking.</a:t>
            </a:r>
            <a:endParaRPr lang="en-US" sz="1050" dirty="0"/>
          </a:p>
        </p:txBody>
      </p:sp>
      <p:sp>
        <p:nvSpPr>
          <p:cNvPr id="13" name="Shape 11"/>
          <p:cNvSpPr/>
          <p:nvPr/>
        </p:nvSpPr>
        <p:spPr>
          <a:xfrm>
            <a:off x="6355080" y="3063240"/>
            <a:ext cx="4892040" cy="1965960"/>
          </a:xfrm>
          <a:prstGeom prst="roundRect">
            <a:avLst>
              <a:gd name="adj" fmla="val 2791"/>
            </a:avLst>
          </a:prstGeom>
          <a:solidFill>
            <a:srgbClr val="F3F5F6"/>
          </a:solidFill>
          <a:ln w="10160">
            <a:solidFill>
              <a:srgbClr val="D9E0E3"/>
            </a:solidFill>
            <a:prstDash val="solid"/>
          </a:ln>
        </p:spPr>
        <p:txBody>
          <a:bodyPr/>
          <a:p/>
        </p:txBody>
      </p:sp>
      <p:sp>
        <p:nvSpPr>
          <p:cNvPr id="14" name="Shape 12"/>
          <p:cNvSpPr/>
          <p:nvPr/>
        </p:nvSpPr>
        <p:spPr>
          <a:xfrm>
            <a:off x="6355080" y="3063240"/>
            <a:ext cx="54864" cy="1965960"/>
          </a:xfrm>
          <a:prstGeom prst="rect">
            <a:avLst/>
          </a:prstGeom>
          <a:solidFill>
            <a:srgbClr val="E7A83E"/>
          </a:solidFill>
          <a:ln w="12700">
            <a:solidFill>
              <a:srgbClr val="E7A83E"/>
            </a:solidFill>
            <a:prstDash val="solid"/>
          </a:ln>
        </p:spPr>
        <p:txBody>
          <a:bodyPr/>
          <a:p/>
        </p:txBody>
      </p:sp>
      <p:sp>
        <p:nvSpPr>
          <p:cNvPr id="15" name="Text 13"/>
          <p:cNvSpPr/>
          <p:nvPr/>
        </p:nvSpPr>
        <p:spPr>
          <a:xfrm>
            <a:off x="6556248" y="3209544"/>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If Q2 means guaranteed availability</a:t>
            </a:r>
            <a:endParaRPr lang="en-US" sz="1300" dirty="0"/>
          </a:p>
        </p:txBody>
      </p:sp>
      <p:sp>
        <p:nvSpPr>
          <p:cNvPr id="16" name="Text 14"/>
          <p:cNvSpPr/>
          <p:nvPr/>
        </p:nvSpPr>
        <p:spPr>
          <a:xfrm>
            <a:off x="6556248" y="3566160"/>
            <a:ext cx="4544568" cy="1344168"/>
          </a:xfrm>
          <a:prstGeom prst="rect">
            <a:avLst/>
          </a:prstGeom>
          <a:noFill/>
          <a:ln/>
        </p:spPr>
        <p:txBody>
          <a:bodyPr wrap="square" lIns="0" tIns="0" rIns="0" bIns="0" rtlCol="0" anchor="ctr">
            <a:normAutofit/>
          </a:bodyPr>
          <a:lstStyle/>
          <a:p>
            <a:pPr indent="0" marL="0">
              <a:buNone/>
            </a:pPr>
            <a:r>
              <a:rPr lang="en-US" sz="1050" dirty="0">
                <a:solidFill>
                  <a:srgbClr val="182026"/>
                </a:solidFill>
              </a:rPr>
              <a:t>Only capacity-backed, sufficiently mature items can appear. That artifact is effectively a delivery/release plan.</a:t>
            </a:r>
            <a:endParaRPr lang="en-US" sz="1050" dirty="0"/>
          </a:p>
        </p:txBody>
      </p:sp>
      <p:sp>
        <p:nvSpPr>
          <p:cNvPr id="17" name="Text 15"/>
          <p:cNvSpPr/>
          <p:nvPr/>
        </p:nvSpPr>
        <p:spPr>
          <a:xfrm>
            <a:off x="914400" y="5577840"/>
            <a:ext cx="10332720" cy="365760"/>
          </a:xfrm>
          <a:prstGeom prst="rect">
            <a:avLst/>
          </a:prstGeom>
          <a:noFill/>
          <a:ln/>
        </p:spPr>
        <p:txBody>
          <a:bodyPr wrap="square" lIns="0" tIns="0" rIns="0" bIns="0" rtlCol="0" anchor="ctr"/>
          <a:lstStyle/>
          <a:p>
            <a:pPr algn="ctr" indent="0" marL="0">
              <a:buNone/>
            </a:pPr>
            <a:r>
              <a:rPr lang="en-US" sz="1600" b="1" dirty="0">
                <a:solidFill>
                  <a:srgbClr val="B4473A"/>
                </a:solidFill>
              </a:rPr>
              <a:t>Choose the semantics explicitly — do not let each function infer its own meaning.</a:t>
            </a:r>
            <a:endParaRPr lang="en-US" sz="1600" dirty="0"/>
          </a:p>
        </p:txBody>
      </p:sp>
      <p:sp>
        <p:nvSpPr>
          <p:cNvPr id="18" name="Text 16"/>
          <p:cNvSpPr/>
          <p:nvPr/>
        </p:nvSpPr>
        <p:spPr>
          <a:xfrm>
            <a:off x="11201400" y="6473952"/>
            <a:ext cx="320040" cy="182880"/>
          </a:xfrm>
          <a:prstGeom prst="rect">
            <a:avLst/>
          </a:prstGeom>
          <a:noFill/>
          <a:ln/>
        </p:spPr>
        <p:txBody>
          <a:bodyPr wrap="square" lIns="0" tIns="0" rIns="0" bIns="0" rtlCol="0" anchor="ctr"/>
          <a:lstStyle/>
          <a:p>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DISCOVERY MODEL</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r>
              <a:t>Our maturity model mirrors JPD’s own separation of discovery, readiness and delivery</a:t>
            </a:r>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502920" y="1874520"/>
            <a:ext cx="1993392" cy="1097280"/>
          </a:xfrm>
          <a:prstGeom prst="roundRect">
            <a:avLst/>
          </a:prstGeom>
          <a:solidFill>
            <a:srgbClr val="F3F5F6"/>
          </a:solidFill>
          <a:ln w="12700">
            <a:solidFill>
              <a:srgbClr val="D4DDE1"/>
            </a:solidFill>
            <a:prstDash val="solid"/>
          </a:ln>
        </p:spPr>
        <p:txBody>
          <a:bodyPr/>
          <a:p/>
        </p:txBody>
      </p:sp>
      <p:sp>
        <p:nvSpPr>
          <p:cNvPr id="7" name="Text 5"/>
          <p:cNvSpPr/>
          <p:nvPr/>
        </p:nvSpPr>
        <p:spPr>
          <a:xfrm>
            <a:off x="612648" y="2057400"/>
            <a:ext cx="1773936" cy="274320"/>
          </a:xfrm>
          <a:prstGeom prst="rect">
            <a:avLst/>
          </a:prstGeom>
          <a:noFill/>
          <a:ln/>
        </p:spPr>
        <p:txBody>
          <a:bodyPr wrap="square" lIns="0" tIns="0" rIns="0" bIns="0" rtlCol="0" anchor="ctr"/>
          <a:lstStyle/>
          <a:p>
            <a:pPr algn="ctr" indent="0" marL="0">
              <a:buNone/>
            </a:pPr>
            <a:r>
              <a:rPr lang="en-US" sz="1200" b="1" dirty="0">
                <a:solidFill>
                  <a:srgbClr val="123047"/>
                </a:solidFill>
              </a:rPr>
              <a:t>Hypothesis</a:t>
            </a:r>
            <a:endParaRPr lang="en-US" sz="1200" dirty="0"/>
          </a:p>
        </p:txBody>
      </p:sp>
      <p:sp>
        <p:nvSpPr>
          <p:cNvPr id="8" name="Text 6"/>
          <p:cNvSpPr/>
          <p:nvPr/>
        </p:nvSpPr>
        <p:spPr>
          <a:xfrm>
            <a:off x="612648" y="2441448"/>
            <a:ext cx="1773936" cy="329184"/>
          </a:xfrm>
          <a:prstGeom prst="rect">
            <a:avLst/>
          </a:prstGeom>
          <a:noFill/>
          <a:ln/>
        </p:spPr>
        <p:txBody>
          <a:bodyPr wrap="square" lIns="0" tIns="0" rIns="0" bIns="0" rtlCol="0" anchor="ctr"/>
          <a:lstStyle/>
          <a:p>
            <a:pPr algn="ctr" indent="0" marL="0">
              <a:buNone/>
            </a:pPr>
            <a:r>
              <a:rPr lang="en-US" sz="950" dirty="0">
                <a:solidFill>
                  <a:srgbClr val="66747D"/>
                </a:solidFill>
              </a:rPr>
              <a:t>Strategic rationale</a:t>
            </a:r>
            <a:endParaRPr lang="en-US" sz="950" dirty="0"/>
          </a:p>
        </p:txBody>
      </p:sp>
      <p:sp>
        <p:nvSpPr>
          <p:cNvPr id="9" name="Shape 7"/>
          <p:cNvSpPr/>
          <p:nvPr/>
        </p:nvSpPr>
        <p:spPr>
          <a:xfrm>
            <a:off x="2514600" y="2212848"/>
            <a:ext cx="274320" cy="411480"/>
          </a:xfrm>
          <a:prstGeom prst="chevron">
            <a:avLst/>
          </a:prstGeom>
          <a:solidFill>
            <a:srgbClr val="C8D2D7"/>
          </a:solidFill>
          <a:ln w="12700">
            <a:solidFill>
              <a:srgbClr val="C8D2D7"/>
            </a:solidFill>
            <a:prstDash val="solid"/>
          </a:ln>
        </p:spPr>
        <p:txBody>
          <a:bodyPr/>
          <a:p/>
        </p:txBody>
      </p:sp>
      <p:sp>
        <p:nvSpPr>
          <p:cNvPr id="10" name="Shape 8"/>
          <p:cNvSpPr/>
          <p:nvPr/>
        </p:nvSpPr>
        <p:spPr>
          <a:xfrm>
            <a:off x="2816352" y="1874520"/>
            <a:ext cx="1993392" cy="1097280"/>
          </a:xfrm>
          <a:prstGeom prst="roundRect">
            <a:avLst/>
          </a:prstGeom>
          <a:solidFill>
            <a:srgbClr val="F3F5F6"/>
          </a:solidFill>
          <a:ln w="12700">
            <a:solidFill>
              <a:srgbClr val="D4DDE1"/>
            </a:solidFill>
            <a:prstDash val="solid"/>
          </a:ln>
        </p:spPr>
        <p:txBody>
          <a:bodyPr/>
          <a:p/>
        </p:txBody>
      </p:sp>
      <p:sp>
        <p:nvSpPr>
          <p:cNvPr id="11" name="Text 9"/>
          <p:cNvSpPr/>
          <p:nvPr/>
        </p:nvSpPr>
        <p:spPr>
          <a:xfrm>
            <a:off x="2926080" y="2057400"/>
            <a:ext cx="1773936" cy="274320"/>
          </a:xfrm>
          <a:prstGeom prst="rect">
            <a:avLst/>
          </a:prstGeom>
          <a:noFill/>
          <a:ln/>
        </p:spPr>
        <p:txBody>
          <a:bodyPr wrap="square" lIns="0" tIns="0" rIns="0" bIns="0" rtlCol="0" anchor="ctr"/>
          <a:lstStyle/>
          <a:p>
            <a:pPr algn="ctr" indent="0" marL="0">
              <a:buNone/>
            </a:pPr>
            <a:r>
              <a:rPr lang="en-US" sz="1200" b="1" dirty="0">
                <a:solidFill>
                  <a:srgbClr val="123047"/>
                </a:solidFill>
              </a:rPr>
              <a:t>Problem validated</a:t>
            </a:r>
            <a:endParaRPr lang="en-US" sz="1200" dirty="0"/>
          </a:p>
        </p:txBody>
      </p:sp>
      <p:sp>
        <p:nvSpPr>
          <p:cNvPr id="12" name="Text 10"/>
          <p:cNvSpPr/>
          <p:nvPr/>
        </p:nvSpPr>
        <p:spPr>
          <a:xfrm>
            <a:off x="2926080" y="2441448"/>
            <a:ext cx="1773936" cy="329184"/>
          </a:xfrm>
          <a:prstGeom prst="rect">
            <a:avLst/>
          </a:prstGeom>
          <a:noFill/>
          <a:ln/>
        </p:spPr>
        <p:txBody>
          <a:bodyPr wrap="square" lIns="0" tIns="0" rIns="0" bIns="0" rtlCol="0" anchor="ctr"/>
          <a:lstStyle/>
          <a:p>
            <a:pPr algn="ctr" indent="0" marL="0">
              <a:buNone/>
            </a:pPr>
            <a:r>
              <a:rPr lang="en-US" sz="950" dirty="0">
                <a:solidFill>
                  <a:srgbClr val="66747D"/>
                </a:solidFill>
              </a:rPr>
              <a:t>Evidence of need</a:t>
            </a:r>
            <a:endParaRPr lang="en-US" sz="950" dirty="0"/>
          </a:p>
        </p:txBody>
      </p:sp>
      <p:sp>
        <p:nvSpPr>
          <p:cNvPr id="13" name="Shape 11"/>
          <p:cNvSpPr/>
          <p:nvPr/>
        </p:nvSpPr>
        <p:spPr>
          <a:xfrm>
            <a:off x="4828032" y="2212848"/>
            <a:ext cx="274320" cy="411480"/>
          </a:xfrm>
          <a:prstGeom prst="chevron">
            <a:avLst/>
          </a:prstGeom>
          <a:solidFill>
            <a:srgbClr val="C8D2D7"/>
          </a:solidFill>
          <a:ln w="12700">
            <a:solidFill>
              <a:srgbClr val="C8D2D7"/>
            </a:solidFill>
            <a:prstDash val="solid"/>
          </a:ln>
        </p:spPr>
        <p:txBody>
          <a:bodyPr/>
          <a:p/>
        </p:txBody>
      </p:sp>
      <p:sp>
        <p:nvSpPr>
          <p:cNvPr id="14" name="Shape 12"/>
          <p:cNvSpPr/>
          <p:nvPr/>
        </p:nvSpPr>
        <p:spPr>
          <a:xfrm>
            <a:off x="5129784" y="1874520"/>
            <a:ext cx="1993392" cy="1097280"/>
          </a:xfrm>
          <a:prstGeom prst="roundRect">
            <a:avLst/>
          </a:prstGeom>
          <a:solidFill>
            <a:srgbClr val="F3F5F6"/>
          </a:solidFill>
          <a:ln w="12700">
            <a:solidFill>
              <a:srgbClr val="D4DDE1"/>
            </a:solidFill>
            <a:prstDash val="solid"/>
          </a:ln>
        </p:spPr>
        <p:txBody>
          <a:bodyPr/>
          <a:p/>
        </p:txBody>
      </p:sp>
      <p:sp>
        <p:nvSpPr>
          <p:cNvPr id="15" name="Text 13"/>
          <p:cNvSpPr/>
          <p:nvPr/>
        </p:nvSpPr>
        <p:spPr>
          <a:xfrm>
            <a:off x="5239512" y="2057400"/>
            <a:ext cx="1773936" cy="274320"/>
          </a:xfrm>
          <a:prstGeom prst="rect">
            <a:avLst/>
          </a:prstGeom>
          <a:noFill/>
          <a:ln/>
        </p:spPr>
        <p:txBody>
          <a:bodyPr wrap="square" lIns="0" tIns="0" rIns="0" bIns="0" rtlCol="0" anchor="ctr"/>
          <a:lstStyle/>
          <a:p>
            <a:pPr algn="ctr" indent="0" marL="0">
              <a:buNone/>
            </a:pPr>
            <a:r>
              <a:rPr lang="en-US" sz="1200" b="1" dirty="0">
                <a:solidFill>
                  <a:srgbClr val="123047"/>
                </a:solidFill>
              </a:rPr>
              <a:t>Solution validation</a:t>
            </a:r>
            <a:endParaRPr lang="en-US" sz="1200" dirty="0"/>
          </a:p>
        </p:txBody>
      </p:sp>
      <p:sp>
        <p:nvSpPr>
          <p:cNvPr id="16" name="Text 14"/>
          <p:cNvSpPr/>
          <p:nvPr/>
        </p:nvSpPr>
        <p:spPr>
          <a:xfrm>
            <a:off x="5239512" y="2441448"/>
            <a:ext cx="1773936" cy="329184"/>
          </a:xfrm>
          <a:prstGeom prst="rect">
            <a:avLst/>
          </a:prstGeom>
          <a:noFill/>
          <a:ln/>
        </p:spPr>
        <p:txBody>
          <a:bodyPr wrap="square" lIns="0" tIns="0" rIns="0" bIns="0" rtlCol="0" anchor="ctr"/>
          <a:lstStyle/>
          <a:p>
            <a:pPr algn="ctr" indent="0" marL="0">
              <a:buNone/>
            </a:pPr>
            <a:r>
              <a:rPr lang="en-US" sz="950" dirty="0">
                <a:solidFill>
                  <a:srgbClr val="66747D"/>
                </a:solidFill>
              </a:rPr>
              <a:t>Prototype / tests</a:t>
            </a:r>
            <a:endParaRPr lang="en-US" sz="950" dirty="0"/>
          </a:p>
        </p:txBody>
      </p:sp>
      <p:sp>
        <p:nvSpPr>
          <p:cNvPr id="17" name="Shape 15"/>
          <p:cNvSpPr/>
          <p:nvPr/>
        </p:nvSpPr>
        <p:spPr>
          <a:xfrm>
            <a:off x="7141464" y="2212848"/>
            <a:ext cx="274320" cy="411480"/>
          </a:xfrm>
          <a:prstGeom prst="chevron">
            <a:avLst/>
          </a:prstGeom>
          <a:solidFill>
            <a:srgbClr val="C8D2D7"/>
          </a:solidFill>
          <a:ln w="12700">
            <a:solidFill>
              <a:srgbClr val="C8D2D7"/>
            </a:solidFill>
            <a:prstDash val="solid"/>
          </a:ln>
        </p:spPr>
        <p:txBody>
          <a:bodyPr/>
          <a:p/>
        </p:txBody>
      </p:sp>
      <p:sp>
        <p:nvSpPr>
          <p:cNvPr id="18" name="Shape 16"/>
          <p:cNvSpPr/>
          <p:nvPr/>
        </p:nvSpPr>
        <p:spPr>
          <a:xfrm>
            <a:off x="7443216" y="1874520"/>
            <a:ext cx="1993392" cy="1097280"/>
          </a:xfrm>
          <a:prstGeom prst="roundRect">
            <a:avLst/>
          </a:prstGeom>
          <a:solidFill>
            <a:srgbClr val="EAF4F4"/>
          </a:solidFill>
          <a:ln w="12700">
            <a:solidFill>
              <a:srgbClr val="00787D"/>
            </a:solidFill>
            <a:prstDash val="solid"/>
          </a:ln>
        </p:spPr>
        <p:txBody>
          <a:bodyPr/>
          <a:p/>
        </p:txBody>
      </p:sp>
      <p:sp>
        <p:nvSpPr>
          <p:cNvPr id="19" name="Text 17"/>
          <p:cNvSpPr/>
          <p:nvPr/>
        </p:nvSpPr>
        <p:spPr>
          <a:xfrm>
            <a:off x="7552944" y="2057400"/>
            <a:ext cx="1773936" cy="274320"/>
          </a:xfrm>
          <a:prstGeom prst="rect">
            <a:avLst/>
          </a:prstGeom>
          <a:noFill/>
          <a:ln/>
        </p:spPr>
        <p:txBody>
          <a:bodyPr wrap="square" lIns="0" tIns="0" rIns="0" bIns="0" rtlCol="0" anchor="ctr"/>
          <a:lstStyle/>
          <a:p>
            <a:pPr algn="ctr" indent="0" marL="0">
              <a:buNone/>
            </a:pPr>
            <a:r>
              <a:rPr lang="en-US" sz="1200" b="1" dirty="0">
                <a:solidFill>
                  <a:srgbClr val="123047"/>
                </a:solidFill>
              </a:rPr>
              <a:t>Artefact Ready</a:t>
            </a:r>
            <a:endParaRPr lang="en-US" sz="1200" dirty="0"/>
          </a:p>
        </p:txBody>
      </p:sp>
      <p:sp>
        <p:nvSpPr>
          <p:cNvPr id="20" name="Text 18"/>
          <p:cNvSpPr/>
          <p:nvPr/>
        </p:nvSpPr>
        <p:spPr>
          <a:xfrm>
            <a:off x="7552944" y="2441448"/>
            <a:ext cx="1773936" cy="329184"/>
          </a:xfrm>
          <a:prstGeom prst="rect">
            <a:avLst/>
          </a:prstGeom>
          <a:noFill/>
          <a:ln/>
        </p:spPr>
        <p:txBody>
          <a:bodyPr wrap="square" lIns="0" tIns="0" rIns="0" bIns="0" rtlCol="0" anchor="ctr"/>
          <a:lstStyle/>
          <a:p>
            <a:pPr algn="ctr" indent="0" marL="0">
              <a:buNone/>
            </a:pPr>
            <a:r>
              <a:rPr lang="en-US" sz="950" dirty="0">
                <a:solidFill>
                  <a:srgbClr val="66747D"/>
                </a:solidFill>
              </a:rPr>
              <a:t>Required product artifacts complete</a:t>
            </a:r>
            <a:endParaRPr lang="en-US" sz="950" dirty="0"/>
          </a:p>
        </p:txBody>
      </p:sp>
      <p:sp>
        <p:nvSpPr>
          <p:cNvPr id="21" name="Shape 19"/>
          <p:cNvSpPr/>
          <p:nvPr/>
        </p:nvSpPr>
        <p:spPr>
          <a:xfrm>
            <a:off x="9454896" y="2212848"/>
            <a:ext cx="274320" cy="411480"/>
          </a:xfrm>
          <a:prstGeom prst="chevron">
            <a:avLst/>
          </a:prstGeom>
          <a:solidFill>
            <a:srgbClr val="C8D2D7"/>
          </a:solidFill>
          <a:ln w="12700">
            <a:solidFill>
              <a:srgbClr val="C8D2D7"/>
            </a:solidFill>
            <a:prstDash val="solid"/>
          </a:ln>
        </p:spPr>
        <p:txBody>
          <a:bodyPr/>
          <a:p/>
        </p:txBody>
      </p:sp>
      <p:sp>
        <p:nvSpPr>
          <p:cNvPr id="22" name="Shape 20"/>
          <p:cNvSpPr/>
          <p:nvPr/>
        </p:nvSpPr>
        <p:spPr>
          <a:xfrm>
            <a:off x="9756648" y="1874520"/>
            <a:ext cx="1993392" cy="1097280"/>
          </a:xfrm>
          <a:prstGeom prst="roundRect">
            <a:avLst/>
          </a:prstGeom>
          <a:solidFill>
            <a:srgbClr val="E8F2EC"/>
          </a:solidFill>
          <a:ln w="12700">
            <a:solidFill>
              <a:srgbClr val="2E7D5B"/>
            </a:solidFill>
            <a:prstDash val="solid"/>
          </a:ln>
        </p:spPr>
        <p:txBody>
          <a:bodyPr/>
          <a:p/>
        </p:txBody>
      </p:sp>
      <p:sp>
        <p:nvSpPr>
          <p:cNvPr id="23" name="Text 21"/>
          <p:cNvSpPr/>
          <p:nvPr/>
        </p:nvSpPr>
        <p:spPr>
          <a:xfrm>
            <a:off x="9866376" y="2057400"/>
            <a:ext cx="1773936" cy="274320"/>
          </a:xfrm>
          <a:prstGeom prst="rect">
            <a:avLst/>
          </a:prstGeom>
          <a:noFill/>
          <a:ln/>
        </p:spPr>
        <p:txBody>
          <a:bodyPr wrap="square" lIns="0" tIns="0" rIns="0" bIns="0" rtlCol="0" anchor="ctr"/>
          <a:lstStyle/>
          <a:p>
            <a:pPr algn="ctr" indent="0" marL="0">
              <a:buNone/>
            </a:pPr>
            <a:r>
              <a:rPr lang="en-US" sz="1200" b="1" dirty="0">
                <a:solidFill>
                  <a:srgbClr val="123047"/>
                </a:solidFill>
              </a:rPr>
              <a:t>Committed</a:t>
            </a:r>
            <a:endParaRPr lang="en-US" sz="1200" dirty="0"/>
          </a:p>
        </p:txBody>
      </p:sp>
      <p:sp>
        <p:nvSpPr>
          <p:cNvPr id="24" name="Text 22"/>
          <p:cNvSpPr/>
          <p:nvPr/>
        </p:nvSpPr>
        <p:spPr>
          <a:xfrm>
            <a:off x="9866376" y="2441448"/>
            <a:ext cx="1773936" cy="329184"/>
          </a:xfrm>
          <a:prstGeom prst="rect">
            <a:avLst/>
          </a:prstGeom>
          <a:noFill/>
          <a:ln/>
        </p:spPr>
        <p:txBody>
          <a:bodyPr wrap="square" lIns="0" tIns="0" rIns="0" bIns="0" rtlCol="0" anchor="ctr"/>
          <a:lstStyle/>
          <a:p>
            <a:pPr algn="ctr" indent="0" marL="0">
              <a:buNone/>
            </a:pPr>
            <a:r>
              <a:rPr lang="en-US" sz="950" dirty="0">
                <a:solidFill>
                  <a:srgbClr val="66747D"/>
                </a:solidFill>
              </a:rPr>
              <a:t>Capacity + dependencies agreed</a:t>
            </a:r>
            <a:endParaRPr lang="en-US" sz="950" dirty="0"/>
          </a:p>
        </p:txBody>
      </p:sp>
      <p:sp>
        <p:nvSpPr>
          <p:cNvPr id="25" name="Shape 23"/>
          <p:cNvSpPr/>
          <p:nvPr/>
        </p:nvSpPr>
        <p:spPr>
          <a:xfrm>
            <a:off x="914400" y="3886200"/>
            <a:ext cx="10332720" cy="0"/>
          </a:xfrm>
          <a:prstGeom prst="line">
            <a:avLst/>
          </a:prstGeom>
          <a:noFill/>
          <a:ln w="15240">
            <a:solidFill>
              <a:srgbClr val="D5DDE1"/>
            </a:solidFill>
            <a:prstDash val="solid"/>
          </a:ln>
        </p:spPr>
        <p:txBody>
          <a:bodyPr/>
          <a:p/>
        </p:txBody>
      </p:sp>
      <p:sp>
        <p:nvSpPr>
          <p:cNvPr id="26" name="Text 24"/>
          <p:cNvSpPr/>
          <p:nvPr/>
        </p:nvSpPr>
        <p:spPr>
          <a:xfrm>
            <a:off x="914400" y="4160520"/>
            <a:ext cx="2011680" cy="274320"/>
          </a:xfrm>
          <a:prstGeom prst="rect">
            <a:avLst/>
          </a:prstGeom>
          <a:noFill/>
          <a:ln/>
        </p:spPr>
        <p:txBody>
          <a:bodyPr wrap="square" lIns="0" tIns="0" rIns="0" bIns="0" rtlCol="0" anchor="ctr"/>
          <a:lstStyle/>
          <a:p>
            <a:pPr indent="0" marL="0">
              <a:buNone/>
            </a:pPr>
            <a:r>
              <a:rPr lang="en-US" sz="1500" b="1" dirty="0">
                <a:solidFill>
                  <a:srgbClr val="00787D"/>
                </a:solidFill>
              </a:rPr>
              <a:t>Artefact Ready</a:t>
            </a:r>
            <a:endParaRPr lang="en-US" sz="1500" dirty="0"/>
          </a:p>
        </p:txBody>
      </p:sp>
      <p:sp>
        <p:nvSpPr>
          <p:cNvPr id="27" name="Text 25"/>
          <p:cNvSpPr/>
          <p:nvPr/>
        </p:nvSpPr>
        <p:spPr>
          <a:xfrm>
            <a:off x="2743200" y="4160520"/>
            <a:ext cx="8046720" cy="274320"/>
          </a:xfrm>
          <a:prstGeom prst="rect">
            <a:avLst/>
          </a:prstGeom>
          <a:noFill/>
          <a:ln/>
        </p:spPr>
        <p:txBody>
          <a:bodyPr wrap="square" lIns="0" tIns="0" rIns="0" bIns="0" rtlCol="0" anchor="ctr"/>
          <a:lstStyle/>
          <a:p>
            <a:pPr indent="0" marL="0">
              <a:buNone/>
            </a:pPr>
            <a:r>
              <a:rPr lang="en-US" sz="1300" dirty="0">
                <a:solidFill>
                  <a:srgbClr val="182026"/>
                </a:solidFill>
              </a:rPr>
              <a:t>Product definition is sufficiently mature for robust delivery planning.</a:t>
            </a:r>
            <a:endParaRPr lang="en-US" sz="1300" dirty="0"/>
          </a:p>
        </p:txBody>
      </p:sp>
      <p:sp>
        <p:nvSpPr>
          <p:cNvPr id="28" name="Text 26"/>
          <p:cNvSpPr/>
          <p:nvPr/>
        </p:nvSpPr>
        <p:spPr>
          <a:xfrm>
            <a:off x="914400" y="4754880"/>
            <a:ext cx="2011680" cy="274320"/>
          </a:xfrm>
          <a:prstGeom prst="rect">
            <a:avLst/>
          </a:prstGeom>
          <a:noFill/>
          <a:ln/>
        </p:spPr>
        <p:txBody>
          <a:bodyPr wrap="square" lIns="0" tIns="0" rIns="0" bIns="0" rtlCol="0" anchor="ctr"/>
          <a:lstStyle/>
          <a:p>
            <a:pPr indent="0" marL="0">
              <a:buNone/>
            </a:pPr>
            <a:r>
              <a:rPr lang="en-US" sz="1500" b="1" dirty="0">
                <a:solidFill>
                  <a:srgbClr val="2E7D5B"/>
                </a:solidFill>
              </a:rPr>
              <a:t>Committed</a:t>
            </a:r>
            <a:endParaRPr lang="en-US" sz="1500" dirty="0"/>
          </a:p>
        </p:txBody>
      </p:sp>
      <p:sp>
        <p:nvSpPr>
          <p:cNvPr id="29" name="Text 27"/>
          <p:cNvSpPr/>
          <p:nvPr/>
        </p:nvSpPr>
        <p:spPr>
          <a:xfrm>
            <a:off x="2743200" y="4754880"/>
            <a:ext cx="8046720" cy="411480"/>
          </a:xfrm>
          <a:prstGeom prst="rect">
            <a:avLst/>
          </a:prstGeom>
          <a:noFill/>
          <a:ln/>
        </p:spPr>
        <p:txBody>
          <a:bodyPr wrap="square" lIns="0" tIns="0" rIns="0" bIns="0" rtlCol="0" anchor="ctr"/>
          <a:lstStyle/>
          <a:p>
            <a:pPr indent="0" marL="0">
              <a:buNone/>
            </a:pPr>
            <a:r>
              <a:rPr lang="en-US" sz="1300" dirty="0">
                <a:solidFill>
                  <a:srgbClr val="182026"/>
                </a:solidFill>
              </a:rPr>
              <a:t>Product + Engineering have agreed scope, feasibility, dependencies and capacity to the required threshold.</a:t>
            </a:r>
            <a:endParaRPr lang="en-US" sz="1300" dirty="0"/>
          </a:p>
        </p:txBody>
      </p:sp>
      <p:sp>
        <p:nvSpPr>
          <p:cNvPr id="30" name="Text 28"/>
          <p:cNvSpPr/>
          <p:nvPr/>
        </p:nvSpPr>
        <p:spPr>
          <a:xfrm>
            <a:off x="11201400" y="6473952"/>
            <a:ext cx="320040" cy="182880"/>
          </a:xfrm>
          <a:prstGeom prst="rect">
            <a:avLst/>
          </a:prstGeom>
          <a:noFill/>
          <a:ln/>
        </p:spPr>
        <p:txBody>
          <a:bodyPr wrap="square" lIns="0" tIns="0" rIns="0" bIns="0" rtlCol="0" anchor="ctr"/>
          <a:lstStyle/>
          <a:p>
            <a:r>
              <a:t>08</a:t>
            </a:r>
          </a:p>
        </p:txBody>
      </p:sp>
      <p:sp>
        <p:nvSpPr>
          <p:cNvPr id="31" name="TextBox 30"/>
          <p:cNvSpPr txBox="1"/>
          <p:nvPr/>
        </p:nvSpPr>
        <p:spPr>
          <a:xfrm>
            <a:off x="914400" y="5321808"/>
            <a:ext cx="9966960" cy="320040"/>
          </a:xfrm>
          <a:prstGeom prst="rect">
            <a:avLst/>
          </a:prstGeom>
          <a:noFill/>
        </p:spPr>
        <p:txBody>
          <a:bodyPr wrap="none">
            <a:spAutoFit/>
          </a:bodyPr>
          <a:lstStyle/>
          <a:p>
            <a:pPr algn="ctr">
              <a:defRPr sz="1000" b="1">
                <a:solidFill>
                  <a:srgbClr val="007378"/>
                </a:solidFill>
              </a:defRPr>
            </a:pPr>
            <a:r>
              <a:t>Atlassian JPD workflow: Discovery → Ready for delivery → Delivery.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DELIVERY CERTAINTY</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Progressive certainty: narrow the delivery window as uncertainty falls</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640080" y="1828800"/>
            <a:ext cx="1874520" cy="1325880"/>
          </a:xfrm>
          <a:prstGeom prst="roundRect">
            <a:avLst/>
          </a:prstGeom>
          <a:solidFill>
            <a:srgbClr val="F3F5F6"/>
          </a:solidFill>
          <a:ln w="12700">
            <a:solidFill>
              <a:srgbClr val="D6DEE2"/>
            </a:solidFill>
            <a:prstDash val="solid"/>
          </a:ln>
        </p:spPr>
        <p:txBody>
          <a:bodyPr/>
          <a:p/>
        </p:txBody>
      </p:sp>
      <p:sp>
        <p:nvSpPr>
          <p:cNvPr id="7" name="Text 5"/>
          <p:cNvSpPr/>
          <p:nvPr/>
        </p:nvSpPr>
        <p:spPr>
          <a:xfrm>
            <a:off x="731520" y="1993392"/>
            <a:ext cx="1691640" cy="256032"/>
          </a:xfrm>
          <a:prstGeom prst="rect">
            <a:avLst/>
          </a:prstGeom>
          <a:noFill/>
          <a:ln/>
        </p:spPr>
        <p:txBody>
          <a:bodyPr wrap="square" lIns="0" tIns="0" rIns="0" bIns="0" rtlCol="0" anchor="ctr"/>
          <a:lstStyle/>
          <a:p>
            <a:pPr algn="ctr" indent="0" marL="0">
              <a:buNone/>
            </a:pPr>
            <a:r>
              <a:rPr lang="en-US" sz="1100" b="1" dirty="0">
                <a:solidFill>
                  <a:srgbClr val="123047"/>
                </a:solidFill>
              </a:rPr>
              <a:t>Roadmap</a:t>
            </a:r>
            <a:endParaRPr lang="en-US" sz="1100" dirty="0"/>
          </a:p>
        </p:txBody>
      </p:sp>
      <p:sp>
        <p:nvSpPr>
          <p:cNvPr id="8" name="Text 6"/>
          <p:cNvSpPr/>
          <p:nvPr/>
        </p:nvSpPr>
        <p:spPr>
          <a:xfrm>
            <a:off x="731520" y="2395728"/>
            <a:ext cx="1691640" cy="320040"/>
          </a:xfrm>
          <a:prstGeom prst="rect">
            <a:avLst/>
          </a:prstGeom>
          <a:noFill/>
          <a:ln/>
        </p:spPr>
        <p:txBody>
          <a:bodyPr wrap="square" lIns="0" tIns="0" rIns="0" bIns="0" rtlCol="0" anchor="ctr"/>
          <a:lstStyle/>
          <a:p>
            <a:pPr algn="ctr" indent="0" marL="0">
              <a:buNone/>
            </a:pPr>
            <a:r>
              <a:rPr lang="en-US" sz="1500" b="1" dirty="0">
                <a:solidFill>
                  <a:srgbClr val="00787D"/>
                </a:solidFill>
              </a:rPr>
              <a:t>Q3</a:t>
            </a:r>
            <a:endParaRPr lang="en-US" sz="1500" dirty="0"/>
          </a:p>
        </p:txBody>
      </p:sp>
      <p:sp>
        <p:nvSpPr>
          <p:cNvPr id="9" name="Text 7"/>
          <p:cNvSpPr/>
          <p:nvPr/>
        </p:nvSpPr>
        <p:spPr>
          <a:xfrm>
            <a:off x="731520" y="2852928"/>
            <a:ext cx="1691640" cy="182880"/>
          </a:xfrm>
          <a:prstGeom prst="rect">
            <a:avLst/>
          </a:prstGeom>
          <a:noFill/>
          <a:ln/>
        </p:spPr>
        <p:txBody>
          <a:bodyPr wrap="square" lIns="0" tIns="0" rIns="0" bIns="0" rtlCol="0" anchor="ctr"/>
          <a:lstStyle/>
          <a:p>
            <a:pPr algn="ctr" indent="0" marL="0">
              <a:buNone/>
            </a:pPr>
            <a:r>
              <a:rPr lang="en-US" sz="850" b="1" dirty="0">
                <a:solidFill>
                  <a:srgbClr val="66747D"/>
                </a:solidFill>
              </a:rPr>
              <a:t>LOW</a:t>
            </a:r>
            <a:endParaRPr lang="en-US" sz="850" dirty="0"/>
          </a:p>
        </p:txBody>
      </p:sp>
      <p:sp>
        <p:nvSpPr>
          <p:cNvPr id="10" name="Shape 8"/>
          <p:cNvSpPr/>
          <p:nvPr/>
        </p:nvSpPr>
        <p:spPr>
          <a:xfrm>
            <a:off x="2542032" y="2286000"/>
            <a:ext cx="329184" cy="457200"/>
          </a:xfrm>
          <a:prstGeom prst="chevron">
            <a:avLst/>
          </a:prstGeom>
          <a:solidFill>
            <a:srgbClr val="C8D2D7"/>
          </a:solidFill>
          <a:ln w="12700">
            <a:solidFill>
              <a:srgbClr val="C8D2D7"/>
            </a:solidFill>
            <a:prstDash val="solid"/>
          </a:ln>
        </p:spPr>
        <p:txBody>
          <a:bodyPr/>
          <a:p/>
        </p:txBody>
      </p:sp>
      <p:sp>
        <p:nvSpPr>
          <p:cNvPr id="11" name="Shape 9"/>
          <p:cNvSpPr/>
          <p:nvPr/>
        </p:nvSpPr>
        <p:spPr>
          <a:xfrm>
            <a:off x="2926080" y="1828800"/>
            <a:ext cx="1874520" cy="1325880"/>
          </a:xfrm>
          <a:prstGeom prst="roundRect">
            <a:avLst/>
          </a:prstGeom>
          <a:solidFill>
            <a:srgbClr val="F3F5F6"/>
          </a:solidFill>
          <a:ln w="12700">
            <a:solidFill>
              <a:srgbClr val="D6DEE2"/>
            </a:solidFill>
            <a:prstDash val="solid"/>
          </a:ln>
        </p:spPr>
        <p:txBody>
          <a:bodyPr/>
          <a:p/>
        </p:txBody>
      </p:sp>
      <p:sp>
        <p:nvSpPr>
          <p:cNvPr id="12" name="Text 10"/>
          <p:cNvSpPr/>
          <p:nvPr/>
        </p:nvSpPr>
        <p:spPr>
          <a:xfrm>
            <a:off x="3017520" y="1993392"/>
            <a:ext cx="1691640" cy="256032"/>
          </a:xfrm>
          <a:prstGeom prst="rect">
            <a:avLst/>
          </a:prstGeom>
          <a:noFill/>
          <a:ln/>
        </p:spPr>
        <p:txBody>
          <a:bodyPr wrap="square" lIns="0" tIns="0" rIns="0" bIns="0" rtlCol="0" anchor="ctr"/>
          <a:lstStyle/>
          <a:p>
            <a:pPr algn="ctr" indent="0" marL="0">
              <a:buNone/>
            </a:pPr>
            <a:r>
              <a:rPr lang="en-US" sz="1100" b="1" dirty="0">
                <a:solidFill>
                  <a:srgbClr val="123047"/>
                </a:solidFill>
              </a:rPr>
              <a:t>Validated</a:t>
            </a:r>
            <a:endParaRPr lang="en-US" sz="1100" dirty="0"/>
          </a:p>
        </p:txBody>
      </p:sp>
      <p:sp>
        <p:nvSpPr>
          <p:cNvPr id="13" name="Text 11"/>
          <p:cNvSpPr/>
          <p:nvPr/>
        </p:nvSpPr>
        <p:spPr>
          <a:xfrm>
            <a:off x="3017520" y="2395728"/>
            <a:ext cx="1691640" cy="320040"/>
          </a:xfrm>
          <a:prstGeom prst="rect">
            <a:avLst/>
          </a:prstGeom>
          <a:noFill/>
          <a:ln/>
        </p:spPr>
        <p:txBody>
          <a:bodyPr wrap="square" lIns="0" tIns="0" rIns="0" bIns="0" rtlCol="0" anchor="ctr"/>
          <a:lstStyle/>
          <a:p>
            <a:pPr algn="ctr" indent="0" marL="0">
              <a:buNone/>
            </a:pPr>
            <a:r>
              <a:rPr lang="en-US" sz="1500" b="1" dirty="0">
                <a:solidFill>
                  <a:srgbClr val="00787D"/>
                </a:solidFill>
              </a:rPr>
              <a:t>Aug–Sep</a:t>
            </a:r>
            <a:endParaRPr lang="en-US" sz="1500" dirty="0"/>
          </a:p>
        </p:txBody>
      </p:sp>
      <p:sp>
        <p:nvSpPr>
          <p:cNvPr id="14" name="Text 12"/>
          <p:cNvSpPr/>
          <p:nvPr/>
        </p:nvSpPr>
        <p:spPr>
          <a:xfrm>
            <a:off x="3017520" y="2852928"/>
            <a:ext cx="1691640" cy="182880"/>
          </a:xfrm>
          <a:prstGeom prst="rect">
            <a:avLst/>
          </a:prstGeom>
          <a:noFill/>
          <a:ln/>
        </p:spPr>
        <p:txBody>
          <a:bodyPr wrap="square" lIns="0" tIns="0" rIns="0" bIns="0" rtlCol="0" anchor="ctr"/>
          <a:lstStyle/>
          <a:p>
            <a:pPr algn="ctr" indent="0" marL="0">
              <a:buNone/>
            </a:pPr>
            <a:r>
              <a:rPr lang="en-US" sz="850" b="1" dirty="0">
                <a:solidFill>
                  <a:srgbClr val="66747D"/>
                </a:solidFill>
              </a:rPr>
              <a:t>LOW–MED</a:t>
            </a:r>
            <a:endParaRPr lang="en-US" sz="850" dirty="0"/>
          </a:p>
        </p:txBody>
      </p:sp>
      <p:sp>
        <p:nvSpPr>
          <p:cNvPr id="15" name="Shape 13"/>
          <p:cNvSpPr/>
          <p:nvPr/>
        </p:nvSpPr>
        <p:spPr>
          <a:xfrm>
            <a:off x="4828032" y="2286000"/>
            <a:ext cx="329184" cy="457200"/>
          </a:xfrm>
          <a:prstGeom prst="chevron">
            <a:avLst/>
          </a:prstGeom>
          <a:solidFill>
            <a:srgbClr val="C8D2D7"/>
          </a:solidFill>
          <a:ln w="12700">
            <a:solidFill>
              <a:srgbClr val="C8D2D7"/>
            </a:solidFill>
            <a:prstDash val="solid"/>
          </a:ln>
        </p:spPr>
        <p:txBody>
          <a:bodyPr/>
          <a:p/>
        </p:txBody>
      </p:sp>
      <p:sp>
        <p:nvSpPr>
          <p:cNvPr id="16" name="Shape 14"/>
          <p:cNvSpPr/>
          <p:nvPr/>
        </p:nvSpPr>
        <p:spPr>
          <a:xfrm>
            <a:off x="5212080" y="1828800"/>
            <a:ext cx="1874520" cy="1325880"/>
          </a:xfrm>
          <a:prstGeom prst="roundRect">
            <a:avLst/>
          </a:prstGeom>
          <a:solidFill>
            <a:srgbClr val="EAF4F4"/>
          </a:solidFill>
          <a:ln w="12700">
            <a:solidFill>
              <a:srgbClr val="D6DEE2"/>
            </a:solidFill>
            <a:prstDash val="solid"/>
          </a:ln>
        </p:spPr>
        <p:txBody>
          <a:bodyPr/>
          <a:p/>
        </p:txBody>
      </p:sp>
      <p:sp>
        <p:nvSpPr>
          <p:cNvPr id="17" name="Text 15"/>
          <p:cNvSpPr/>
          <p:nvPr/>
        </p:nvSpPr>
        <p:spPr>
          <a:xfrm>
            <a:off x="5303520" y="1993392"/>
            <a:ext cx="1691640" cy="256032"/>
          </a:xfrm>
          <a:prstGeom prst="rect">
            <a:avLst/>
          </a:prstGeom>
          <a:noFill/>
          <a:ln/>
        </p:spPr>
        <p:txBody>
          <a:bodyPr wrap="square" lIns="0" tIns="0" rIns="0" bIns="0" rtlCol="0" anchor="ctr"/>
          <a:lstStyle/>
          <a:p>
            <a:pPr algn="ctr" indent="0" marL="0">
              <a:buNone/>
            </a:pPr>
            <a:r>
              <a:rPr lang="en-US" sz="1100" b="1" dirty="0">
                <a:solidFill>
                  <a:srgbClr val="123047"/>
                </a:solidFill>
              </a:rPr>
              <a:t>Artefact Ready</a:t>
            </a:r>
            <a:endParaRPr lang="en-US" sz="1100" dirty="0"/>
          </a:p>
        </p:txBody>
      </p:sp>
      <p:sp>
        <p:nvSpPr>
          <p:cNvPr id="18" name="Text 16"/>
          <p:cNvSpPr/>
          <p:nvPr/>
        </p:nvSpPr>
        <p:spPr>
          <a:xfrm>
            <a:off x="5303520" y="2395728"/>
            <a:ext cx="1691640" cy="320040"/>
          </a:xfrm>
          <a:prstGeom prst="rect">
            <a:avLst/>
          </a:prstGeom>
          <a:noFill/>
          <a:ln/>
        </p:spPr>
        <p:txBody>
          <a:bodyPr wrap="square" lIns="0" tIns="0" rIns="0" bIns="0" rtlCol="0" anchor="ctr"/>
          <a:lstStyle/>
          <a:p>
            <a:pPr algn="ctr" indent="0" marL="0">
              <a:buNone/>
            </a:pPr>
            <a:r>
              <a:rPr lang="en-US" sz="1500" b="1" dirty="0">
                <a:solidFill>
                  <a:srgbClr val="00787D"/>
                </a:solidFill>
              </a:rPr>
              <a:t>Aug 15–Sep 15</a:t>
            </a:r>
            <a:endParaRPr lang="en-US" sz="1500" dirty="0"/>
          </a:p>
        </p:txBody>
      </p:sp>
      <p:sp>
        <p:nvSpPr>
          <p:cNvPr id="19" name="Text 17"/>
          <p:cNvSpPr/>
          <p:nvPr/>
        </p:nvSpPr>
        <p:spPr>
          <a:xfrm>
            <a:off x="5303520" y="2852928"/>
            <a:ext cx="1691640" cy="182880"/>
          </a:xfrm>
          <a:prstGeom prst="rect">
            <a:avLst/>
          </a:prstGeom>
          <a:noFill/>
          <a:ln/>
        </p:spPr>
        <p:txBody>
          <a:bodyPr wrap="square" lIns="0" tIns="0" rIns="0" bIns="0" rtlCol="0" anchor="ctr"/>
          <a:lstStyle/>
          <a:p>
            <a:pPr algn="ctr" indent="0" marL="0">
              <a:buNone/>
            </a:pPr>
            <a:r>
              <a:rPr lang="en-US" sz="850" b="1" dirty="0">
                <a:solidFill>
                  <a:srgbClr val="66747D"/>
                </a:solidFill>
              </a:rPr>
              <a:t>MEDIUM</a:t>
            </a:r>
            <a:endParaRPr lang="en-US" sz="850" dirty="0"/>
          </a:p>
        </p:txBody>
      </p:sp>
      <p:sp>
        <p:nvSpPr>
          <p:cNvPr id="20" name="Shape 18"/>
          <p:cNvSpPr/>
          <p:nvPr/>
        </p:nvSpPr>
        <p:spPr>
          <a:xfrm>
            <a:off x="7114032" y="2286000"/>
            <a:ext cx="329184" cy="457200"/>
          </a:xfrm>
          <a:prstGeom prst="chevron">
            <a:avLst/>
          </a:prstGeom>
          <a:solidFill>
            <a:srgbClr val="C8D2D7"/>
          </a:solidFill>
          <a:ln w="12700">
            <a:solidFill>
              <a:srgbClr val="C8D2D7"/>
            </a:solidFill>
            <a:prstDash val="solid"/>
          </a:ln>
        </p:spPr>
        <p:txBody>
          <a:bodyPr/>
          <a:p/>
        </p:txBody>
      </p:sp>
      <p:sp>
        <p:nvSpPr>
          <p:cNvPr id="21" name="Shape 19"/>
          <p:cNvSpPr/>
          <p:nvPr/>
        </p:nvSpPr>
        <p:spPr>
          <a:xfrm>
            <a:off x="7498080" y="1828800"/>
            <a:ext cx="1874520" cy="1325880"/>
          </a:xfrm>
          <a:prstGeom prst="roundRect">
            <a:avLst/>
          </a:prstGeom>
          <a:solidFill>
            <a:srgbClr val="EEF3F8"/>
          </a:solidFill>
          <a:ln w="12700">
            <a:solidFill>
              <a:srgbClr val="D6DEE2"/>
            </a:solidFill>
            <a:prstDash val="solid"/>
          </a:ln>
        </p:spPr>
        <p:txBody>
          <a:bodyPr/>
          <a:p/>
        </p:txBody>
      </p:sp>
      <p:sp>
        <p:nvSpPr>
          <p:cNvPr id="22" name="Text 20"/>
          <p:cNvSpPr/>
          <p:nvPr/>
        </p:nvSpPr>
        <p:spPr>
          <a:xfrm>
            <a:off x="7589520" y="1993392"/>
            <a:ext cx="1691640" cy="256032"/>
          </a:xfrm>
          <a:prstGeom prst="rect">
            <a:avLst/>
          </a:prstGeom>
          <a:noFill/>
          <a:ln/>
        </p:spPr>
        <p:txBody>
          <a:bodyPr wrap="square" lIns="0" tIns="0" rIns="0" bIns="0" rtlCol="0" anchor="ctr"/>
          <a:lstStyle/>
          <a:p>
            <a:pPr algn="ctr" indent="0" marL="0">
              <a:buNone/>
            </a:pPr>
            <a:r>
              <a:rPr lang="en-US" sz="1100" b="1" dirty="0">
                <a:solidFill>
                  <a:srgbClr val="123047"/>
                </a:solidFill>
              </a:rPr>
              <a:t>In delivery</a:t>
            </a:r>
            <a:endParaRPr lang="en-US" sz="1100" dirty="0"/>
          </a:p>
        </p:txBody>
      </p:sp>
      <p:sp>
        <p:nvSpPr>
          <p:cNvPr id="23" name="Text 21"/>
          <p:cNvSpPr/>
          <p:nvPr/>
        </p:nvSpPr>
        <p:spPr>
          <a:xfrm>
            <a:off x="7589520" y="2395728"/>
            <a:ext cx="1691640" cy="320040"/>
          </a:xfrm>
          <a:prstGeom prst="rect">
            <a:avLst/>
          </a:prstGeom>
          <a:noFill/>
          <a:ln/>
        </p:spPr>
        <p:txBody>
          <a:bodyPr wrap="square" lIns="0" tIns="0" rIns="0" bIns="0" rtlCol="0" anchor="ctr"/>
          <a:lstStyle/>
          <a:p>
            <a:pPr algn="ctr" indent="0" marL="0">
              <a:buNone/>
            </a:pPr>
            <a:r>
              <a:rPr lang="en-US" sz="1500" b="1" dirty="0">
                <a:solidFill>
                  <a:srgbClr val="00787D"/>
                </a:solidFill>
              </a:rPr>
              <a:t>Aug 28–Sep 8</a:t>
            </a:r>
            <a:endParaRPr lang="en-US" sz="1500" dirty="0"/>
          </a:p>
        </p:txBody>
      </p:sp>
      <p:sp>
        <p:nvSpPr>
          <p:cNvPr id="24" name="Text 22"/>
          <p:cNvSpPr/>
          <p:nvPr/>
        </p:nvSpPr>
        <p:spPr>
          <a:xfrm>
            <a:off x="7589520" y="2852928"/>
            <a:ext cx="1691640" cy="182880"/>
          </a:xfrm>
          <a:prstGeom prst="rect">
            <a:avLst/>
          </a:prstGeom>
          <a:noFill/>
          <a:ln/>
        </p:spPr>
        <p:txBody>
          <a:bodyPr wrap="square" lIns="0" tIns="0" rIns="0" bIns="0" rtlCol="0" anchor="ctr"/>
          <a:lstStyle/>
          <a:p>
            <a:pPr algn="ctr" indent="0" marL="0">
              <a:buNone/>
            </a:pPr>
            <a:r>
              <a:rPr lang="en-US" sz="850" b="1" dirty="0">
                <a:solidFill>
                  <a:srgbClr val="66747D"/>
                </a:solidFill>
              </a:rPr>
              <a:t>HIGH</a:t>
            </a:r>
            <a:endParaRPr lang="en-US" sz="850" dirty="0"/>
          </a:p>
        </p:txBody>
      </p:sp>
      <p:sp>
        <p:nvSpPr>
          <p:cNvPr id="25" name="Shape 23"/>
          <p:cNvSpPr/>
          <p:nvPr/>
        </p:nvSpPr>
        <p:spPr>
          <a:xfrm>
            <a:off x="9400032" y="2286000"/>
            <a:ext cx="329184" cy="457200"/>
          </a:xfrm>
          <a:prstGeom prst="chevron">
            <a:avLst/>
          </a:prstGeom>
          <a:solidFill>
            <a:srgbClr val="C8D2D7"/>
          </a:solidFill>
          <a:ln w="12700">
            <a:solidFill>
              <a:srgbClr val="C8D2D7"/>
            </a:solidFill>
            <a:prstDash val="solid"/>
          </a:ln>
        </p:spPr>
        <p:txBody>
          <a:bodyPr/>
          <a:p/>
        </p:txBody>
      </p:sp>
      <p:sp>
        <p:nvSpPr>
          <p:cNvPr id="26" name="Shape 24"/>
          <p:cNvSpPr/>
          <p:nvPr/>
        </p:nvSpPr>
        <p:spPr>
          <a:xfrm>
            <a:off x="9784080" y="1828800"/>
            <a:ext cx="1874520" cy="1325880"/>
          </a:xfrm>
          <a:prstGeom prst="roundRect">
            <a:avLst/>
          </a:prstGeom>
          <a:solidFill>
            <a:srgbClr val="E8F2EC"/>
          </a:solidFill>
          <a:ln w="12700">
            <a:solidFill>
              <a:srgbClr val="D6DEE2"/>
            </a:solidFill>
            <a:prstDash val="solid"/>
          </a:ln>
        </p:spPr>
        <p:txBody>
          <a:bodyPr/>
          <a:p/>
        </p:txBody>
      </p:sp>
      <p:sp>
        <p:nvSpPr>
          <p:cNvPr id="27" name="Text 25"/>
          <p:cNvSpPr/>
          <p:nvPr/>
        </p:nvSpPr>
        <p:spPr>
          <a:xfrm>
            <a:off x="9875520" y="1993392"/>
            <a:ext cx="1691640" cy="256032"/>
          </a:xfrm>
          <a:prstGeom prst="rect">
            <a:avLst/>
          </a:prstGeom>
          <a:noFill/>
          <a:ln/>
        </p:spPr>
        <p:txBody>
          <a:bodyPr wrap="square" lIns="0" tIns="0" rIns="0" bIns="0" rtlCol="0" anchor="ctr"/>
          <a:lstStyle/>
          <a:p>
            <a:pPr algn="ctr" indent="0" marL="0">
              <a:buNone/>
            </a:pPr>
            <a:r>
              <a:rPr lang="en-US" sz="1100" b="1" dirty="0">
                <a:solidFill>
                  <a:srgbClr val="123047"/>
                </a:solidFill>
              </a:rPr>
              <a:t>Committed</a:t>
            </a:r>
            <a:endParaRPr lang="en-US" sz="1100" dirty="0"/>
          </a:p>
        </p:txBody>
      </p:sp>
      <p:sp>
        <p:nvSpPr>
          <p:cNvPr id="28" name="Text 26"/>
          <p:cNvSpPr/>
          <p:nvPr/>
        </p:nvSpPr>
        <p:spPr>
          <a:xfrm>
            <a:off x="9875520" y="2395728"/>
            <a:ext cx="1691640" cy="320040"/>
          </a:xfrm>
          <a:prstGeom prst="rect">
            <a:avLst/>
          </a:prstGeom>
          <a:noFill/>
          <a:ln/>
        </p:spPr>
        <p:txBody>
          <a:bodyPr wrap="square" lIns="0" tIns="0" rIns="0" bIns="0" rtlCol="0" anchor="ctr"/>
          <a:lstStyle/>
          <a:p>
            <a:pPr algn="ctr" indent="0" marL="0">
              <a:buNone/>
            </a:pPr>
            <a:r>
              <a:rPr lang="en-US" sz="1500" b="1" dirty="0">
                <a:solidFill>
                  <a:srgbClr val="2E7D5B"/>
                </a:solidFill>
              </a:rPr>
              <a:t>Sep 3</a:t>
            </a:r>
            <a:endParaRPr lang="en-US" sz="1500" dirty="0"/>
          </a:p>
        </p:txBody>
      </p:sp>
      <p:sp>
        <p:nvSpPr>
          <p:cNvPr id="29" name="Text 27"/>
          <p:cNvSpPr/>
          <p:nvPr/>
        </p:nvSpPr>
        <p:spPr>
          <a:xfrm>
            <a:off x="9875520" y="2852928"/>
            <a:ext cx="1691640" cy="182880"/>
          </a:xfrm>
          <a:prstGeom prst="rect">
            <a:avLst/>
          </a:prstGeom>
          <a:noFill/>
          <a:ln/>
        </p:spPr>
        <p:txBody>
          <a:bodyPr wrap="square" lIns="0" tIns="0" rIns="0" bIns="0" rtlCol="0" anchor="ctr"/>
          <a:lstStyle/>
          <a:p>
            <a:pPr algn="ctr" indent="0" marL="0">
              <a:buNone/>
            </a:pPr>
            <a:r>
              <a:rPr lang="en-US" sz="850" b="1" dirty="0">
                <a:solidFill>
                  <a:srgbClr val="66747D"/>
                </a:solidFill>
              </a:rPr>
              <a:t>VERY HIGH</a:t>
            </a:r>
            <a:endParaRPr lang="en-US" sz="850" dirty="0"/>
          </a:p>
        </p:txBody>
      </p:sp>
      <p:sp>
        <p:nvSpPr>
          <p:cNvPr id="30" name="Text 28"/>
          <p:cNvSpPr/>
          <p:nvPr/>
        </p:nvSpPr>
        <p:spPr>
          <a:xfrm>
            <a:off x="914400" y="3886200"/>
            <a:ext cx="10332720" cy="411480"/>
          </a:xfrm>
          <a:prstGeom prst="rect">
            <a:avLst/>
          </a:prstGeom>
          <a:noFill/>
          <a:ln/>
        </p:spPr>
        <p:txBody>
          <a:bodyPr wrap="square" lIns="0" tIns="0" rIns="0" bIns="0" rtlCol="0" anchor="ctr"/>
          <a:lstStyle/>
          <a:p>
            <a:pPr algn="ctr" indent="0" marL="0">
              <a:buNone/>
            </a:pPr>
            <a:r>
              <a:rPr lang="en-US" sz="2000" b="1" dirty="0">
                <a:solidFill>
                  <a:srgbClr val="123047"/>
                </a:solidFill>
              </a:rPr>
              <a:t>The business gets more certainty — not false precision.</a:t>
            </a:r>
            <a:endParaRPr lang="en-US" sz="2000" dirty="0"/>
          </a:p>
        </p:txBody>
      </p:sp>
      <p:sp>
        <p:nvSpPr>
          <p:cNvPr id="31" name="Text 29"/>
          <p:cNvSpPr/>
          <p:nvPr/>
        </p:nvSpPr>
        <p:spPr>
          <a:xfrm>
            <a:off x="1143000" y="4572000"/>
            <a:ext cx="9875520" cy="685800"/>
          </a:xfrm>
          <a:prstGeom prst="rect">
            <a:avLst/>
          </a:prstGeom>
          <a:noFill/>
          <a:ln/>
        </p:spPr>
        <p:txBody>
          <a:bodyPr wrap="square" lIns="0" tIns="0" rIns="0" bIns="0" rtlCol="0" anchor="ctr"/>
          <a:lstStyle/>
          <a:p>
            <a:pPr algn="ctr" indent="0" marL="0">
              <a:buNone/>
            </a:pPr>
            <a:r>
              <a:rPr lang="en-US" sz="1400" dirty="0">
                <a:solidFill>
                  <a:srgbClr val="66747D"/>
                </a:solidFill>
              </a:rPr>
              <a:t>Every delivery date should carry a confidence level or status. Precision increases as discovery, feasibility and execution reduce uncertainty.</a:t>
            </a:r>
            <a:endParaRPr lang="en-US" sz="1400" dirty="0"/>
          </a:p>
        </p:txBody>
      </p:sp>
      <p:sp>
        <p:nvSpPr>
          <p:cNvPr id="32" name="Text 30"/>
          <p:cNvSpPr/>
          <p:nvPr/>
        </p:nvSpPr>
        <p:spPr>
          <a:xfrm>
            <a:off x="11201400" y="6473952"/>
            <a:ext cx="320040" cy="182880"/>
          </a:xfrm>
          <a:prstGeom prst="rect">
            <a:avLst/>
          </a:prstGeom>
          <a:noFill/>
          <a:ln/>
        </p:spPr>
        <p:txBody>
          <a:bodyPr wrap="square" lIns="0" tIns="0" rIns="0" bIns="0" rtlCol="0" anchor="ctr"/>
          <a:lstStyle/>
          <a:p>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CEO VIEW</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One portfolio view can show strategy and delivery certainty together</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502920" y="1417320"/>
            <a:ext cx="2057400" cy="438912"/>
          </a:xfrm>
          <a:prstGeom prst="rect">
            <a:avLst/>
          </a:prstGeom>
          <a:solidFill>
            <a:srgbClr val="123047"/>
          </a:solidFill>
          <a:ln w="6350">
            <a:solidFill>
              <a:srgbClr val="FFFFFF"/>
            </a:solidFill>
            <a:prstDash val="solid"/>
          </a:ln>
        </p:spPr>
        <p:txBody>
          <a:bodyPr/>
          <a:p/>
        </p:txBody>
      </p:sp>
      <p:sp>
        <p:nvSpPr>
          <p:cNvPr id="7" name="Text 5"/>
          <p:cNvSpPr/>
          <p:nvPr/>
        </p:nvSpPr>
        <p:spPr>
          <a:xfrm>
            <a:off x="566928" y="1527048"/>
            <a:ext cx="1929384" cy="201168"/>
          </a:xfrm>
          <a:prstGeom prst="rect">
            <a:avLst/>
          </a:prstGeom>
          <a:noFill/>
          <a:ln/>
        </p:spPr>
        <p:txBody>
          <a:bodyPr wrap="square" lIns="0" tIns="0" rIns="0" bIns="0" rtlCol="0" anchor="ctr"/>
          <a:lstStyle/>
          <a:p>
            <a:pPr indent="0" marL="0">
              <a:buNone/>
            </a:pPr>
            <a:r>
              <a:rPr lang="en-US" sz="900" b="1" dirty="0">
                <a:solidFill>
                  <a:srgbClr val="FFFFFF"/>
                </a:solidFill>
              </a:rPr>
              <a:t>Initiative</a:t>
            </a:r>
            <a:endParaRPr lang="en-US" sz="900" dirty="0"/>
          </a:p>
        </p:txBody>
      </p:sp>
      <p:sp>
        <p:nvSpPr>
          <p:cNvPr id="8" name="Shape 6"/>
          <p:cNvSpPr/>
          <p:nvPr/>
        </p:nvSpPr>
        <p:spPr>
          <a:xfrm>
            <a:off x="2560320" y="1417320"/>
            <a:ext cx="1828800" cy="438912"/>
          </a:xfrm>
          <a:prstGeom prst="rect">
            <a:avLst/>
          </a:prstGeom>
          <a:solidFill>
            <a:srgbClr val="123047"/>
          </a:solidFill>
          <a:ln w="6350">
            <a:solidFill>
              <a:srgbClr val="FFFFFF"/>
            </a:solidFill>
            <a:prstDash val="solid"/>
          </a:ln>
        </p:spPr>
        <p:txBody>
          <a:bodyPr/>
          <a:p/>
        </p:txBody>
      </p:sp>
      <p:sp>
        <p:nvSpPr>
          <p:cNvPr id="9" name="Text 7"/>
          <p:cNvSpPr/>
          <p:nvPr/>
        </p:nvSpPr>
        <p:spPr>
          <a:xfrm>
            <a:off x="2624328" y="1527048"/>
            <a:ext cx="1700784" cy="201168"/>
          </a:xfrm>
          <a:prstGeom prst="rect">
            <a:avLst/>
          </a:prstGeom>
          <a:noFill/>
          <a:ln/>
        </p:spPr>
        <p:txBody>
          <a:bodyPr wrap="square" lIns="0" tIns="0" rIns="0" bIns="0" rtlCol="0" anchor="ctr"/>
          <a:lstStyle/>
          <a:p>
            <a:pPr indent="0" marL="0">
              <a:buNone/>
            </a:pPr>
            <a:r>
              <a:rPr lang="en-US" sz="900" b="1" dirty="0">
                <a:solidFill>
                  <a:srgbClr val="FFFFFF"/>
                </a:solidFill>
              </a:rPr>
              <a:t>Why</a:t>
            </a:r>
            <a:endParaRPr lang="en-US" sz="900" dirty="0"/>
          </a:p>
        </p:txBody>
      </p:sp>
      <p:sp>
        <p:nvSpPr>
          <p:cNvPr id="10" name="Shape 8"/>
          <p:cNvSpPr/>
          <p:nvPr/>
        </p:nvSpPr>
        <p:spPr>
          <a:xfrm>
            <a:off x="4389120" y="1417320"/>
            <a:ext cx="1051560" cy="438912"/>
          </a:xfrm>
          <a:prstGeom prst="rect">
            <a:avLst/>
          </a:prstGeom>
          <a:solidFill>
            <a:srgbClr val="123047"/>
          </a:solidFill>
          <a:ln w="6350">
            <a:solidFill>
              <a:srgbClr val="FFFFFF"/>
            </a:solidFill>
            <a:prstDash val="solid"/>
          </a:ln>
        </p:spPr>
        <p:txBody>
          <a:bodyPr/>
          <a:p/>
        </p:txBody>
      </p:sp>
      <p:sp>
        <p:nvSpPr>
          <p:cNvPr id="11" name="Text 9"/>
          <p:cNvSpPr/>
          <p:nvPr/>
        </p:nvSpPr>
        <p:spPr>
          <a:xfrm>
            <a:off x="4453128" y="1527048"/>
            <a:ext cx="923544" cy="201168"/>
          </a:xfrm>
          <a:prstGeom prst="rect">
            <a:avLst/>
          </a:prstGeom>
          <a:noFill/>
          <a:ln/>
        </p:spPr>
        <p:txBody>
          <a:bodyPr wrap="square" lIns="0" tIns="0" rIns="0" bIns="0" rtlCol="0" anchor="ctr"/>
          <a:lstStyle/>
          <a:p>
            <a:pPr indent="0" marL="0">
              <a:buNone/>
            </a:pPr>
            <a:r>
              <a:rPr lang="en-US" sz="900" b="1" dirty="0">
                <a:solidFill>
                  <a:srgbClr val="FFFFFF"/>
                </a:solidFill>
              </a:rPr>
              <a:t>Roadmap</a:t>
            </a:r>
            <a:endParaRPr lang="en-US" sz="900" dirty="0"/>
          </a:p>
        </p:txBody>
      </p:sp>
      <p:sp>
        <p:nvSpPr>
          <p:cNvPr id="12" name="Shape 10"/>
          <p:cNvSpPr/>
          <p:nvPr/>
        </p:nvSpPr>
        <p:spPr>
          <a:xfrm>
            <a:off x="5440680" y="1417320"/>
            <a:ext cx="1965960" cy="438912"/>
          </a:xfrm>
          <a:prstGeom prst="rect">
            <a:avLst/>
          </a:prstGeom>
          <a:solidFill>
            <a:srgbClr val="123047"/>
          </a:solidFill>
          <a:ln w="6350">
            <a:solidFill>
              <a:srgbClr val="FFFFFF"/>
            </a:solidFill>
            <a:prstDash val="solid"/>
          </a:ln>
        </p:spPr>
        <p:txBody>
          <a:bodyPr/>
          <a:p/>
        </p:txBody>
      </p:sp>
      <p:sp>
        <p:nvSpPr>
          <p:cNvPr id="13" name="Text 11"/>
          <p:cNvSpPr/>
          <p:nvPr/>
        </p:nvSpPr>
        <p:spPr>
          <a:xfrm>
            <a:off x="5504688" y="1527048"/>
            <a:ext cx="1837944" cy="201168"/>
          </a:xfrm>
          <a:prstGeom prst="rect">
            <a:avLst/>
          </a:prstGeom>
          <a:noFill/>
          <a:ln/>
        </p:spPr>
        <p:txBody>
          <a:bodyPr wrap="square" lIns="0" tIns="0" rIns="0" bIns="0" rtlCol="0" anchor="ctr"/>
          <a:lstStyle/>
          <a:p>
            <a:pPr indent="0" marL="0">
              <a:buNone/>
            </a:pPr>
            <a:r>
              <a:rPr lang="en-US" sz="900" b="1" dirty="0">
                <a:solidFill>
                  <a:srgbClr val="FFFFFF"/>
                </a:solidFill>
              </a:rPr>
              <a:t>Maturity</a:t>
            </a:r>
            <a:endParaRPr lang="en-US" sz="900" dirty="0"/>
          </a:p>
        </p:txBody>
      </p:sp>
      <p:sp>
        <p:nvSpPr>
          <p:cNvPr id="14" name="Shape 12"/>
          <p:cNvSpPr/>
          <p:nvPr/>
        </p:nvSpPr>
        <p:spPr>
          <a:xfrm>
            <a:off x="7406640" y="1417320"/>
            <a:ext cx="1920240" cy="438912"/>
          </a:xfrm>
          <a:prstGeom prst="rect">
            <a:avLst/>
          </a:prstGeom>
          <a:solidFill>
            <a:srgbClr val="123047"/>
          </a:solidFill>
          <a:ln w="6350">
            <a:solidFill>
              <a:srgbClr val="FFFFFF"/>
            </a:solidFill>
            <a:prstDash val="solid"/>
          </a:ln>
        </p:spPr>
        <p:txBody>
          <a:bodyPr/>
          <a:p/>
        </p:txBody>
      </p:sp>
      <p:sp>
        <p:nvSpPr>
          <p:cNvPr id="15" name="Text 13"/>
          <p:cNvSpPr/>
          <p:nvPr/>
        </p:nvSpPr>
        <p:spPr>
          <a:xfrm>
            <a:off x="7470648" y="1527048"/>
            <a:ext cx="1792224" cy="201168"/>
          </a:xfrm>
          <a:prstGeom prst="rect">
            <a:avLst/>
          </a:prstGeom>
          <a:noFill/>
          <a:ln/>
        </p:spPr>
        <p:txBody>
          <a:bodyPr wrap="square" lIns="0" tIns="0" rIns="0" bIns="0" rtlCol="0" anchor="ctr"/>
          <a:lstStyle/>
          <a:p>
            <a:pPr indent="0" marL="0">
              <a:buNone/>
            </a:pPr>
            <a:r>
              <a:rPr lang="en-US" sz="900" b="1" dirty="0">
                <a:solidFill>
                  <a:srgbClr val="FFFFFF"/>
                </a:solidFill>
              </a:rPr>
              <a:t>Delivery forecast</a:t>
            </a:r>
            <a:endParaRPr lang="en-US" sz="900" dirty="0"/>
          </a:p>
        </p:txBody>
      </p:sp>
      <p:sp>
        <p:nvSpPr>
          <p:cNvPr id="16" name="Shape 14"/>
          <p:cNvSpPr/>
          <p:nvPr/>
        </p:nvSpPr>
        <p:spPr>
          <a:xfrm>
            <a:off x="9326880" y="1417320"/>
            <a:ext cx="1325880" cy="438912"/>
          </a:xfrm>
          <a:prstGeom prst="rect">
            <a:avLst/>
          </a:prstGeom>
          <a:solidFill>
            <a:srgbClr val="123047"/>
          </a:solidFill>
          <a:ln w="6350">
            <a:solidFill>
              <a:srgbClr val="FFFFFF"/>
            </a:solidFill>
            <a:prstDash val="solid"/>
          </a:ln>
        </p:spPr>
        <p:txBody>
          <a:bodyPr/>
          <a:p/>
        </p:txBody>
      </p:sp>
      <p:sp>
        <p:nvSpPr>
          <p:cNvPr id="17" name="Text 15"/>
          <p:cNvSpPr/>
          <p:nvPr/>
        </p:nvSpPr>
        <p:spPr>
          <a:xfrm>
            <a:off x="9390888" y="1527048"/>
            <a:ext cx="1197864" cy="201168"/>
          </a:xfrm>
          <a:prstGeom prst="rect">
            <a:avLst/>
          </a:prstGeom>
          <a:noFill/>
          <a:ln/>
        </p:spPr>
        <p:txBody>
          <a:bodyPr wrap="square" lIns="0" tIns="0" rIns="0" bIns="0" rtlCol="0" anchor="ctr"/>
          <a:lstStyle/>
          <a:p>
            <a:pPr indent="0" marL="0">
              <a:buNone/>
            </a:pPr>
            <a:r>
              <a:rPr lang="en-US" sz="900" b="1" dirty="0">
                <a:solidFill>
                  <a:srgbClr val="FFFFFF"/>
                </a:solidFill>
              </a:rPr>
              <a:t>Confidence</a:t>
            </a:r>
            <a:endParaRPr lang="en-US" sz="900" dirty="0"/>
          </a:p>
        </p:txBody>
      </p:sp>
      <p:sp>
        <p:nvSpPr>
          <p:cNvPr id="18" name="Shape 16"/>
          <p:cNvSpPr/>
          <p:nvPr/>
        </p:nvSpPr>
        <p:spPr>
          <a:xfrm>
            <a:off x="502920" y="1856232"/>
            <a:ext cx="2057400" cy="658368"/>
          </a:xfrm>
          <a:prstGeom prst="rect">
            <a:avLst/>
          </a:prstGeom>
          <a:solidFill>
            <a:srgbClr val="F5F7F8"/>
          </a:solidFill>
          <a:ln w="6350">
            <a:solidFill>
              <a:srgbClr val="D9E0E3"/>
            </a:solidFill>
            <a:prstDash val="solid"/>
          </a:ln>
        </p:spPr>
        <p:txBody>
          <a:bodyPr/>
          <a:p/>
        </p:txBody>
      </p:sp>
      <p:sp>
        <p:nvSpPr>
          <p:cNvPr id="19" name="Text 17"/>
          <p:cNvSpPr/>
          <p:nvPr/>
        </p:nvSpPr>
        <p:spPr>
          <a:xfrm>
            <a:off x="566928" y="2020824"/>
            <a:ext cx="1929384" cy="274320"/>
          </a:xfrm>
          <a:prstGeom prst="rect">
            <a:avLst/>
          </a:prstGeom>
          <a:noFill/>
          <a:ln/>
        </p:spPr>
        <p:txBody>
          <a:bodyPr wrap="square" lIns="0" tIns="0" rIns="0" bIns="0" rtlCol="0" anchor="ctr">
            <a:normAutofit/>
          </a:bodyPr>
          <a:lstStyle/>
          <a:p>
            <a:pPr indent="0" marL="0">
              <a:buNone/>
            </a:pPr>
            <a:r>
              <a:rPr lang="en-US" sz="950" b="1" dirty="0">
                <a:solidFill>
                  <a:srgbClr val="182026"/>
                </a:solidFill>
              </a:rPr>
              <a:t>Data automation</a:t>
            </a:r>
            <a:endParaRPr lang="en-US" sz="950" dirty="0"/>
          </a:p>
        </p:txBody>
      </p:sp>
      <p:sp>
        <p:nvSpPr>
          <p:cNvPr id="20" name="Shape 18"/>
          <p:cNvSpPr/>
          <p:nvPr/>
        </p:nvSpPr>
        <p:spPr>
          <a:xfrm>
            <a:off x="2560320" y="1856232"/>
            <a:ext cx="1828800" cy="658368"/>
          </a:xfrm>
          <a:prstGeom prst="rect">
            <a:avLst/>
          </a:prstGeom>
          <a:solidFill>
            <a:srgbClr val="F5F7F8"/>
          </a:solidFill>
          <a:ln w="6350">
            <a:solidFill>
              <a:srgbClr val="D9E0E3"/>
            </a:solidFill>
            <a:prstDash val="solid"/>
          </a:ln>
        </p:spPr>
        <p:txBody>
          <a:bodyPr/>
          <a:p/>
        </p:txBody>
      </p:sp>
      <p:sp>
        <p:nvSpPr>
          <p:cNvPr id="21" name="Text 19"/>
          <p:cNvSpPr/>
          <p:nvPr/>
        </p:nvSpPr>
        <p:spPr>
          <a:xfrm>
            <a:off x="2624328" y="2020824"/>
            <a:ext cx="170078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Retention</a:t>
            </a:r>
            <a:endParaRPr lang="en-US" sz="950" dirty="0"/>
          </a:p>
        </p:txBody>
      </p:sp>
      <p:sp>
        <p:nvSpPr>
          <p:cNvPr id="22" name="Shape 20"/>
          <p:cNvSpPr/>
          <p:nvPr/>
        </p:nvSpPr>
        <p:spPr>
          <a:xfrm>
            <a:off x="4389120" y="1856232"/>
            <a:ext cx="1051560" cy="658368"/>
          </a:xfrm>
          <a:prstGeom prst="rect">
            <a:avLst/>
          </a:prstGeom>
          <a:solidFill>
            <a:srgbClr val="F5F7F8"/>
          </a:solidFill>
          <a:ln w="6350">
            <a:solidFill>
              <a:srgbClr val="D9E0E3"/>
            </a:solidFill>
            <a:prstDash val="solid"/>
          </a:ln>
        </p:spPr>
        <p:txBody>
          <a:bodyPr/>
          <a:p/>
        </p:txBody>
      </p:sp>
      <p:sp>
        <p:nvSpPr>
          <p:cNvPr id="23" name="Text 21"/>
          <p:cNvSpPr/>
          <p:nvPr/>
        </p:nvSpPr>
        <p:spPr>
          <a:xfrm>
            <a:off x="4453128" y="2020824"/>
            <a:ext cx="9235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Q4</a:t>
            </a:r>
            <a:endParaRPr lang="en-US" sz="950" dirty="0"/>
          </a:p>
        </p:txBody>
      </p:sp>
      <p:sp>
        <p:nvSpPr>
          <p:cNvPr id="24" name="Shape 22"/>
          <p:cNvSpPr/>
          <p:nvPr/>
        </p:nvSpPr>
        <p:spPr>
          <a:xfrm>
            <a:off x="5440680" y="1856232"/>
            <a:ext cx="1965960" cy="658368"/>
          </a:xfrm>
          <a:prstGeom prst="rect">
            <a:avLst/>
          </a:prstGeom>
          <a:solidFill>
            <a:srgbClr val="F5F7F8"/>
          </a:solidFill>
          <a:ln w="6350">
            <a:solidFill>
              <a:srgbClr val="D9E0E3"/>
            </a:solidFill>
            <a:prstDash val="solid"/>
          </a:ln>
        </p:spPr>
        <p:txBody>
          <a:bodyPr/>
          <a:p/>
        </p:txBody>
      </p:sp>
      <p:sp>
        <p:nvSpPr>
          <p:cNvPr id="25" name="Text 23"/>
          <p:cNvSpPr/>
          <p:nvPr/>
        </p:nvSpPr>
        <p:spPr>
          <a:xfrm>
            <a:off x="5504688" y="2020824"/>
            <a:ext cx="18379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Artefact Ready</a:t>
            </a:r>
            <a:endParaRPr lang="en-US" sz="950" dirty="0"/>
          </a:p>
        </p:txBody>
      </p:sp>
      <p:sp>
        <p:nvSpPr>
          <p:cNvPr id="26" name="Shape 24"/>
          <p:cNvSpPr/>
          <p:nvPr/>
        </p:nvSpPr>
        <p:spPr>
          <a:xfrm>
            <a:off x="7406640" y="1856232"/>
            <a:ext cx="1920240" cy="658368"/>
          </a:xfrm>
          <a:prstGeom prst="rect">
            <a:avLst/>
          </a:prstGeom>
          <a:solidFill>
            <a:srgbClr val="F5F7F8"/>
          </a:solidFill>
          <a:ln w="6350">
            <a:solidFill>
              <a:srgbClr val="D9E0E3"/>
            </a:solidFill>
            <a:prstDash val="solid"/>
          </a:ln>
        </p:spPr>
        <p:txBody>
          <a:bodyPr/>
          <a:p/>
        </p:txBody>
      </p:sp>
      <p:sp>
        <p:nvSpPr>
          <p:cNvPr id="27" name="Text 25"/>
          <p:cNvSpPr/>
          <p:nvPr/>
        </p:nvSpPr>
        <p:spPr>
          <a:xfrm>
            <a:off x="7470648" y="2020824"/>
            <a:ext cx="179222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Nov 15–30</a:t>
            </a:r>
            <a:endParaRPr lang="en-US" sz="950" dirty="0"/>
          </a:p>
        </p:txBody>
      </p:sp>
      <p:sp>
        <p:nvSpPr>
          <p:cNvPr id="28" name="Shape 26"/>
          <p:cNvSpPr/>
          <p:nvPr/>
        </p:nvSpPr>
        <p:spPr>
          <a:xfrm>
            <a:off x="9326880" y="1856232"/>
            <a:ext cx="1325880" cy="658368"/>
          </a:xfrm>
          <a:prstGeom prst="rect">
            <a:avLst/>
          </a:prstGeom>
          <a:solidFill>
            <a:srgbClr val="F5F7F8"/>
          </a:solidFill>
          <a:ln w="6350">
            <a:solidFill>
              <a:srgbClr val="D9E0E3"/>
            </a:solidFill>
            <a:prstDash val="solid"/>
          </a:ln>
        </p:spPr>
        <p:txBody>
          <a:bodyPr/>
          <a:p/>
        </p:txBody>
      </p:sp>
      <p:sp>
        <p:nvSpPr>
          <p:cNvPr id="29" name="Text 27"/>
          <p:cNvSpPr/>
          <p:nvPr/>
        </p:nvSpPr>
        <p:spPr>
          <a:xfrm>
            <a:off x="9390888" y="2020824"/>
            <a:ext cx="1197864" cy="274320"/>
          </a:xfrm>
          <a:prstGeom prst="rect">
            <a:avLst/>
          </a:prstGeom>
          <a:noFill/>
          <a:ln/>
        </p:spPr>
        <p:txBody>
          <a:bodyPr wrap="square" lIns="0" tIns="0" rIns="0" bIns="0" rtlCol="0" anchor="ctr">
            <a:normAutofit/>
          </a:bodyPr>
          <a:lstStyle/>
          <a:p>
            <a:pPr indent="0" marL="0">
              <a:buNone/>
            </a:pPr>
            <a:r>
              <a:rPr lang="en-US" sz="950" dirty="0">
                <a:solidFill>
                  <a:srgbClr val="2E7D5B"/>
                </a:solidFill>
              </a:rPr>
              <a:t>High</a:t>
            </a:r>
            <a:endParaRPr lang="en-US" sz="950" dirty="0"/>
          </a:p>
        </p:txBody>
      </p:sp>
      <p:sp>
        <p:nvSpPr>
          <p:cNvPr id="30" name="Shape 28"/>
          <p:cNvSpPr/>
          <p:nvPr/>
        </p:nvSpPr>
        <p:spPr>
          <a:xfrm>
            <a:off x="502920" y="2514600"/>
            <a:ext cx="2057400" cy="658368"/>
          </a:xfrm>
          <a:prstGeom prst="rect">
            <a:avLst/>
          </a:prstGeom>
          <a:solidFill>
            <a:srgbClr val="FFFFFF"/>
          </a:solidFill>
          <a:ln w="6350">
            <a:solidFill>
              <a:srgbClr val="D9E0E3"/>
            </a:solidFill>
            <a:prstDash val="solid"/>
          </a:ln>
        </p:spPr>
        <p:txBody>
          <a:bodyPr/>
          <a:p/>
        </p:txBody>
      </p:sp>
      <p:sp>
        <p:nvSpPr>
          <p:cNvPr id="31" name="Text 29"/>
          <p:cNvSpPr/>
          <p:nvPr/>
        </p:nvSpPr>
        <p:spPr>
          <a:xfrm>
            <a:off x="566928" y="2679192"/>
            <a:ext cx="1929384" cy="274320"/>
          </a:xfrm>
          <a:prstGeom prst="rect">
            <a:avLst/>
          </a:prstGeom>
          <a:noFill/>
          <a:ln/>
        </p:spPr>
        <p:txBody>
          <a:bodyPr wrap="square" lIns="0" tIns="0" rIns="0" bIns="0" rtlCol="0" anchor="ctr">
            <a:normAutofit/>
          </a:bodyPr>
          <a:lstStyle/>
          <a:p>
            <a:pPr indent="0" marL="0">
              <a:buNone/>
            </a:pPr>
            <a:r>
              <a:rPr lang="en-US" sz="950" b="1" dirty="0">
                <a:solidFill>
                  <a:srgbClr val="182026"/>
                </a:solidFill>
              </a:rPr>
              <a:t>Reporting redesign</a:t>
            </a:r>
            <a:endParaRPr lang="en-US" sz="950" dirty="0"/>
          </a:p>
        </p:txBody>
      </p:sp>
      <p:sp>
        <p:nvSpPr>
          <p:cNvPr id="32" name="Shape 30"/>
          <p:cNvSpPr/>
          <p:nvPr/>
        </p:nvSpPr>
        <p:spPr>
          <a:xfrm>
            <a:off x="2560320" y="2514600"/>
            <a:ext cx="1828800" cy="658368"/>
          </a:xfrm>
          <a:prstGeom prst="rect">
            <a:avLst/>
          </a:prstGeom>
          <a:solidFill>
            <a:srgbClr val="FFFFFF"/>
          </a:solidFill>
          <a:ln w="6350">
            <a:solidFill>
              <a:srgbClr val="D9E0E3"/>
            </a:solidFill>
            <a:prstDash val="solid"/>
          </a:ln>
        </p:spPr>
        <p:txBody>
          <a:bodyPr/>
          <a:p/>
        </p:txBody>
      </p:sp>
      <p:sp>
        <p:nvSpPr>
          <p:cNvPr id="33" name="Text 31"/>
          <p:cNvSpPr/>
          <p:nvPr/>
        </p:nvSpPr>
        <p:spPr>
          <a:xfrm>
            <a:off x="2624328" y="2679192"/>
            <a:ext cx="170078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Enterprise growth</a:t>
            </a:r>
            <a:endParaRPr lang="en-US" sz="950" dirty="0"/>
          </a:p>
        </p:txBody>
      </p:sp>
      <p:sp>
        <p:nvSpPr>
          <p:cNvPr id="34" name="Shape 32"/>
          <p:cNvSpPr/>
          <p:nvPr/>
        </p:nvSpPr>
        <p:spPr>
          <a:xfrm>
            <a:off x="4389120" y="2514600"/>
            <a:ext cx="1051560" cy="658368"/>
          </a:xfrm>
          <a:prstGeom prst="rect">
            <a:avLst/>
          </a:prstGeom>
          <a:solidFill>
            <a:srgbClr val="FFFFFF"/>
          </a:solidFill>
          <a:ln w="6350">
            <a:solidFill>
              <a:srgbClr val="D9E0E3"/>
            </a:solidFill>
            <a:prstDash val="solid"/>
          </a:ln>
        </p:spPr>
        <p:txBody>
          <a:bodyPr/>
          <a:p/>
        </p:txBody>
      </p:sp>
      <p:sp>
        <p:nvSpPr>
          <p:cNvPr id="35" name="Text 33"/>
          <p:cNvSpPr/>
          <p:nvPr/>
        </p:nvSpPr>
        <p:spPr>
          <a:xfrm>
            <a:off x="4453128" y="2679192"/>
            <a:ext cx="9235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Q4</a:t>
            </a:r>
            <a:endParaRPr lang="en-US" sz="950" dirty="0"/>
          </a:p>
        </p:txBody>
      </p:sp>
      <p:sp>
        <p:nvSpPr>
          <p:cNvPr id="36" name="Shape 34"/>
          <p:cNvSpPr/>
          <p:nvPr/>
        </p:nvSpPr>
        <p:spPr>
          <a:xfrm>
            <a:off x="5440680" y="2514600"/>
            <a:ext cx="1965960" cy="658368"/>
          </a:xfrm>
          <a:prstGeom prst="rect">
            <a:avLst/>
          </a:prstGeom>
          <a:solidFill>
            <a:srgbClr val="FFFFFF"/>
          </a:solidFill>
          <a:ln w="6350">
            <a:solidFill>
              <a:srgbClr val="D9E0E3"/>
            </a:solidFill>
            <a:prstDash val="solid"/>
          </a:ln>
        </p:spPr>
        <p:txBody>
          <a:bodyPr/>
          <a:p/>
        </p:txBody>
      </p:sp>
      <p:sp>
        <p:nvSpPr>
          <p:cNvPr id="37" name="Text 35"/>
          <p:cNvSpPr/>
          <p:nvPr/>
        </p:nvSpPr>
        <p:spPr>
          <a:xfrm>
            <a:off x="5504688" y="2679192"/>
            <a:ext cx="18379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Artefact Ready</a:t>
            </a:r>
            <a:endParaRPr lang="en-US" sz="950" dirty="0"/>
          </a:p>
        </p:txBody>
      </p:sp>
      <p:sp>
        <p:nvSpPr>
          <p:cNvPr id="38" name="Shape 36"/>
          <p:cNvSpPr/>
          <p:nvPr/>
        </p:nvSpPr>
        <p:spPr>
          <a:xfrm>
            <a:off x="7406640" y="2514600"/>
            <a:ext cx="1920240" cy="658368"/>
          </a:xfrm>
          <a:prstGeom prst="rect">
            <a:avLst/>
          </a:prstGeom>
          <a:solidFill>
            <a:srgbClr val="FFFFFF"/>
          </a:solidFill>
          <a:ln w="6350">
            <a:solidFill>
              <a:srgbClr val="D9E0E3"/>
            </a:solidFill>
            <a:prstDash val="solid"/>
          </a:ln>
        </p:spPr>
        <p:txBody>
          <a:bodyPr/>
          <a:p/>
        </p:txBody>
      </p:sp>
      <p:sp>
        <p:nvSpPr>
          <p:cNvPr id="39" name="Text 37"/>
          <p:cNvSpPr/>
          <p:nvPr/>
        </p:nvSpPr>
        <p:spPr>
          <a:xfrm>
            <a:off x="7470648" y="2679192"/>
            <a:ext cx="179222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December</a:t>
            </a:r>
            <a:endParaRPr lang="en-US" sz="950" dirty="0"/>
          </a:p>
        </p:txBody>
      </p:sp>
      <p:sp>
        <p:nvSpPr>
          <p:cNvPr id="40" name="Shape 38"/>
          <p:cNvSpPr/>
          <p:nvPr/>
        </p:nvSpPr>
        <p:spPr>
          <a:xfrm>
            <a:off x="9326880" y="2514600"/>
            <a:ext cx="1325880" cy="658368"/>
          </a:xfrm>
          <a:prstGeom prst="rect">
            <a:avLst/>
          </a:prstGeom>
          <a:solidFill>
            <a:srgbClr val="FFFFFF"/>
          </a:solidFill>
          <a:ln w="6350">
            <a:solidFill>
              <a:srgbClr val="D9E0E3"/>
            </a:solidFill>
            <a:prstDash val="solid"/>
          </a:ln>
        </p:spPr>
        <p:txBody>
          <a:bodyPr/>
          <a:p/>
        </p:txBody>
      </p:sp>
      <p:sp>
        <p:nvSpPr>
          <p:cNvPr id="41" name="Text 39"/>
          <p:cNvSpPr/>
          <p:nvPr/>
        </p:nvSpPr>
        <p:spPr>
          <a:xfrm>
            <a:off x="9390888" y="2679192"/>
            <a:ext cx="1197864" cy="274320"/>
          </a:xfrm>
          <a:prstGeom prst="rect">
            <a:avLst/>
          </a:prstGeom>
          <a:noFill/>
          <a:ln/>
        </p:spPr>
        <p:txBody>
          <a:bodyPr wrap="square" lIns="0" tIns="0" rIns="0" bIns="0" rtlCol="0" anchor="ctr">
            <a:normAutofit/>
          </a:bodyPr>
          <a:lstStyle/>
          <a:p>
            <a:pPr indent="0" marL="0">
              <a:buNone/>
            </a:pPr>
            <a:r>
              <a:rPr lang="en-US" sz="950" dirty="0">
                <a:solidFill>
                  <a:srgbClr val="2E7D5B"/>
                </a:solidFill>
              </a:rPr>
              <a:t>High</a:t>
            </a:r>
            <a:endParaRPr lang="en-US" sz="950" dirty="0"/>
          </a:p>
        </p:txBody>
      </p:sp>
      <p:sp>
        <p:nvSpPr>
          <p:cNvPr id="42" name="Shape 40"/>
          <p:cNvSpPr/>
          <p:nvPr/>
        </p:nvSpPr>
        <p:spPr>
          <a:xfrm>
            <a:off x="502920" y="3172968"/>
            <a:ext cx="2057400" cy="658368"/>
          </a:xfrm>
          <a:prstGeom prst="rect">
            <a:avLst/>
          </a:prstGeom>
          <a:solidFill>
            <a:srgbClr val="F5F7F8"/>
          </a:solidFill>
          <a:ln w="6350">
            <a:solidFill>
              <a:srgbClr val="D9E0E3"/>
            </a:solidFill>
            <a:prstDash val="solid"/>
          </a:ln>
        </p:spPr>
        <p:txBody>
          <a:bodyPr/>
          <a:p/>
        </p:txBody>
      </p:sp>
      <p:sp>
        <p:nvSpPr>
          <p:cNvPr id="43" name="Text 41"/>
          <p:cNvSpPr/>
          <p:nvPr/>
        </p:nvSpPr>
        <p:spPr>
          <a:xfrm>
            <a:off x="566928" y="3337560"/>
            <a:ext cx="1929384" cy="274320"/>
          </a:xfrm>
          <a:prstGeom prst="rect">
            <a:avLst/>
          </a:prstGeom>
          <a:noFill/>
          <a:ln/>
        </p:spPr>
        <p:txBody>
          <a:bodyPr wrap="square" lIns="0" tIns="0" rIns="0" bIns="0" rtlCol="0" anchor="ctr">
            <a:normAutofit/>
          </a:bodyPr>
          <a:lstStyle/>
          <a:p>
            <a:pPr indent="0" marL="0">
              <a:buNone/>
            </a:pPr>
            <a:r>
              <a:rPr lang="en-US" sz="950" b="1" dirty="0">
                <a:solidFill>
                  <a:srgbClr val="182026"/>
                </a:solidFill>
              </a:rPr>
              <a:t>Benchmarking</a:t>
            </a:r>
            <a:endParaRPr lang="en-US" sz="950" dirty="0"/>
          </a:p>
        </p:txBody>
      </p:sp>
      <p:sp>
        <p:nvSpPr>
          <p:cNvPr id="44" name="Shape 42"/>
          <p:cNvSpPr/>
          <p:nvPr/>
        </p:nvSpPr>
        <p:spPr>
          <a:xfrm>
            <a:off x="2560320" y="3172968"/>
            <a:ext cx="1828800" cy="658368"/>
          </a:xfrm>
          <a:prstGeom prst="rect">
            <a:avLst/>
          </a:prstGeom>
          <a:solidFill>
            <a:srgbClr val="F5F7F8"/>
          </a:solidFill>
          <a:ln w="6350">
            <a:solidFill>
              <a:srgbClr val="D9E0E3"/>
            </a:solidFill>
            <a:prstDash val="solid"/>
          </a:ln>
        </p:spPr>
        <p:txBody>
          <a:bodyPr/>
          <a:p/>
        </p:txBody>
      </p:sp>
      <p:sp>
        <p:nvSpPr>
          <p:cNvPr id="45" name="Text 43"/>
          <p:cNvSpPr/>
          <p:nvPr/>
        </p:nvSpPr>
        <p:spPr>
          <a:xfrm>
            <a:off x="2624328" y="3337560"/>
            <a:ext cx="170078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Expansion</a:t>
            </a:r>
            <a:endParaRPr lang="en-US" sz="950" dirty="0"/>
          </a:p>
        </p:txBody>
      </p:sp>
      <p:sp>
        <p:nvSpPr>
          <p:cNvPr id="46" name="Shape 44"/>
          <p:cNvSpPr/>
          <p:nvPr/>
        </p:nvSpPr>
        <p:spPr>
          <a:xfrm>
            <a:off x="4389120" y="3172968"/>
            <a:ext cx="1051560" cy="658368"/>
          </a:xfrm>
          <a:prstGeom prst="rect">
            <a:avLst/>
          </a:prstGeom>
          <a:solidFill>
            <a:srgbClr val="F5F7F8"/>
          </a:solidFill>
          <a:ln w="6350">
            <a:solidFill>
              <a:srgbClr val="D9E0E3"/>
            </a:solidFill>
            <a:prstDash val="solid"/>
          </a:ln>
        </p:spPr>
        <p:txBody>
          <a:bodyPr/>
          <a:p/>
        </p:txBody>
      </p:sp>
      <p:sp>
        <p:nvSpPr>
          <p:cNvPr id="47" name="Text 45"/>
          <p:cNvSpPr/>
          <p:nvPr/>
        </p:nvSpPr>
        <p:spPr>
          <a:xfrm>
            <a:off x="4453128" y="3337560"/>
            <a:ext cx="9235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Q1</a:t>
            </a:r>
            <a:endParaRPr lang="en-US" sz="950" dirty="0"/>
          </a:p>
        </p:txBody>
      </p:sp>
      <p:sp>
        <p:nvSpPr>
          <p:cNvPr id="48" name="Shape 46"/>
          <p:cNvSpPr/>
          <p:nvPr/>
        </p:nvSpPr>
        <p:spPr>
          <a:xfrm>
            <a:off x="5440680" y="3172968"/>
            <a:ext cx="1965960" cy="658368"/>
          </a:xfrm>
          <a:prstGeom prst="rect">
            <a:avLst/>
          </a:prstGeom>
          <a:solidFill>
            <a:srgbClr val="F5F7F8"/>
          </a:solidFill>
          <a:ln w="6350">
            <a:solidFill>
              <a:srgbClr val="D9E0E3"/>
            </a:solidFill>
            <a:prstDash val="solid"/>
          </a:ln>
        </p:spPr>
        <p:txBody>
          <a:bodyPr/>
          <a:p/>
        </p:txBody>
      </p:sp>
      <p:sp>
        <p:nvSpPr>
          <p:cNvPr id="49" name="Text 47"/>
          <p:cNvSpPr/>
          <p:nvPr/>
        </p:nvSpPr>
        <p:spPr>
          <a:xfrm>
            <a:off x="5504688" y="3337560"/>
            <a:ext cx="18379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Solution validation</a:t>
            </a:r>
            <a:endParaRPr lang="en-US" sz="950" dirty="0"/>
          </a:p>
        </p:txBody>
      </p:sp>
      <p:sp>
        <p:nvSpPr>
          <p:cNvPr id="50" name="Shape 48"/>
          <p:cNvSpPr/>
          <p:nvPr/>
        </p:nvSpPr>
        <p:spPr>
          <a:xfrm>
            <a:off x="7406640" y="3172968"/>
            <a:ext cx="1920240" cy="658368"/>
          </a:xfrm>
          <a:prstGeom prst="rect">
            <a:avLst/>
          </a:prstGeom>
          <a:solidFill>
            <a:srgbClr val="F5F7F8"/>
          </a:solidFill>
          <a:ln w="6350">
            <a:solidFill>
              <a:srgbClr val="D9E0E3"/>
            </a:solidFill>
            <a:prstDash val="solid"/>
          </a:ln>
        </p:spPr>
        <p:txBody>
          <a:bodyPr/>
          <a:p/>
        </p:txBody>
      </p:sp>
      <p:sp>
        <p:nvSpPr>
          <p:cNvPr id="51" name="Text 49"/>
          <p:cNvSpPr/>
          <p:nvPr/>
        </p:nvSpPr>
        <p:spPr>
          <a:xfrm>
            <a:off x="7470648" y="3337560"/>
            <a:ext cx="179222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Jan–Feb</a:t>
            </a:r>
            <a:endParaRPr lang="en-US" sz="950" dirty="0"/>
          </a:p>
        </p:txBody>
      </p:sp>
      <p:sp>
        <p:nvSpPr>
          <p:cNvPr id="52" name="Shape 50"/>
          <p:cNvSpPr/>
          <p:nvPr/>
        </p:nvSpPr>
        <p:spPr>
          <a:xfrm>
            <a:off x="9326880" y="3172968"/>
            <a:ext cx="1325880" cy="658368"/>
          </a:xfrm>
          <a:prstGeom prst="rect">
            <a:avLst/>
          </a:prstGeom>
          <a:solidFill>
            <a:srgbClr val="F5F7F8"/>
          </a:solidFill>
          <a:ln w="6350">
            <a:solidFill>
              <a:srgbClr val="D9E0E3"/>
            </a:solidFill>
            <a:prstDash val="solid"/>
          </a:ln>
        </p:spPr>
        <p:txBody>
          <a:bodyPr/>
          <a:p/>
        </p:txBody>
      </p:sp>
      <p:sp>
        <p:nvSpPr>
          <p:cNvPr id="53" name="Text 51"/>
          <p:cNvSpPr/>
          <p:nvPr/>
        </p:nvSpPr>
        <p:spPr>
          <a:xfrm>
            <a:off x="9390888" y="3337560"/>
            <a:ext cx="1197864" cy="274320"/>
          </a:xfrm>
          <a:prstGeom prst="rect">
            <a:avLst/>
          </a:prstGeom>
          <a:noFill/>
          <a:ln/>
        </p:spPr>
        <p:txBody>
          <a:bodyPr wrap="square" lIns="0" tIns="0" rIns="0" bIns="0" rtlCol="0" anchor="ctr">
            <a:normAutofit/>
          </a:bodyPr>
          <a:lstStyle/>
          <a:p>
            <a:pPr indent="0" marL="0">
              <a:buNone/>
            </a:pPr>
            <a:r>
              <a:rPr lang="en-US" sz="950" dirty="0">
                <a:solidFill>
                  <a:srgbClr val="E7A83E"/>
                </a:solidFill>
              </a:rPr>
              <a:t>Medium</a:t>
            </a:r>
            <a:endParaRPr lang="en-US" sz="950" dirty="0"/>
          </a:p>
        </p:txBody>
      </p:sp>
      <p:sp>
        <p:nvSpPr>
          <p:cNvPr id="54" name="Shape 52"/>
          <p:cNvSpPr/>
          <p:nvPr/>
        </p:nvSpPr>
        <p:spPr>
          <a:xfrm>
            <a:off x="502920" y="3831336"/>
            <a:ext cx="2057400" cy="658368"/>
          </a:xfrm>
          <a:prstGeom prst="rect">
            <a:avLst/>
          </a:prstGeom>
          <a:solidFill>
            <a:srgbClr val="FFFFFF"/>
          </a:solidFill>
          <a:ln w="6350">
            <a:solidFill>
              <a:srgbClr val="D9E0E3"/>
            </a:solidFill>
            <a:prstDash val="solid"/>
          </a:ln>
        </p:spPr>
        <p:txBody>
          <a:bodyPr/>
          <a:p/>
        </p:txBody>
      </p:sp>
      <p:sp>
        <p:nvSpPr>
          <p:cNvPr id="55" name="Text 53"/>
          <p:cNvSpPr/>
          <p:nvPr/>
        </p:nvSpPr>
        <p:spPr>
          <a:xfrm>
            <a:off x="566928" y="3995928"/>
            <a:ext cx="1929384" cy="274320"/>
          </a:xfrm>
          <a:prstGeom prst="rect">
            <a:avLst/>
          </a:prstGeom>
          <a:noFill/>
          <a:ln/>
        </p:spPr>
        <p:txBody>
          <a:bodyPr wrap="square" lIns="0" tIns="0" rIns="0" bIns="0" rtlCol="0" anchor="ctr">
            <a:normAutofit/>
          </a:bodyPr>
          <a:lstStyle/>
          <a:p>
            <a:pPr indent="0" marL="0">
              <a:buNone/>
            </a:pPr>
            <a:r>
              <a:rPr lang="en-US" sz="950" b="1" dirty="0">
                <a:solidFill>
                  <a:srgbClr val="182026"/>
                </a:solidFill>
              </a:rPr>
              <a:t>AI recommendations</a:t>
            </a:r>
            <a:endParaRPr lang="en-US" sz="950" dirty="0"/>
          </a:p>
        </p:txBody>
      </p:sp>
      <p:sp>
        <p:nvSpPr>
          <p:cNvPr id="56" name="Shape 54"/>
          <p:cNvSpPr/>
          <p:nvPr/>
        </p:nvSpPr>
        <p:spPr>
          <a:xfrm>
            <a:off x="2560320" y="3831336"/>
            <a:ext cx="1828800" cy="658368"/>
          </a:xfrm>
          <a:prstGeom prst="rect">
            <a:avLst/>
          </a:prstGeom>
          <a:solidFill>
            <a:srgbClr val="FFFFFF"/>
          </a:solidFill>
          <a:ln w="6350">
            <a:solidFill>
              <a:srgbClr val="D9E0E3"/>
            </a:solidFill>
            <a:prstDash val="solid"/>
          </a:ln>
        </p:spPr>
        <p:txBody>
          <a:bodyPr/>
          <a:p/>
        </p:txBody>
      </p:sp>
      <p:sp>
        <p:nvSpPr>
          <p:cNvPr id="57" name="Text 55"/>
          <p:cNvSpPr/>
          <p:nvPr/>
        </p:nvSpPr>
        <p:spPr>
          <a:xfrm>
            <a:off x="2624328" y="3995928"/>
            <a:ext cx="170078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Differentiation</a:t>
            </a:r>
            <a:endParaRPr lang="en-US" sz="950" dirty="0"/>
          </a:p>
        </p:txBody>
      </p:sp>
      <p:sp>
        <p:nvSpPr>
          <p:cNvPr id="58" name="Shape 56"/>
          <p:cNvSpPr/>
          <p:nvPr/>
        </p:nvSpPr>
        <p:spPr>
          <a:xfrm>
            <a:off x="4389120" y="3831336"/>
            <a:ext cx="1051560" cy="658368"/>
          </a:xfrm>
          <a:prstGeom prst="rect">
            <a:avLst/>
          </a:prstGeom>
          <a:solidFill>
            <a:srgbClr val="FFFFFF"/>
          </a:solidFill>
          <a:ln w="6350">
            <a:solidFill>
              <a:srgbClr val="D9E0E3"/>
            </a:solidFill>
            <a:prstDash val="solid"/>
          </a:ln>
        </p:spPr>
        <p:txBody>
          <a:bodyPr/>
          <a:p/>
        </p:txBody>
      </p:sp>
      <p:sp>
        <p:nvSpPr>
          <p:cNvPr id="59" name="Text 57"/>
          <p:cNvSpPr/>
          <p:nvPr/>
        </p:nvSpPr>
        <p:spPr>
          <a:xfrm>
            <a:off x="4453128" y="3995928"/>
            <a:ext cx="9235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Q2</a:t>
            </a:r>
            <a:endParaRPr lang="en-US" sz="950" dirty="0"/>
          </a:p>
        </p:txBody>
      </p:sp>
      <p:sp>
        <p:nvSpPr>
          <p:cNvPr id="60" name="Shape 58"/>
          <p:cNvSpPr/>
          <p:nvPr/>
        </p:nvSpPr>
        <p:spPr>
          <a:xfrm>
            <a:off x="5440680" y="3831336"/>
            <a:ext cx="1965960" cy="658368"/>
          </a:xfrm>
          <a:prstGeom prst="rect">
            <a:avLst/>
          </a:prstGeom>
          <a:solidFill>
            <a:srgbClr val="FFFFFF"/>
          </a:solidFill>
          <a:ln w="6350">
            <a:solidFill>
              <a:srgbClr val="D9E0E3"/>
            </a:solidFill>
            <a:prstDash val="solid"/>
          </a:ln>
        </p:spPr>
        <p:txBody>
          <a:bodyPr/>
          <a:p/>
        </p:txBody>
      </p:sp>
      <p:sp>
        <p:nvSpPr>
          <p:cNvPr id="61" name="Text 59"/>
          <p:cNvSpPr/>
          <p:nvPr/>
        </p:nvSpPr>
        <p:spPr>
          <a:xfrm>
            <a:off x="5504688" y="3995928"/>
            <a:ext cx="18379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Problem validated</a:t>
            </a:r>
            <a:endParaRPr lang="en-US" sz="950" dirty="0"/>
          </a:p>
        </p:txBody>
      </p:sp>
      <p:sp>
        <p:nvSpPr>
          <p:cNvPr id="62" name="Shape 60"/>
          <p:cNvSpPr/>
          <p:nvPr/>
        </p:nvSpPr>
        <p:spPr>
          <a:xfrm>
            <a:off x="7406640" y="3831336"/>
            <a:ext cx="1920240" cy="658368"/>
          </a:xfrm>
          <a:prstGeom prst="rect">
            <a:avLst/>
          </a:prstGeom>
          <a:solidFill>
            <a:srgbClr val="FFFFFF"/>
          </a:solidFill>
          <a:ln w="6350">
            <a:solidFill>
              <a:srgbClr val="D9E0E3"/>
            </a:solidFill>
            <a:prstDash val="solid"/>
          </a:ln>
        </p:spPr>
        <p:txBody>
          <a:bodyPr/>
          <a:p/>
        </p:txBody>
      </p:sp>
      <p:sp>
        <p:nvSpPr>
          <p:cNvPr id="63" name="Text 61"/>
          <p:cNvSpPr/>
          <p:nvPr/>
        </p:nvSpPr>
        <p:spPr>
          <a:xfrm>
            <a:off x="7470648" y="3995928"/>
            <a:ext cx="179222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Q2</a:t>
            </a:r>
            <a:endParaRPr lang="en-US" sz="950" dirty="0"/>
          </a:p>
        </p:txBody>
      </p:sp>
      <p:sp>
        <p:nvSpPr>
          <p:cNvPr id="64" name="Shape 62"/>
          <p:cNvSpPr/>
          <p:nvPr/>
        </p:nvSpPr>
        <p:spPr>
          <a:xfrm>
            <a:off x="9326880" y="3831336"/>
            <a:ext cx="1325880" cy="658368"/>
          </a:xfrm>
          <a:prstGeom prst="rect">
            <a:avLst/>
          </a:prstGeom>
          <a:solidFill>
            <a:srgbClr val="FFFFFF"/>
          </a:solidFill>
          <a:ln w="6350">
            <a:solidFill>
              <a:srgbClr val="D9E0E3"/>
            </a:solidFill>
            <a:prstDash val="solid"/>
          </a:ln>
        </p:spPr>
        <p:txBody>
          <a:bodyPr/>
          <a:p/>
        </p:txBody>
      </p:sp>
      <p:sp>
        <p:nvSpPr>
          <p:cNvPr id="65" name="Text 63"/>
          <p:cNvSpPr/>
          <p:nvPr/>
        </p:nvSpPr>
        <p:spPr>
          <a:xfrm>
            <a:off x="9390888" y="3995928"/>
            <a:ext cx="1197864" cy="274320"/>
          </a:xfrm>
          <a:prstGeom prst="rect">
            <a:avLst/>
          </a:prstGeom>
          <a:noFill/>
          <a:ln/>
        </p:spPr>
        <p:txBody>
          <a:bodyPr wrap="square" lIns="0" tIns="0" rIns="0" bIns="0" rtlCol="0" anchor="ctr">
            <a:normAutofit/>
          </a:bodyPr>
          <a:lstStyle/>
          <a:p>
            <a:pPr indent="0" marL="0">
              <a:buNone/>
            </a:pPr>
            <a:r>
              <a:rPr lang="en-US" sz="950" dirty="0">
                <a:solidFill>
                  <a:srgbClr val="66747D"/>
                </a:solidFill>
              </a:rPr>
              <a:t>Low</a:t>
            </a:r>
            <a:endParaRPr lang="en-US" sz="950" dirty="0"/>
          </a:p>
        </p:txBody>
      </p:sp>
      <p:sp>
        <p:nvSpPr>
          <p:cNvPr id="66" name="Shape 64"/>
          <p:cNvSpPr/>
          <p:nvPr/>
        </p:nvSpPr>
        <p:spPr>
          <a:xfrm>
            <a:off x="502920" y="4489704"/>
            <a:ext cx="2057400" cy="658368"/>
          </a:xfrm>
          <a:prstGeom prst="rect">
            <a:avLst/>
          </a:prstGeom>
          <a:solidFill>
            <a:srgbClr val="F5F7F8"/>
          </a:solidFill>
          <a:ln w="6350">
            <a:solidFill>
              <a:srgbClr val="D9E0E3"/>
            </a:solidFill>
            <a:prstDash val="solid"/>
          </a:ln>
        </p:spPr>
        <p:txBody>
          <a:bodyPr/>
          <a:p/>
        </p:txBody>
      </p:sp>
      <p:sp>
        <p:nvSpPr>
          <p:cNvPr id="67" name="Text 65"/>
          <p:cNvSpPr/>
          <p:nvPr/>
        </p:nvSpPr>
        <p:spPr>
          <a:xfrm>
            <a:off x="566928" y="4654296"/>
            <a:ext cx="1929384" cy="274320"/>
          </a:xfrm>
          <a:prstGeom prst="rect">
            <a:avLst/>
          </a:prstGeom>
          <a:noFill/>
          <a:ln/>
        </p:spPr>
        <p:txBody>
          <a:bodyPr wrap="square" lIns="0" tIns="0" rIns="0" bIns="0" rtlCol="0" anchor="ctr">
            <a:normAutofit/>
          </a:bodyPr>
          <a:lstStyle/>
          <a:p>
            <a:pPr indent="0" marL="0">
              <a:buNone/>
            </a:pPr>
            <a:r>
              <a:rPr lang="en-US" sz="950" b="1" dirty="0">
                <a:solidFill>
                  <a:srgbClr val="182026"/>
                </a:solidFill>
              </a:rPr>
              <a:t>Agentic workflows</a:t>
            </a:r>
            <a:endParaRPr lang="en-US" sz="950" dirty="0"/>
          </a:p>
        </p:txBody>
      </p:sp>
      <p:sp>
        <p:nvSpPr>
          <p:cNvPr id="68" name="Shape 66"/>
          <p:cNvSpPr/>
          <p:nvPr/>
        </p:nvSpPr>
        <p:spPr>
          <a:xfrm>
            <a:off x="2560320" y="4489704"/>
            <a:ext cx="1828800" cy="658368"/>
          </a:xfrm>
          <a:prstGeom prst="rect">
            <a:avLst/>
          </a:prstGeom>
          <a:solidFill>
            <a:srgbClr val="F5F7F8"/>
          </a:solidFill>
          <a:ln w="6350">
            <a:solidFill>
              <a:srgbClr val="D9E0E3"/>
            </a:solidFill>
            <a:prstDash val="solid"/>
          </a:ln>
        </p:spPr>
        <p:txBody>
          <a:bodyPr/>
          <a:p/>
        </p:txBody>
      </p:sp>
      <p:sp>
        <p:nvSpPr>
          <p:cNvPr id="69" name="Text 67"/>
          <p:cNvSpPr/>
          <p:nvPr/>
        </p:nvSpPr>
        <p:spPr>
          <a:xfrm>
            <a:off x="2624328" y="4654296"/>
            <a:ext cx="170078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New workflows</a:t>
            </a:r>
            <a:endParaRPr lang="en-US" sz="950" dirty="0"/>
          </a:p>
        </p:txBody>
      </p:sp>
      <p:sp>
        <p:nvSpPr>
          <p:cNvPr id="70" name="Shape 68"/>
          <p:cNvSpPr/>
          <p:nvPr/>
        </p:nvSpPr>
        <p:spPr>
          <a:xfrm>
            <a:off x="4389120" y="4489704"/>
            <a:ext cx="1051560" cy="658368"/>
          </a:xfrm>
          <a:prstGeom prst="rect">
            <a:avLst/>
          </a:prstGeom>
          <a:solidFill>
            <a:srgbClr val="F5F7F8"/>
          </a:solidFill>
          <a:ln w="6350">
            <a:solidFill>
              <a:srgbClr val="D9E0E3"/>
            </a:solidFill>
            <a:prstDash val="solid"/>
          </a:ln>
        </p:spPr>
        <p:txBody>
          <a:bodyPr/>
          <a:p/>
        </p:txBody>
      </p:sp>
      <p:sp>
        <p:nvSpPr>
          <p:cNvPr id="71" name="Text 69"/>
          <p:cNvSpPr/>
          <p:nvPr/>
        </p:nvSpPr>
        <p:spPr>
          <a:xfrm>
            <a:off x="4453128" y="4654296"/>
            <a:ext cx="9235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Q3</a:t>
            </a:r>
            <a:endParaRPr lang="en-US" sz="950" dirty="0"/>
          </a:p>
        </p:txBody>
      </p:sp>
      <p:sp>
        <p:nvSpPr>
          <p:cNvPr id="72" name="Shape 70"/>
          <p:cNvSpPr/>
          <p:nvPr/>
        </p:nvSpPr>
        <p:spPr>
          <a:xfrm>
            <a:off x="5440680" y="4489704"/>
            <a:ext cx="1965960" cy="658368"/>
          </a:xfrm>
          <a:prstGeom prst="rect">
            <a:avLst/>
          </a:prstGeom>
          <a:solidFill>
            <a:srgbClr val="F5F7F8"/>
          </a:solidFill>
          <a:ln w="6350">
            <a:solidFill>
              <a:srgbClr val="D9E0E3"/>
            </a:solidFill>
            <a:prstDash val="solid"/>
          </a:ln>
        </p:spPr>
        <p:txBody>
          <a:bodyPr/>
          <a:p/>
        </p:txBody>
      </p:sp>
      <p:sp>
        <p:nvSpPr>
          <p:cNvPr id="73" name="Text 71"/>
          <p:cNvSpPr/>
          <p:nvPr/>
        </p:nvSpPr>
        <p:spPr>
          <a:xfrm>
            <a:off x="5504688" y="4654296"/>
            <a:ext cx="183794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Hypothesis</a:t>
            </a:r>
            <a:endParaRPr lang="en-US" sz="950" dirty="0"/>
          </a:p>
        </p:txBody>
      </p:sp>
      <p:sp>
        <p:nvSpPr>
          <p:cNvPr id="74" name="Shape 72"/>
          <p:cNvSpPr/>
          <p:nvPr/>
        </p:nvSpPr>
        <p:spPr>
          <a:xfrm>
            <a:off x="7406640" y="4489704"/>
            <a:ext cx="1920240" cy="658368"/>
          </a:xfrm>
          <a:prstGeom prst="rect">
            <a:avLst/>
          </a:prstGeom>
          <a:solidFill>
            <a:srgbClr val="F5F7F8"/>
          </a:solidFill>
          <a:ln w="6350">
            <a:solidFill>
              <a:srgbClr val="D9E0E3"/>
            </a:solidFill>
            <a:prstDash val="solid"/>
          </a:ln>
        </p:spPr>
        <p:txBody>
          <a:bodyPr/>
          <a:p/>
        </p:txBody>
      </p:sp>
      <p:sp>
        <p:nvSpPr>
          <p:cNvPr id="75" name="Text 73"/>
          <p:cNvSpPr/>
          <p:nvPr/>
        </p:nvSpPr>
        <p:spPr>
          <a:xfrm>
            <a:off x="7470648" y="4654296"/>
            <a:ext cx="1792224" cy="274320"/>
          </a:xfrm>
          <a:prstGeom prst="rect">
            <a:avLst/>
          </a:prstGeom>
          <a:noFill/>
          <a:ln/>
        </p:spPr>
        <p:txBody>
          <a:bodyPr wrap="square" lIns="0" tIns="0" rIns="0" bIns="0" rtlCol="0" anchor="ctr">
            <a:normAutofit/>
          </a:bodyPr>
          <a:lstStyle/>
          <a:p>
            <a:pPr indent="0" marL="0">
              <a:buNone/>
            </a:pPr>
            <a:r>
              <a:rPr lang="en-US" sz="950" dirty="0">
                <a:solidFill>
                  <a:srgbClr val="182026"/>
                </a:solidFill>
              </a:rPr>
              <a:t>—</a:t>
            </a:r>
            <a:endParaRPr lang="en-US" sz="950" dirty="0"/>
          </a:p>
        </p:txBody>
      </p:sp>
      <p:sp>
        <p:nvSpPr>
          <p:cNvPr id="76" name="Shape 74"/>
          <p:cNvSpPr/>
          <p:nvPr/>
        </p:nvSpPr>
        <p:spPr>
          <a:xfrm>
            <a:off x="9326880" y="4489704"/>
            <a:ext cx="1325880" cy="658368"/>
          </a:xfrm>
          <a:prstGeom prst="rect">
            <a:avLst/>
          </a:prstGeom>
          <a:solidFill>
            <a:srgbClr val="F5F7F8"/>
          </a:solidFill>
          <a:ln w="6350">
            <a:solidFill>
              <a:srgbClr val="D9E0E3"/>
            </a:solidFill>
            <a:prstDash val="solid"/>
          </a:ln>
        </p:spPr>
        <p:txBody>
          <a:bodyPr/>
          <a:p/>
        </p:txBody>
      </p:sp>
      <p:sp>
        <p:nvSpPr>
          <p:cNvPr id="77" name="Text 75"/>
          <p:cNvSpPr/>
          <p:nvPr/>
        </p:nvSpPr>
        <p:spPr>
          <a:xfrm>
            <a:off x="9390888" y="4654296"/>
            <a:ext cx="1197864" cy="274320"/>
          </a:xfrm>
          <a:prstGeom prst="rect">
            <a:avLst/>
          </a:prstGeom>
          <a:noFill/>
          <a:ln/>
        </p:spPr>
        <p:txBody>
          <a:bodyPr wrap="square" lIns="0" tIns="0" rIns="0" bIns="0" rtlCol="0" anchor="ctr">
            <a:normAutofit/>
          </a:bodyPr>
          <a:lstStyle/>
          <a:p>
            <a:pPr indent="0" marL="0">
              <a:buNone/>
            </a:pPr>
            <a:r>
              <a:rPr lang="en-US" sz="950" dirty="0">
                <a:solidFill>
                  <a:srgbClr val="66747D"/>
                </a:solidFill>
              </a:rPr>
              <a:t>Very low</a:t>
            </a:r>
            <a:endParaRPr lang="en-US" sz="950" dirty="0"/>
          </a:p>
        </p:txBody>
      </p:sp>
      <p:sp>
        <p:nvSpPr>
          <p:cNvPr id="78" name="Text 76"/>
          <p:cNvSpPr/>
          <p:nvPr/>
        </p:nvSpPr>
        <p:spPr>
          <a:xfrm>
            <a:off x="914400" y="5394960"/>
            <a:ext cx="10332720" cy="411480"/>
          </a:xfrm>
          <a:prstGeom prst="rect">
            <a:avLst/>
          </a:prstGeom>
          <a:noFill/>
          <a:ln/>
        </p:spPr>
        <p:txBody>
          <a:bodyPr wrap="square" lIns="0" tIns="0" rIns="0" bIns="0" rtlCol="0" anchor="ctr"/>
          <a:lstStyle/>
          <a:p>
            <a:pPr algn="ctr" indent="0" marL="0">
              <a:buNone/>
            </a:pPr>
            <a:r>
              <a:rPr lang="en-US" sz="1700" b="1" dirty="0">
                <a:solidFill>
                  <a:srgbClr val="123047"/>
                </a:solidFill>
              </a:rPr>
              <a:t>The CEO can now separate “why are we investing?” from “how certain is the date?”</a:t>
            </a:r>
            <a:endParaRPr lang="en-US" sz="1700" dirty="0"/>
          </a:p>
        </p:txBody>
      </p:sp>
      <p:sp>
        <p:nvSpPr>
          <p:cNvPr id="79" name="Text 77"/>
          <p:cNvSpPr/>
          <p:nvPr/>
        </p:nvSpPr>
        <p:spPr>
          <a:xfrm>
            <a:off x="11201400" y="6473952"/>
            <a:ext cx="320040" cy="182880"/>
          </a:xfrm>
          <a:prstGeom prst="rect">
            <a:avLst/>
          </a:prstGeom>
          <a:noFill/>
          <a:ln/>
        </p:spPr>
        <p:txBody>
          <a:bodyPr wrap="square" lIns="0" tIns="0" rIns="0" bIns="0" rtlCol="0" anchor="ctr"/>
          <a:lstStyle/>
          <a:p>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SALES VIEW</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Sales needs a communication contract, not unrestricted access to roadmap dates</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640080" y="1600200"/>
            <a:ext cx="2423160" cy="2788920"/>
          </a:xfrm>
          <a:prstGeom prst="roundRect">
            <a:avLst/>
          </a:prstGeom>
          <a:solidFill>
            <a:srgbClr val="F6F8F9"/>
          </a:solidFill>
          <a:ln w="12700">
            <a:solidFill>
              <a:srgbClr val="D9E0E3"/>
            </a:solidFill>
            <a:prstDash val="solid"/>
          </a:ln>
        </p:spPr>
        <p:txBody>
          <a:bodyPr/>
          <a:p/>
        </p:txBody>
      </p:sp>
      <p:sp>
        <p:nvSpPr>
          <p:cNvPr id="7" name="Shape 5"/>
          <p:cNvSpPr/>
          <p:nvPr/>
        </p:nvSpPr>
        <p:spPr>
          <a:xfrm>
            <a:off x="1051560" y="1847088"/>
            <a:ext cx="1600200" cy="310896"/>
          </a:xfrm>
          <a:prstGeom prst="roundRect">
            <a:avLst>
              <a:gd name="adj" fmla="val 23529"/>
            </a:avLst>
          </a:prstGeom>
          <a:solidFill>
            <a:srgbClr val="66747D"/>
          </a:solidFill>
          <a:ln w="12700">
            <a:solidFill>
              <a:srgbClr val="66747D"/>
            </a:solidFill>
            <a:prstDash val="solid"/>
          </a:ln>
        </p:spPr>
        <p:txBody>
          <a:bodyPr/>
          <a:p/>
        </p:txBody>
      </p:sp>
      <p:sp>
        <p:nvSpPr>
          <p:cNvPr id="8" name="Text 6"/>
          <p:cNvSpPr/>
          <p:nvPr/>
        </p:nvSpPr>
        <p:spPr>
          <a:xfrm>
            <a:off x="1124712" y="1883664"/>
            <a:ext cx="1453896" cy="182880"/>
          </a:xfrm>
          <a:prstGeom prst="rect">
            <a:avLst/>
          </a:prstGeom>
          <a:noFill/>
          <a:ln/>
        </p:spPr>
        <p:txBody>
          <a:bodyPr wrap="square" lIns="0" tIns="0" rIns="0" bIns="0" rtlCol="0" anchor="ctr"/>
          <a:lstStyle/>
          <a:p>
            <a:pPr algn="ctr" indent="0" marL="0">
              <a:buNone/>
            </a:pPr>
            <a:r>
              <a:rPr lang="en-US" sz="900" b="1" dirty="0">
                <a:solidFill>
                  <a:srgbClr val="FFFFFF"/>
                </a:solidFill>
              </a:rPr>
              <a:t>VISION</a:t>
            </a:r>
            <a:endParaRPr lang="en-US" sz="900" dirty="0"/>
          </a:p>
        </p:txBody>
      </p:sp>
      <p:sp>
        <p:nvSpPr>
          <p:cNvPr id="9" name="Text 7"/>
          <p:cNvSpPr/>
          <p:nvPr/>
        </p:nvSpPr>
        <p:spPr>
          <a:xfrm>
            <a:off x="868680" y="2487168"/>
            <a:ext cx="1965960" cy="411480"/>
          </a:xfrm>
          <a:prstGeom prst="rect">
            <a:avLst/>
          </a:prstGeom>
          <a:noFill/>
          <a:ln/>
        </p:spPr>
        <p:txBody>
          <a:bodyPr wrap="square" lIns="0" tIns="0" rIns="0" bIns="0" rtlCol="0" anchor="ctr"/>
          <a:lstStyle/>
          <a:p>
            <a:pPr algn="ctr" indent="0" marL="0">
              <a:buNone/>
            </a:pPr>
            <a:r>
              <a:rPr lang="en-US" sz="1400" b="1" dirty="0">
                <a:solidFill>
                  <a:srgbClr val="123047"/>
                </a:solidFill>
              </a:rPr>
              <a:t>Discuss direction</a:t>
            </a:r>
            <a:endParaRPr lang="en-US" sz="1400" dirty="0"/>
          </a:p>
        </p:txBody>
      </p:sp>
      <p:sp>
        <p:nvSpPr>
          <p:cNvPr id="10" name="Shape 8"/>
          <p:cNvSpPr/>
          <p:nvPr/>
        </p:nvSpPr>
        <p:spPr>
          <a:xfrm>
            <a:off x="1005840" y="3090672"/>
            <a:ext cx="1691640" cy="0"/>
          </a:xfrm>
          <a:prstGeom prst="line">
            <a:avLst/>
          </a:prstGeom>
          <a:noFill/>
          <a:ln w="12700">
            <a:solidFill>
              <a:srgbClr val="D6DEE2"/>
            </a:solidFill>
            <a:prstDash val="solid"/>
          </a:ln>
        </p:spPr>
        <p:txBody>
          <a:bodyPr/>
          <a:p/>
        </p:txBody>
      </p:sp>
      <p:sp>
        <p:nvSpPr>
          <p:cNvPr id="11" name="Text 9"/>
          <p:cNvSpPr/>
          <p:nvPr/>
        </p:nvSpPr>
        <p:spPr>
          <a:xfrm>
            <a:off x="914400" y="3401568"/>
            <a:ext cx="1874520" cy="502920"/>
          </a:xfrm>
          <a:prstGeom prst="rect">
            <a:avLst/>
          </a:prstGeom>
          <a:noFill/>
          <a:ln/>
        </p:spPr>
        <p:txBody>
          <a:bodyPr wrap="square" lIns="0" tIns="0" rIns="0" bIns="0" rtlCol="0" anchor="ctr"/>
          <a:lstStyle/>
          <a:p>
            <a:pPr algn="ctr" indent="0" marL="0">
              <a:buNone/>
            </a:pPr>
            <a:r>
              <a:rPr lang="en-US" sz="1100" dirty="0">
                <a:solidFill>
                  <a:srgbClr val="66747D"/>
                </a:solidFill>
              </a:rPr>
              <a:t>No delivery promise</a:t>
            </a:r>
            <a:endParaRPr lang="en-US" sz="1100" dirty="0"/>
          </a:p>
        </p:txBody>
      </p:sp>
      <p:sp>
        <p:nvSpPr>
          <p:cNvPr id="12" name="Shape 10"/>
          <p:cNvSpPr/>
          <p:nvPr/>
        </p:nvSpPr>
        <p:spPr>
          <a:xfrm>
            <a:off x="3456432" y="1600200"/>
            <a:ext cx="2423160" cy="2788920"/>
          </a:xfrm>
          <a:prstGeom prst="roundRect">
            <a:avLst/>
          </a:prstGeom>
          <a:solidFill>
            <a:srgbClr val="F6F8F9"/>
          </a:solidFill>
          <a:ln w="12700">
            <a:solidFill>
              <a:srgbClr val="D9E0E3"/>
            </a:solidFill>
            <a:prstDash val="solid"/>
          </a:ln>
        </p:spPr>
        <p:txBody>
          <a:bodyPr/>
          <a:p/>
        </p:txBody>
      </p:sp>
      <p:sp>
        <p:nvSpPr>
          <p:cNvPr id="13" name="Shape 11"/>
          <p:cNvSpPr/>
          <p:nvPr/>
        </p:nvSpPr>
        <p:spPr>
          <a:xfrm>
            <a:off x="3867912" y="1847088"/>
            <a:ext cx="1600200" cy="310896"/>
          </a:xfrm>
          <a:prstGeom prst="roundRect">
            <a:avLst>
              <a:gd name="adj" fmla="val 23529"/>
            </a:avLst>
          </a:prstGeom>
          <a:solidFill>
            <a:srgbClr val="00787D"/>
          </a:solidFill>
          <a:ln w="12700">
            <a:solidFill>
              <a:srgbClr val="00787D"/>
            </a:solidFill>
            <a:prstDash val="solid"/>
          </a:ln>
        </p:spPr>
        <p:txBody>
          <a:bodyPr/>
          <a:p/>
        </p:txBody>
      </p:sp>
      <p:sp>
        <p:nvSpPr>
          <p:cNvPr id="14" name="Text 12"/>
          <p:cNvSpPr/>
          <p:nvPr/>
        </p:nvSpPr>
        <p:spPr>
          <a:xfrm>
            <a:off x="3941064" y="1883664"/>
            <a:ext cx="1453896" cy="182880"/>
          </a:xfrm>
          <a:prstGeom prst="rect">
            <a:avLst/>
          </a:prstGeom>
          <a:noFill/>
          <a:ln/>
        </p:spPr>
        <p:txBody>
          <a:bodyPr wrap="square" lIns="0" tIns="0" rIns="0" bIns="0" rtlCol="0" anchor="ctr"/>
          <a:lstStyle/>
          <a:p>
            <a:pPr algn="ctr" indent="0" marL="0">
              <a:buNone/>
            </a:pPr>
            <a:r>
              <a:rPr lang="en-US" sz="900" b="1" dirty="0">
                <a:solidFill>
                  <a:srgbClr val="FFFFFF"/>
                </a:solidFill>
              </a:rPr>
              <a:t>PLANNED</a:t>
            </a:r>
            <a:endParaRPr lang="en-US" sz="900" dirty="0"/>
          </a:p>
        </p:txBody>
      </p:sp>
      <p:sp>
        <p:nvSpPr>
          <p:cNvPr id="15" name="Text 13"/>
          <p:cNvSpPr/>
          <p:nvPr/>
        </p:nvSpPr>
        <p:spPr>
          <a:xfrm>
            <a:off x="3685032" y="2487168"/>
            <a:ext cx="1965960" cy="411480"/>
          </a:xfrm>
          <a:prstGeom prst="rect">
            <a:avLst/>
          </a:prstGeom>
          <a:noFill/>
          <a:ln/>
        </p:spPr>
        <p:txBody>
          <a:bodyPr wrap="square" lIns="0" tIns="0" rIns="0" bIns="0" rtlCol="0" anchor="ctr"/>
          <a:lstStyle/>
          <a:p>
            <a:pPr algn="ctr" indent="0" marL="0">
              <a:buNone/>
            </a:pPr>
            <a:r>
              <a:rPr lang="en-US" sz="1400" b="1" dirty="0">
                <a:solidFill>
                  <a:srgbClr val="123047"/>
                </a:solidFill>
              </a:rPr>
              <a:t>Discuss planned value</a:t>
            </a:r>
            <a:endParaRPr lang="en-US" sz="1400" dirty="0"/>
          </a:p>
        </p:txBody>
      </p:sp>
      <p:sp>
        <p:nvSpPr>
          <p:cNvPr id="16" name="Shape 14"/>
          <p:cNvSpPr/>
          <p:nvPr/>
        </p:nvSpPr>
        <p:spPr>
          <a:xfrm>
            <a:off x="3822192" y="3090672"/>
            <a:ext cx="1691640" cy="0"/>
          </a:xfrm>
          <a:prstGeom prst="line">
            <a:avLst/>
          </a:prstGeom>
          <a:noFill/>
          <a:ln w="12700">
            <a:solidFill>
              <a:srgbClr val="D6DEE2"/>
            </a:solidFill>
            <a:prstDash val="solid"/>
          </a:ln>
        </p:spPr>
        <p:txBody>
          <a:bodyPr/>
          <a:p/>
        </p:txBody>
      </p:sp>
      <p:sp>
        <p:nvSpPr>
          <p:cNvPr id="17" name="Text 15"/>
          <p:cNvSpPr/>
          <p:nvPr/>
        </p:nvSpPr>
        <p:spPr>
          <a:xfrm>
            <a:off x="3730752" y="3401568"/>
            <a:ext cx="1874520" cy="502920"/>
          </a:xfrm>
          <a:prstGeom prst="rect">
            <a:avLst/>
          </a:prstGeom>
          <a:noFill/>
          <a:ln/>
        </p:spPr>
        <p:txBody>
          <a:bodyPr wrap="square" lIns="0" tIns="0" rIns="0" bIns="0" rtlCol="0" anchor="ctr"/>
          <a:lstStyle/>
          <a:p>
            <a:pPr algn="ctr" indent="0" marL="0">
              <a:buNone/>
            </a:pPr>
            <a:r>
              <a:rPr lang="en-US" sz="1100" dirty="0">
                <a:solidFill>
                  <a:srgbClr val="66747D"/>
                </a:solidFill>
              </a:rPr>
              <a:t>Timing is indicative</a:t>
            </a:r>
            <a:endParaRPr lang="en-US" sz="1100" dirty="0"/>
          </a:p>
        </p:txBody>
      </p:sp>
      <p:sp>
        <p:nvSpPr>
          <p:cNvPr id="18" name="Shape 16"/>
          <p:cNvSpPr/>
          <p:nvPr/>
        </p:nvSpPr>
        <p:spPr>
          <a:xfrm>
            <a:off x="6272784" y="1600200"/>
            <a:ext cx="2423160" cy="2788920"/>
          </a:xfrm>
          <a:prstGeom prst="roundRect">
            <a:avLst/>
          </a:prstGeom>
          <a:solidFill>
            <a:srgbClr val="F6F8F9"/>
          </a:solidFill>
          <a:ln w="12700">
            <a:solidFill>
              <a:srgbClr val="D9E0E3"/>
            </a:solidFill>
            <a:prstDash val="solid"/>
          </a:ln>
        </p:spPr>
        <p:txBody>
          <a:bodyPr/>
          <a:p/>
        </p:txBody>
      </p:sp>
      <p:sp>
        <p:nvSpPr>
          <p:cNvPr id="19" name="Shape 17"/>
          <p:cNvSpPr/>
          <p:nvPr/>
        </p:nvSpPr>
        <p:spPr>
          <a:xfrm>
            <a:off x="6684264" y="1847088"/>
            <a:ext cx="1600200" cy="310896"/>
          </a:xfrm>
          <a:prstGeom prst="roundRect">
            <a:avLst>
              <a:gd name="adj" fmla="val 23529"/>
            </a:avLst>
          </a:prstGeom>
          <a:solidFill>
            <a:srgbClr val="E7A83E"/>
          </a:solidFill>
          <a:ln w="12700">
            <a:solidFill>
              <a:srgbClr val="E7A83E"/>
            </a:solidFill>
            <a:prstDash val="solid"/>
          </a:ln>
        </p:spPr>
        <p:txBody>
          <a:bodyPr/>
          <a:p/>
        </p:txBody>
      </p:sp>
      <p:sp>
        <p:nvSpPr>
          <p:cNvPr id="20" name="Text 18"/>
          <p:cNvSpPr/>
          <p:nvPr/>
        </p:nvSpPr>
        <p:spPr>
          <a:xfrm>
            <a:off x="6757416" y="1883664"/>
            <a:ext cx="1453896" cy="182880"/>
          </a:xfrm>
          <a:prstGeom prst="rect">
            <a:avLst/>
          </a:prstGeom>
          <a:noFill/>
          <a:ln/>
        </p:spPr>
        <p:txBody>
          <a:bodyPr wrap="square" lIns="0" tIns="0" rIns="0" bIns="0" rtlCol="0" anchor="ctr"/>
          <a:lstStyle/>
          <a:p>
            <a:pPr algn="ctr" indent="0" marL="0">
              <a:buNone/>
            </a:pPr>
            <a:r>
              <a:rPr lang="en-US" sz="900" b="1" dirty="0">
                <a:solidFill>
                  <a:srgbClr val="FFFFFF"/>
                </a:solidFill>
              </a:rPr>
              <a:t>FORECAST</a:t>
            </a:r>
            <a:endParaRPr lang="en-US" sz="900" dirty="0"/>
          </a:p>
        </p:txBody>
      </p:sp>
      <p:sp>
        <p:nvSpPr>
          <p:cNvPr id="21" name="Text 19"/>
          <p:cNvSpPr/>
          <p:nvPr/>
        </p:nvSpPr>
        <p:spPr>
          <a:xfrm>
            <a:off x="6501384" y="2487168"/>
            <a:ext cx="1965960" cy="411480"/>
          </a:xfrm>
          <a:prstGeom prst="rect">
            <a:avLst/>
          </a:prstGeom>
          <a:noFill/>
          <a:ln/>
        </p:spPr>
        <p:txBody>
          <a:bodyPr wrap="square" lIns="0" tIns="0" rIns="0" bIns="0" rtlCol="0" anchor="ctr"/>
          <a:lstStyle/>
          <a:p>
            <a:pPr algn="ctr" indent="0" marL="0">
              <a:buNone/>
            </a:pPr>
            <a:r>
              <a:rPr lang="en-US" sz="1400" b="1" dirty="0">
                <a:solidFill>
                  <a:srgbClr val="123047"/>
                </a:solidFill>
              </a:rPr>
              <a:t>Use approved range</a:t>
            </a:r>
            <a:endParaRPr lang="en-US" sz="1400" dirty="0"/>
          </a:p>
        </p:txBody>
      </p:sp>
      <p:sp>
        <p:nvSpPr>
          <p:cNvPr id="22" name="Shape 20"/>
          <p:cNvSpPr/>
          <p:nvPr/>
        </p:nvSpPr>
        <p:spPr>
          <a:xfrm>
            <a:off x="6638544" y="3090672"/>
            <a:ext cx="1691640" cy="0"/>
          </a:xfrm>
          <a:prstGeom prst="line">
            <a:avLst/>
          </a:prstGeom>
          <a:noFill/>
          <a:ln w="12700">
            <a:solidFill>
              <a:srgbClr val="D6DEE2"/>
            </a:solidFill>
            <a:prstDash val="solid"/>
          </a:ln>
        </p:spPr>
        <p:txBody>
          <a:bodyPr/>
          <a:p/>
        </p:txBody>
      </p:sp>
      <p:sp>
        <p:nvSpPr>
          <p:cNvPr id="23" name="Text 21"/>
          <p:cNvSpPr/>
          <p:nvPr/>
        </p:nvSpPr>
        <p:spPr>
          <a:xfrm>
            <a:off x="6547104" y="3401568"/>
            <a:ext cx="1874520" cy="502920"/>
          </a:xfrm>
          <a:prstGeom prst="rect">
            <a:avLst/>
          </a:prstGeom>
          <a:noFill/>
          <a:ln/>
        </p:spPr>
        <p:txBody>
          <a:bodyPr wrap="square" lIns="0" tIns="0" rIns="0" bIns="0" rtlCol="0" anchor="ctr"/>
          <a:lstStyle/>
          <a:p>
            <a:pPr algn="ctr" indent="0" marL="0">
              <a:buNone/>
            </a:pPr>
            <a:r>
              <a:rPr lang="en-US" sz="1100" dirty="0">
                <a:solidFill>
                  <a:srgbClr val="66747D"/>
                </a:solidFill>
              </a:rPr>
              <a:t>Still explicitly a forecast</a:t>
            </a:r>
            <a:endParaRPr lang="en-US" sz="1100" dirty="0"/>
          </a:p>
        </p:txBody>
      </p:sp>
      <p:sp>
        <p:nvSpPr>
          <p:cNvPr id="24" name="Shape 22"/>
          <p:cNvSpPr/>
          <p:nvPr/>
        </p:nvSpPr>
        <p:spPr>
          <a:xfrm>
            <a:off x="9089136" y="1600200"/>
            <a:ext cx="2423160" cy="2788920"/>
          </a:xfrm>
          <a:prstGeom prst="roundRect">
            <a:avLst/>
          </a:prstGeom>
          <a:solidFill>
            <a:srgbClr val="F6F8F9"/>
          </a:solidFill>
          <a:ln w="12700">
            <a:solidFill>
              <a:srgbClr val="D9E0E3"/>
            </a:solidFill>
            <a:prstDash val="solid"/>
          </a:ln>
        </p:spPr>
        <p:txBody>
          <a:bodyPr/>
          <a:p/>
        </p:txBody>
      </p:sp>
      <p:sp>
        <p:nvSpPr>
          <p:cNvPr id="25" name="Shape 23"/>
          <p:cNvSpPr/>
          <p:nvPr/>
        </p:nvSpPr>
        <p:spPr>
          <a:xfrm>
            <a:off x="9500616" y="1847088"/>
            <a:ext cx="1600200" cy="310896"/>
          </a:xfrm>
          <a:prstGeom prst="roundRect">
            <a:avLst>
              <a:gd name="adj" fmla="val 23529"/>
            </a:avLst>
          </a:prstGeom>
          <a:solidFill>
            <a:srgbClr val="2E7D5B"/>
          </a:solidFill>
          <a:ln w="12700">
            <a:solidFill>
              <a:srgbClr val="2E7D5B"/>
            </a:solidFill>
            <a:prstDash val="solid"/>
          </a:ln>
        </p:spPr>
        <p:txBody>
          <a:bodyPr/>
          <a:p/>
        </p:txBody>
      </p:sp>
      <p:sp>
        <p:nvSpPr>
          <p:cNvPr id="26" name="Text 24"/>
          <p:cNvSpPr/>
          <p:nvPr/>
        </p:nvSpPr>
        <p:spPr>
          <a:xfrm>
            <a:off x="9573768" y="1883664"/>
            <a:ext cx="1453896" cy="182880"/>
          </a:xfrm>
          <a:prstGeom prst="rect">
            <a:avLst/>
          </a:prstGeom>
          <a:noFill/>
          <a:ln/>
        </p:spPr>
        <p:txBody>
          <a:bodyPr wrap="square" lIns="0" tIns="0" rIns="0" bIns="0" rtlCol="0" anchor="ctr"/>
          <a:lstStyle/>
          <a:p>
            <a:pPr algn="ctr" indent="0" marL="0">
              <a:buNone/>
            </a:pPr>
            <a:r>
              <a:rPr lang="en-US" sz="900" b="1" dirty="0">
                <a:solidFill>
                  <a:srgbClr val="FFFFFF"/>
                </a:solidFill>
              </a:rPr>
              <a:t>COMMITTED</a:t>
            </a:r>
            <a:endParaRPr lang="en-US" sz="900" dirty="0"/>
          </a:p>
        </p:txBody>
      </p:sp>
      <p:sp>
        <p:nvSpPr>
          <p:cNvPr id="27" name="Text 25"/>
          <p:cNvSpPr/>
          <p:nvPr/>
        </p:nvSpPr>
        <p:spPr>
          <a:xfrm>
            <a:off x="9317736" y="2487168"/>
            <a:ext cx="1965960" cy="411480"/>
          </a:xfrm>
          <a:prstGeom prst="rect">
            <a:avLst/>
          </a:prstGeom>
          <a:noFill/>
          <a:ln/>
        </p:spPr>
        <p:txBody>
          <a:bodyPr wrap="square" lIns="0" tIns="0" rIns="0" bIns="0" rtlCol="0" anchor="ctr"/>
          <a:lstStyle/>
          <a:p>
            <a:pPr algn="ctr" indent="0" marL="0">
              <a:buNone/>
            </a:pPr>
            <a:r>
              <a:rPr lang="en-US" sz="1400" b="1" dirty="0">
                <a:solidFill>
                  <a:srgbClr val="123047"/>
                </a:solidFill>
              </a:rPr>
              <a:t>Approved date language</a:t>
            </a:r>
            <a:endParaRPr lang="en-US" sz="1400" dirty="0"/>
          </a:p>
        </p:txBody>
      </p:sp>
      <p:sp>
        <p:nvSpPr>
          <p:cNvPr id="28" name="Shape 26"/>
          <p:cNvSpPr/>
          <p:nvPr/>
        </p:nvSpPr>
        <p:spPr>
          <a:xfrm>
            <a:off x="9454896" y="3090672"/>
            <a:ext cx="1691640" cy="0"/>
          </a:xfrm>
          <a:prstGeom prst="line">
            <a:avLst/>
          </a:prstGeom>
          <a:noFill/>
          <a:ln w="12700">
            <a:solidFill>
              <a:srgbClr val="D6DEE2"/>
            </a:solidFill>
            <a:prstDash val="solid"/>
          </a:ln>
        </p:spPr>
        <p:txBody>
          <a:bodyPr/>
          <a:p/>
        </p:txBody>
      </p:sp>
      <p:sp>
        <p:nvSpPr>
          <p:cNvPr id="29" name="Text 27"/>
          <p:cNvSpPr/>
          <p:nvPr/>
        </p:nvSpPr>
        <p:spPr>
          <a:xfrm>
            <a:off x="9363456" y="3401568"/>
            <a:ext cx="1874520" cy="502920"/>
          </a:xfrm>
          <a:prstGeom prst="rect">
            <a:avLst/>
          </a:prstGeom>
          <a:noFill/>
          <a:ln/>
        </p:spPr>
        <p:txBody>
          <a:bodyPr wrap="square" lIns="0" tIns="0" rIns="0" bIns="0" rtlCol="0" anchor="ctr"/>
          <a:lstStyle/>
          <a:p>
            <a:pPr algn="ctr" indent="0" marL="0">
              <a:buNone/>
            </a:pPr>
            <a:r>
              <a:rPr lang="en-US" sz="1100" dirty="0">
                <a:solidFill>
                  <a:srgbClr val="66747D"/>
                </a:solidFill>
              </a:rPr>
              <a:t>Customer commitment allowed</a:t>
            </a:r>
            <a:endParaRPr lang="en-US" sz="1100" dirty="0"/>
          </a:p>
        </p:txBody>
      </p:sp>
      <p:sp>
        <p:nvSpPr>
          <p:cNvPr id="30" name="Text 28"/>
          <p:cNvSpPr/>
          <p:nvPr/>
        </p:nvSpPr>
        <p:spPr>
          <a:xfrm>
            <a:off x="914400" y="4983480"/>
            <a:ext cx="10332720" cy="411480"/>
          </a:xfrm>
          <a:prstGeom prst="rect">
            <a:avLst/>
          </a:prstGeom>
          <a:noFill/>
          <a:ln/>
        </p:spPr>
        <p:txBody>
          <a:bodyPr wrap="square" lIns="0" tIns="0" rIns="0" bIns="0" rtlCol="0" anchor="ctr"/>
          <a:lstStyle/>
          <a:p>
            <a:pPr algn="ctr" indent="0" marL="0">
              <a:buNone/>
            </a:pPr>
            <a:r>
              <a:rPr lang="en-US" sz="1900" b="1" dirty="0">
                <a:solidFill>
                  <a:srgbClr val="B4473A"/>
                </a:solidFill>
              </a:rPr>
              <a:t>Rule: Sales never converts “Q2 roadmap” into “available April 1.”</a:t>
            </a:r>
            <a:endParaRPr lang="en-US" sz="1900" dirty="0"/>
          </a:p>
        </p:txBody>
      </p:sp>
      <p:sp>
        <p:nvSpPr>
          <p:cNvPr id="31" name="Text 29"/>
          <p:cNvSpPr/>
          <p:nvPr/>
        </p:nvSpPr>
        <p:spPr>
          <a:xfrm>
            <a:off x="914400" y="5532120"/>
            <a:ext cx="10332720" cy="365760"/>
          </a:xfrm>
          <a:prstGeom prst="rect">
            <a:avLst/>
          </a:prstGeom>
          <a:noFill/>
          <a:ln/>
        </p:spPr>
        <p:txBody>
          <a:bodyPr wrap="square" lIns="0" tIns="0" rIns="0" bIns="0" rtlCol="0" anchor="ctr"/>
          <a:lstStyle/>
          <a:p>
            <a:pPr algn="ctr" indent="0" marL="0">
              <a:buNone/>
            </a:pPr>
            <a:r>
              <a:rPr lang="en-US" sz="1400" dirty="0">
                <a:solidFill>
                  <a:srgbClr val="66747D"/>
                </a:solidFill>
              </a:rPr>
              <a:t>For strategic deals, use an explicit exception/escalation path rather than informal promises.</a:t>
            </a:r>
            <a:endParaRPr lang="en-US" sz="1400" dirty="0"/>
          </a:p>
        </p:txBody>
      </p:sp>
      <p:sp>
        <p:nvSpPr>
          <p:cNvPr id="32" name="Text 30"/>
          <p:cNvSpPr/>
          <p:nvPr/>
        </p:nvSpPr>
        <p:spPr>
          <a:xfrm>
            <a:off x="11201400" y="6473952"/>
            <a:ext cx="320040" cy="182880"/>
          </a:xfrm>
          <a:prstGeom prst="rect">
            <a:avLst/>
          </a:prstGeom>
          <a:noFill/>
          <a:ln/>
        </p:spPr>
        <p:txBody>
          <a:bodyPr wrap="square" lIns="0" tIns="0" rIns="0" bIns="0" rtlCol="0" anchor="ctr"/>
          <a:lstStyle/>
          <a:p>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CTO VIEW</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The CTO gets the engineering integrity view</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868680" y="1417320"/>
            <a:ext cx="4892040" cy="621792"/>
          </a:xfrm>
          <a:prstGeom prst="roundRect">
            <a:avLst>
              <a:gd name="adj" fmla="val 8824"/>
            </a:avLst>
          </a:prstGeom>
          <a:solidFill>
            <a:srgbClr val="F3F5F6"/>
          </a:solidFill>
          <a:ln w="10160">
            <a:solidFill>
              <a:srgbClr val="D9E0E3"/>
            </a:solidFill>
            <a:prstDash val="solid"/>
          </a:ln>
        </p:spPr>
        <p:txBody>
          <a:bodyPr/>
          <a:p/>
        </p:txBody>
      </p:sp>
      <p:sp>
        <p:nvSpPr>
          <p:cNvPr id="7" name="Shape 5"/>
          <p:cNvSpPr/>
          <p:nvPr/>
        </p:nvSpPr>
        <p:spPr>
          <a:xfrm>
            <a:off x="868680" y="1417320"/>
            <a:ext cx="54864" cy="621792"/>
          </a:xfrm>
          <a:prstGeom prst="rect">
            <a:avLst/>
          </a:prstGeom>
          <a:solidFill>
            <a:srgbClr val="00787D"/>
          </a:solidFill>
          <a:ln w="12700">
            <a:solidFill>
              <a:srgbClr val="00787D"/>
            </a:solidFill>
            <a:prstDash val="solid"/>
          </a:ln>
        </p:spPr>
        <p:txBody>
          <a:bodyPr/>
          <a:p/>
        </p:txBody>
      </p:sp>
      <p:sp>
        <p:nvSpPr>
          <p:cNvPr id="8" name="Text 6"/>
          <p:cNvSpPr/>
          <p:nvPr/>
        </p:nvSpPr>
        <p:spPr>
          <a:xfrm>
            <a:off x="1069848" y="1563624"/>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Discovery maturity</a:t>
            </a:r>
            <a:endParaRPr lang="en-US" sz="1300" dirty="0"/>
          </a:p>
        </p:txBody>
      </p:sp>
      <p:sp>
        <p:nvSpPr>
          <p:cNvPr id="9" name="Text 7"/>
          <p:cNvSpPr/>
          <p:nvPr/>
        </p:nvSpPr>
        <p:spPr>
          <a:xfrm>
            <a:off x="1069848" y="1920240"/>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10" name="Shape 8"/>
          <p:cNvSpPr/>
          <p:nvPr/>
        </p:nvSpPr>
        <p:spPr>
          <a:xfrm>
            <a:off x="868680" y="2258568"/>
            <a:ext cx="4892040" cy="621792"/>
          </a:xfrm>
          <a:prstGeom prst="roundRect">
            <a:avLst>
              <a:gd name="adj" fmla="val 8824"/>
            </a:avLst>
          </a:prstGeom>
          <a:solidFill>
            <a:srgbClr val="FFFFFF"/>
          </a:solidFill>
          <a:ln w="10160">
            <a:solidFill>
              <a:srgbClr val="D9E0E3"/>
            </a:solidFill>
            <a:prstDash val="solid"/>
          </a:ln>
        </p:spPr>
        <p:txBody>
          <a:bodyPr/>
          <a:p/>
        </p:txBody>
      </p:sp>
      <p:sp>
        <p:nvSpPr>
          <p:cNvPr id="11" name="Shape 9"/>
          <p:cNvSpPr/>
          <p:nvPr/>
        </p:nvSpPr>
        <p:spPr>
          <a:xfrm>
            <a:off x="868680" y="2258568"/>
            <a:ext cx="54864" cy="621792"/>
          </a:xfrm>
          <a:prstGeom prst="rect">
            <a:avLst/>
          </a:prstGeom>
          <a:solidFill>
            <a:srgbClr val="00787D"/>
          </a:solidFill>
          <a:ln w="12700">
            <a:solidFill>
              <a:srgbClr val="00787D"/>
            </a:solidFill>
            <a:prstDash val="solid"/>
          </a:ln>
        </p:spPr>
        <p:txBody>
          <a:bodyPr/>
          <a:p/>
        </p:txBody>
      </p:sp>
      <p:sp>
        <p:nvSpPr>
          <p:cNvPr id="12" name="Text 10"/>
          <p:cNvSpPr/>
          <p:nvPr/>
        </p:nvSpPr>
        <p:spPr>
          <a:xfrm>
            <a:off x="1069848" y="2404872"/>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Artefact Ready</a:t>
            </a:r>
            <a:endParaRPr lang="en-US" sz="1300" dirty="0"/>
          </a:p>
        </p:txBody>
      </p:sp>
      <p:sp>
        <p:nvSpPr>
          <p:cNvPr id="13" name="Text 11"/>
          <p:cNvSpPr/>
          <p:nvPr/>
        </p:nvSpPr>
        <p:spPr>
          <a:xfrm>
            <a:off x="1069848" y="2761488"/>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14" name="Shape 12"/>
          <p:cNvSpPr/>
          <p:nvPr/>
        </p:nvSpPr>
        <p:spPr>
          <a:xfrm>
            <a:off x="868680" y="3099816"/>
            <a:ext cx="4892040" cy="621792"/>
          </a:xfrm>
          <a:prstGeom prst="roundRect">
            <a:avLst>
              <a:gd name="adj" fmla="val 8824"/>
            </a:avLst>
          </a:prstGeom>
          <a:solidFill>
            <a:srgbClr val="F3F5F6"/>
          </a:solidFill>
          <a:ln w="10160">
            <a:solidFill>
              <a:srgbClr val="D9E0E3"/>
            </a:solidFill>
            <a:prstDash val="solid"/>
          </a:ln>
        </p:spPr>
        <p:txBody>
          <a:bodyPr/>
          <a:p/>
        </p:txBody>
      </p:sp>
      <p:sp>
        <p:nvSpPr>
          <p:cNvPr id="15" name="Shape 13"/>
          <p:cNvSpPr/>
          <p:nvPr/>
        </p:nvSpPr>
        <p:spPr>
          <a:xfrm>
            <a:off x="868680" y="3099816"/>
            <a:ext cx="54864" cy="621792"/>
          </a:xfrm>
          <a:prstGeom prst="rect">
            <a:avLst/>
          </a:prstGeom>
          <a:solidFill>
            <a:srgbClr val="00787D"/>
          </a:solidFill>
          <a:ln w="12700">
            <a:solidFill>
              <a:srgbClr val="00787D"/>
            </a:solidFill>
            <a:prstDash val="solid"/>
          </a:ln>
        </p:spPr>
        <p:txBody>
          <a:bodyPr/>
          <a:p/>
        </p:txBody>
      </p:sp>
      <p:sp>
        <p:nvSpPr>
          <p:cNvPr id="16" name="Text 14"/>
          <p:cNvSpPr/>
          <p:nvPr/>
        </p:nvSpPr>
        <p:spPr>
          <a:xfrm>
            <a:off x="1069848" y="3246120"/>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Technical feasibility</a:t>
            </a:r>
            <a:endParaRPr lang="en-US" sz="1300" dirty="0"/>
          </a:p>
        </p:txBody>
      </p:sp>
      <p:sp>
        <p:nvSpPr>
          <p:cNvPr id="17" name="Text 15"/>
          <p:cNvSpPr/>
          <p:nvPr/>
        </p:nvSpPr>
        <p:spPr>
          <a:xfrm>
            <a:off x="1069848" y="3602736"/>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18" name="Shape 16"/>
          <p:cNvSpPr/>
          <p:nvPr/>
        </p:nvSpPr>
        <p:spPr>
          <a:xfrm>
            <a:off x="868680" y="3941064"/>
            <a:ext cx="4892040" cy="621792"/>
          </a:xfrm>
          <a:prstGeom prst="roundRect">
            <a:avLst>
              <a:gd name="adj" fmla="val 8824"/>
            </a:avLst>
          </a:prstGeom>
          <a:solidFill>
            <a:srgbClr val="FFFFFF"/>
          </a:solidFill>
          <a:ln w="10160">
            <a:solidFill>
              <a:srgbClr val="D9E0E3"/>
            </a:solidFill>
            <a:prstDash val="solid"/>
          </a:ln>
        </p:spPr>
        <p:txBody>
          <a:bodyPr/>
          <a:p/>
        </p:txBody>
      </p:sp>
      <p:sp>
        <p:nvSpPr>
          <p:cNvPr id="19" name="Shape 17"/>
          <p:cNvSpPr/>
          <p:nvPr/>
        </p:nvSpPr>
        <p:spPr>
          <a:xfrm>
            <a:off x="868680" y="3941064"/>
            <a:ext cx="54864" cy="621792"/>
          </a:xfrm>
          <a:prstGeom prst="rect">
            <a:avLst/>
          </a:prstGeom>
          <a:solidFill>
            <a:srgbClr val="00787D"/>
          </a:solidFill>
          <a:ln w="12700">
            <a:solidFill>
              <a:srgbClr val="00787D"/>
            </a:solidFill>
            <a:prstDash val="solid"/>
          </a:ln>
        </p:spPr>
        <p:txBody>
          <a:bodyPr/>
          <a:p/>
        </p:txBody>
      </p:sp>
      <p:sp>
        <p:nvSpPr>
          <p:cNvPr id="20" name="Text 18"/>
          <p:cNvSpPr/>
          <p:nvPr/>
        </p:nvSpPr>
        <p:spPr>
          <a:xfrm>
            <a:off x="1069848" y="4087368"/>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Architecture decision</a:t>
            </a:r>
            <a:endParaRPr lang="en-US" sz="1300" dirty="0"/>
          </a:p>
        </p:txBody>
      </p:sp>
      <p:sp>
        <p:nvSpPr>
          <p:cNvPr id="21" name="Text 19"/>
          <p:cNvSpPr/>
          <p:nvPr/>
        </p:nvSpPr>
        <p:spPr>
          <a:xfrm>
            <a:off x="1069848" y="4443984"/>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22" name="Shape 20"/>
          <p:cNvSpPr/>
          <p:nvPr/>
        </p:nvSpPr>
        <p:spPr>
          <a:xfrm>
            <a:off x="868680" y="4782312"/>
            <a:ext cx="4892040" cy="621792"/>
          </a:xfrm>
          <a:prstGeom prst="roundRect">
            <a:avLst>
              <a:gd name="adj" fmla="val 8824"/>
            </a:avLst>
          </a:prstGeom>
          <a:solidFill>
            <a:srgbClr val="F3F5F6"/>
          </a:solidFill>
          <a:ln w="10160">
            <a:solidFill>
              <a:srgbClr val="D9E0E3"/>
            </a:solidFill>
            <a:prstDash val="solid"/>
          </a:ln>
        </p:spPr>
        <p:txBody>
          <a:bodyPr/>
          <a:p/>
        </p:txBody>
      </p:sp>
      <p:sp>
        <p:nvSpPr>
          <p:cNvPr id="23" name="Shape 21"/>
          <p:cNvSpPr/>
          <p:nvPr/>
        </p:nvSpPr>
        <p:spPr>
          <a:xfrm>
            <a:off x="868680" y="4782312"/>
            <a:ext cx="54864" cy="621792"/>
          </a:xfrm>
          <a:prstGeom prst="rect">
            <a:avLst/>
          </a:prstGeom>
          <a:solidFill>
            <a:srgbClr val="00787D"/>
          </a:solidFill>
          <a:ln w="12700">
            <a:solidFill>
              <a:srgbClr val="00787D"/>
            </a:solidFill>
            <a:prstDash val="solid"/>
          </a:ln>
        </p:spPr>
        <p:txBody>
          <a:bodyPr/>
          <a:p/>
        </p:txBody>
      </p:sp>
      <p:sp>
        <p:nvSpPr>
          <p:cNvPr id="24" name="Text 22"/>
          <p:cNvSpPr/>
          <p:nvPr/>
        </p:nvSpPr>
        <p:spPr>
          <a:xfrm>
            <a:off x="1069848" y="4928616"/>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Dependencies</a:t>
            </a:r>
            <a:endParaRPr lang="en-US" sz="1300" dirty="0"/>
          </a:p>
        </p:txBody>
      </p:sp>
      <p:sp>
        <p:nvSpPr>
          <p:cNvPr id="25" name="Text 23"/>
          <p:cNvSpPr/>
          <p:nvPr/>
        </p:nvSpPr>
        <p:spPr>
          <a:xfrm>
            <a:off x="1069848" y="5285232"/>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26" name="Shape 24"/>
          <p:cNvSpPr/>
          <p:nvPr/>
        </p:nvSpPr>
        <p:spPr>
          <a:xfrm>
            <a:off x="6400800" y="1417320"/>
            <a:ext cx="4892040" cy="621792"/>
          </a:xfrm>
          <a:prstGeom prst="roundRect">
            <a:avLst>
              <a:gd name="adj" fmla="val 8824"/>
            </a:avLst>
          </a:prstGeom>
          <a:solidFill>
            <a:srgbClr val="F3F5F6"/>
          </a:solidFill>
          <a:ln w="10160">
            <a:solidFill>
              <a:srgbClr val="D9E0E3"/>
            </a:solidFill>
            <a:prstDash val="solid"/>
          </a:ln>
        </p:spPr>
        <p:txBody>
          <a:bodyPr/>
          <a:p/>
        </p:txBody>
      </p:sp>
      <p:sp>
        <p:nvSpPr>
          <p:cNvPr id="27" name="Shape 25"/>
          <p:cNvSpPr/>
          <p:nvPr/>
        </p:nvSpPr>
        <p:spPr>
          <a:xfrm>
            <a:off x="6400800" y="1417320"/>
            <a:ext cx="54864" cy="621792"/>
          </a:xfrm>
          <a:prstGeom prst="rect">
            <a:avLst/>
          </a:prstGeom>
          <a:solidFill>
            <a:srgbClr val="477FA6"/>
          </a:solidFill>
          <a:ln w="12700">
            <a:solidFill>
              <a:srgbClr val="477FA6"/>
            </a:solidFill>
            <a:prstDash val="solid"/>
          </a:ln>
        </p:spPr>
        <p:txBody>
          <a:bodyPr/>
          <a:p/>
        </p:txBody>
      </p:sp>
      <p:sp>
        <p:nvSpPr>
          <p:cNvPr id="28" name="Text 26"/>
          <p:cNvSpPr/>
          <p:nvPr/>
        </p:nvSpPr>
        <p:spPr>
          <a:xfrm>
            <a:off x="6601968" y="1563624"/>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Sizing / capacity</a:t>
            </a:r>
            <a:endParaRPr lang="en-US" sz="1300" dirty="0"/>
          </a:p>
        </p:txBody>
      </p:sp>
      <p:sp>
        <p:nvSpPr>
          <p:cNvPr id="29" name="Text 27"/>
          <p:cNvSpPr/>
          <p:nvPr/>
        </p:nvSpPr>
        <p:spPr>
          <a:xfrm>
            <a:off x="6601968" y="1920240"/>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30" name="Shape 28"/>
          <p:cNvSpPr/>
          <p:nvPr/>
        </p:nvSpPr>
        <p:spPr>
          <a:xfrm>
            <a:off x="6400800" y="2258568"/>
            <a:ext cx="4892040" cy="621792"/>
          </a:xfrm>
          <a:prstGeom prst="roundRect">
            <a:avLst>
              <a:gd name="adj" fmla="val 8824"/>
            </a:avLst>
          </a:prstGeom>
          <a:solidFill>
            <a:srgbClr val="FFFFFF"/>
          </a:solidFill>
          <a:ln w="10160">
            <a:solidFill>
              <a:srgbClr val="D9E0E3"/>
            </a:solidFill>
            <a:prstDash val="solid"/>
          </a:ln>
        </p:spPr>
        <p:txBody>
          <a:bodyPr/>
          <a:p/>
        </p:txBody>
      </p:sp>
      <p:sp>
        <p:nvSpPr>
          <p:cNvPr id="31" name="Shape 29"/>
          <p:cNvSpPr/>
          <p:nvPr/>
        </p:nvSpPr>
        <p:spPr>
          <a:xfrm>
            <a:off x="6400800" y="2258568"/>
            <a:ext cx="54864" cy="621792"/>
          </a:xfrm>
          <a:prstGeom prst="rect">
            <a:avLst/>
          </a:prstGeom>
          <a:solidFill>
            <a:srgbClr val="477FA6"/>
          </a:solidFill>
          <a:ln w="12700">
            <a:solidFill>
              <a:srgbClr val="477FA6"/>
            </a:solidFill>
            <a:prstDash val="solid"/>
          </a:ln>
        </p:spPr>
        <p:txBody>
          <a:bodyPr/>
          <a:p/>
        </p:txBody>
      </p:sp>
      <p:sp>
        <p:nvSpPr>
          <p:cNvPr id="32" name="Text 30"/>
          <p:cNvSpPr/>
          <p:nvPr/>
        </p:nvSpPr>
        <p:spPr>
          <a:xfrm>
            <a:off x="6601968" y="2404872"/>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Delivery milestones</a:t>
            </a:r>
            <a:endParaRPr lang="en-US" sz="1300" dirty="0"/>
          </a:p>
        </p:txBody>
      </p:sp>
      <p:sp>
        <p:nvSpPr>
          <p:cNvPr id="33" name="Text 31"/>
          <p:cNvSpPr/>
          <p:nvPr/>
        </p:nvSpPr>
        <p:spPr>
          <a:xfrm>
            <a:off x="6601968" y="2761488"/>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34" name="Shape 32"/>
          <p:cNvSpPr/>
          <p:nvPr/>
        </p:nvSpPr>
        <p:spPr>
          <a:xfrm>
            <a:off x="6400800" y="3099816"/>
            <a:ext cx="4892040" cy="621792"/>
          </a:xfrm>
          <a:prstGeom prst="roundRect">
            <a:avLst>
              <a:gd name="adj" fmla="val 8824"/>
            </a:avLst>
          </a:prstGeom>
          <a:solidFill>
            <a:srgbClr val="F3F5F6"/>
          </a:solidFill>
          <a:ln w="10160">
            <a:solidFill>
              <a:srgbClr val="D9E0E3"/>
            </a:solidFill>
            <a:prstDash val="solid"/>
          </a:ln>
        </p:spPr>
        <p:txBody>
          <a:bodyPr/>
          <a:p/>
        </p:txBody>
      </p:sp>
      <p:sp>
        <p:nvSpPr>
          <p:cNvPr id="35" name="Shape 33"/>
          <p:cNvSpPr/>
          <p:nvPr/>
        </p:nvSpPr>
        <p:spPr>
          <a:xfrm>
            <a:off x="6400800" y="3099816"/>
            <a:ext cx="54864" cy="621792"/>
          </a:xfrm>
          <a:prstGeom prst="rect">
            <a:avLst/>
          </a:prstGeom>
          <a:solidFill>
            <a:srgbClr val="477FA6"/>
          </a:solidFill>
          <a:ln w="12700">
            <a:solidFill>
              <a:srgbClr val="477FA6"/>
            </a:solidFill>
            <a:prstDash val="solid"/>
          </a:ln>
        </p:spPr>
        <p:txBody>
          <a:bodyPr/>
          <a:p/>
        </p:txBody>
      </p:sp>
      <p:sp>
        <p:nvSpPr>
          <p:cNvPr id="36" name="Text 34"/>
          <p:cNvSpPr/>
          <p:nvPr/>
        </p:nvSpPr>
        <p:spPr>
          <a:xfrm>
            <a:off x="6601968" y="3246120"/>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Forecast window</a:t>
            </a:r>
            <a:endParaRPr lang="en-US" sz="1300" dirty="0"/>
          </a:p>
        </p:txBody>
      </p:sp>
      <p:sp>
        <p:nvSpPr>
          <p:cNvPr id="37" name="Text 35"/>
          <p:cNvSpPr/>
          <p:nvPr/>
        </p:nvSpPr>
        <p:spPr>
          <a:xfrm>
            <a:off x="6601968" y="3602736"/>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38" name="Shape 36"/>
          <p:cNvSpPr/>
          <p:nvPr/>
        </p:nvSpPr>
        <p:spPr>
          <a:xfrm>
            <a:off x="6400800" y="3941064"/>
            <a:ext cx="4892040" cy="621792"/>
          </a:xfrm>
          <a:prstGeom prst="roundRect">
            <a:avLst>
              <a:gd name="adj" fmla="val 8824"/>
            </a:avLst>
          </a:prstGeom>
          <a:solidFill>
            <a:srgbClr val="FFFFFF"/>
          </a:solidFill>
          <a:ln w="10160">
            <a:solidFill>
              <a:srgbClr val="D9E0E3"/>
            </a:solidFill>
            <a:prstDash val="solid"/>
          </a:ln>
        </p:spPr>
        <p:txBody>
          <a:bodyPr/>
          <a:p/>
        </p:txBody>
      </p:sp>
      <p:sp>
        <p:nvSpPr>
          <p:cNvPr id="39" name="Shape 37"/>
          <p:cNvSpPr/>
          <p:nvPr/>
        </p:nvSpPr>
        <p:spPr>
          <a:xfrm>
            <a:off x="6400800" y="3941064"/>
            <a:ext cx="54864" cy="621792"/>
          </a:xfrm>
          <a:prstGeom prst="rect">
            <a:avLst/>
          </a:prstGeom>
          <a:solidFill>
            <a:srgbClr val="477FA6"/>
          </a:solidFill>
          <a:ln w="12700">
            <a:solidFill>
              <a:srgbClr val="477FA6"/>
            </a:solidFill>
            <a:prstDash val="solid"/>
          </a:ln>
        </p:spPr>
        <p:txBody>
          <a:bodyPr/>
          <a:p/>
        </p:txBody>
      </p:sp>
      <p:sp>
        <p:nvSpPr>
          <p:cNvPr id="40" name="Text 38"/>
          <p:cNvSpPr/>
          <p:nvPr/>
        </p:nvSpPr>
        <p:spPr>
          <a:xfrm>
            <a:off x="6601968" y="4087368"/>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Forecast confidence</a:t>
            </a:r>
            <a:endParaRPr lang="en-US" sz="1300" dirty="0"/>
          </a:p>
        </p:txBody>
      </p:sp>
      <p:sp>
        <p:nvSpPr>
          <p:cNvPr id="41" name="Text 39"/>
          <p:cNvSpPr/>
          <p:nvPr/>
        </p:nvSpPr>
        <p:spPr>
          <a:xfrm>
            <a:off x="6601968" y="4443984"/>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42" name="Shape 40"/>
          <p:cNvSpPr/>
          <p:nvPr/>
        </p:nvSpPr>
        <p:spPr>
          <a:xfrm>
            <a:off x="6400800" y="4782312"/>
            <a:ext cx="4892040" cy="621792"/>
          </a:xfrm>
          <a:prstGeom prst="roundRect">
            <a:avLst>
              <a:gd name="adj" fmla="val 8824"/>
            </a:avLst>
          </a:prstGeom>
          <a:solidFill>
            <a:srgbClr val="F3F5F6"/>
          </a:solidFill>
          <a:ln w="10160">
            <a:solidFill>
              <a:srgbClr val="D9E0E3"/>
            </a:solidFill>
            <a:prstDash val="solid"/>
          </a:ln>
        </p:spPr>
        <p:txBody>
          <a:bodyPr/>
          <a:p/>
        </p:txBody>
      </p:sp>
      <p:sp>
        <p:nvSpPr>
          <p:cNvPr id="43" name="Shape 41"/>
          <p:cNvSpPr/>
          <p:nvPr/>
        </p:nvSpPr>
        <p:spPr>
          <a:xfrm>
            <a:off x="6400800" y="4782312"/>
            <a:ext cx="54864" cy="621792"/>
          </a:xfrm>
          <a:prstGeom prst="rect">
            <a:avLst/>
          </a:prstGeom>
          <a:solidFill>
            <a:srgbClr val="477FA6"/>
          </a:solidFill>
          <a:ln w="12700">
            <a:solidFill>
              <a:srgbClr val="477FA6"/>
            </a:solidFill>
            <a:prstDash val="solid"/>
          </a:ln>
        </p:spPr>
        <p:txBody>
          <a:bodyPr/>
          <a:p/>
        </p:txBody>
      </p:sp>
      <p:sp>
        <p:nvSpPr>
          <p:cNvPr id="44" name="Text 42"/>
          <p:cNvSpPr/>
          <p:nvPr/>
        </p:nvSpPr>
        <p:spPr>
          <a:xfrm>
            <a:off x="6601968" y="4928616"/>
            <a:ext cx="4572000" cy="274320"/>
          </a:xfrm>
          <a:prstGeom prst="rect">
            <a:avLst/>
          </a:prstGeom>
          <a:noFill/>
          <a:ln/>
        </p:spPr>
        <p:txBody>
          <a:bodyPr wrap="square" lIns="0" tIns="0" rIns="0" bIns="0" rtlCol="0" anchor="ctr"/>
          <a:lstStyle/>
          <a:p>
            <a:pPr indent="0" marL="0">
              <a:buNone/>
            </a:pPr>
            <a:r>
              <a:rPr lang="en-US" sz="1300" b="1" dirty="0">
                <a:solidFill>
                  <a:srgbClr val="123047"/>
                </a:solidFill>
              </a:rPr>
              <a:t>Forecast movement</a:t>
            </a:r>
            <a:endParaRPr lang="en-US" sz="1300" dirty="0"/>
          </a:p>
        </p:txBody>
      </p:sp>
      <p:sp>
        <p:nvSpPr>
          <p:cNvPr id="45" name="Text 43"/>
          <p:cNvSpPr/>
          <p:nvPr/>
        </p:nvSpPr>
        <p:spPr>
          <a:xfrm>
            <a:off x="6601968" y="5285232"/>
            <a:ext cx="4544568" cy="0"/>
          </a:xfrm>
          <a:prstGeom prst="rect">
            <a:avLst/>
          </a:prstGeom>
          <a:noFill/>
          <a:ln/>
        </p:spPr>
        <p:txBody>
          <a:bodyPr wrap="square" lIns="0" tIns="0" rIns="0" bIns="0" rtlCol="0" anchor="ctr">
            <a:normAutofit/>
          </a:bodyPr>
          <a:lstStyle/>
          <a:p>
            <a:pPr indent="0" marL="0">
              <a:buNone/>
            </a:pPr>
            <a:endParaRPr lang="en-US" sz="1050" dirty="0"/>
          </a:p>
        </p:txBody>
      </p:sp>
      <p:sp>
        <p:nvSpPr>
          <p:cNvPr id="46" name="Text 44"/>
          <p:cNvSpPr/>
          <p:nvPr/>
        </p:nvSpPr>
        <p:spPr>
          <a:xfrm>
            <a:off x="914400" y="5806440"/>
            <a:ext cx="10332720" cy="411480"/>
          </a:xfrm>
          <a:prstGeom prst="rect">
            <a:avLst/>
          </a:prstGeom>
          <a:noFill/>
          <a:ln/>
        </p:spPr>
        <p:txBody>
          <a:bodyPr wrap="square" lIns="0" tIns="0" rIns="0" bIns="0" rtlCol="0" anchor="ctr"/>
          <a:lstStyle/>
          <a:p>
            <a:pPr algn="ctr" indent="0" marL="0">
              <a:buNone/>
            </a:pPr>
            <a:r>
              <a:rPr lang="en-US" sz="1600" b="1" dirty="0">
                <a:solidFill>
                  <a:srgbClr val="123047"/>
                </a:solidFill>
              </a:rPr>
              <a:t>The CTO no longer has to use “not a roadmap” as a proxy for “not ready to promise.”</a:t>
            </a:r>
            <a:endParaRPr lang="en-US" sz="1600" dirty="0"/>
          </a:p>
        </p:txBody>
      </p:sp>
      <p:sp>
        <p:nvSpPr>
          <p:cNvPr id="47" name="Text 45"/>
          <p:cNvSpPr/>
          <p:nvPr/>
        </p:nvSpPr>
        <p:spPr>
          <a:xfrm>
            <a:off x="11201400" y="6473952"/>
            <a:ext cx="320040" cy="182880"/>
          </a:xfrm>
          <a:prstGeom prst="rect">
            <a:avLst/>
          </a:prstGeom>
          <a:noFill/>
          <a:ln/>
        </p:spPr>
        <p:txBody>
          <a:bodyPr wrap="square" lIns="0" tIns="0" rIns="0" bIns="0" rtlCol="0" anchor="ctr"/>
          <a:lstStyle/>
          <a:p>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GOVERNANCE GATE</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Recommended Definition of Committed</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868680" y="1463040"/>
            <a:ext cx="310896" cy="310896"/>
          </a:xfrm>
          <a:prstGeom prst="ellipse">
            <a:avLst/>
          </a:prstGeom>
          <a:solidFill>
            <a:srgbClr val="2E7D5B"/>
          </a:solidFill>
          <a:ln w="12700">
            <a:solidFill>
              <a:srgbClr val="2E7D5B"/>
            </a:solidFill>
            <a:prstDash val="solid"/>
          </a:ln>
        </p:spPr>
        <p:txBody>
          <a:bodyPr/>
          <a:p/>
        </p:txBody>
      </p:sp>
      <p:sp>
        <p:nvSpPr>
          <p:cNvPr id="7" name="Text 5"/>
          <p:cNvSpPr/>
          <p:nvPr/>
        </p:nvSpPr>
        <p:spPr>
          <a:xfrm>
            <a:off x="914400" y="1481328"/>
            <a:ext cx="219456" cy="18288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8" name="Text 6"/>
          <p:cNvSpPr/>
          <p:nvPr/>
        </p:nvSpPr>
        <p:spPr>
          <a:xfrm>
            <a:off x="1307592" y="1417320"/>
            <a:ext cx="4617720" cy="438912"/>
          </a:xfrm>
          <a:prstGeom prst="rect">
            <a:avLst/>
          </a:prstGeom>
          <a:noFill/>
          <a:ln/>
        </p:spPr>
        <p:txBody>
          <a:bodyPr wrap="square" lIns="0" tIns="0" rIns="0" bIns="0" rtlCol="0" anchor="ctr">
            <a:normAutofit/>
          </a:bodyPr>
          <a:lstStyle/>
          <a:p>
            <a:pPr indent="0" marL="0">
              <a:buNone/>
            </a:pPr>
            <a:r>
              <a:rPr lang="en-US" sz="1150" dirty="0">
                <a:solidFill>
                  <a:srgbClr val="182026"/>
                </a:solidFill>
              </a:rPr>
              <a:t>Problem and intended outcome sufficiently validated</a:t>
            </a:r>
            <a:endParaRPr lang="en-US" sz="1150" dirty="0"/>
          </a:p>
        </p:txBody>
      </p:sp>
      <p:sp>
        <p:nvSpPr>
          <p:cNvPr id="9" name="Shape 7"/>
          <p:cNvSpPr/>
          <p:nvPr/>
        </p:nvSpPr>
        <p:spPr>
          <a:xfrm>
            <a:off x="868680" y="2267712"/>
            <a:ext cx="310896" cy="310896"/>
          </a:xfrm>
          <a:prstGeom prst="ellipse">
            <a:avLst/>
          </a:prstGeom>
          <a:solidFill>
            <a:srgbClr val="2E7D5B"/>
          </a:solidFill>
          <a:ln w="12700">
            <a:solidFill>
              <a:srgbClr val="2E7D5B"/>
            </a:solidFill>
            <a:prstDash val="solid"/>
          </a:ln>
        </p:spPr>
        <p:txBody>
          <a:bodyPr/>
          <a:p/>
        </p:txBody>
      </p:sp>
      <p:sp>
        <p:nvSpPr>
          <p:cNvPr id="10" name="Text 8"/>
          <p:cNvSpPr/>
          <p:nvPr/>
        </p:nvSpPr>
        <p:spPr>
          <a:xfrm>
            <a:off x="914400" y="2286000"/>
            <a:ext cx="219456" cy="18288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1" name="Text 9"/>
          <p:cNvSpPr/>
          <p:nvPr/>
        </p:nvSpPr>
        <p:spPr>
          <a:xfrm>
            <a:off x="1307592" y="2221992"/>
            <a:ext cx="4617720" cy="438912"/>
          </a:xfrm>
          <a:prstGeom prst="rect">
            <a:avLst/>
          </a:prstGeom>
          <a:noFill/>
          <a:ln/>
        </p:spPr>
        <p:txBody>
          <a:bodyPr wrap="square" lIns="0" tIns="0" rIns="0" bIns="0" rtlCol="0" anchor="ctr">
            <a:normAutofit/>
          </a:bodyPr>
          <a:lstStyle/>
          <a:p>
            <a:pPr indent="0" marL="0">
              <a:buNone/>
            </a:pPr>
            <a:r>
              <a:rPr lang="en-US" sz="1150" dirty="0">
                <a:solidFill>
                  <a:srgbClr val="182026"/>
                </a:solidFill>
              </a:rPr>
              <a:t>Solution direction sufficiently validated</a:t>
            </a:r>
            <a:endParaRPr lang="en-US" sz="1150" dirty="0"/>
          </a:p>
        </p:txBody>
      </p:sp>
      <p:sp>
        <p:nvSpPr>
          <p:cNvPr id="12" name="Shape 10"/>
          <p:cNvSpPr/>
          <p:nvPr/>
        </p:nvSpPr>
        <p:spPr>
          <a:xfrm>
            <a:off x="868680" y="3072384"/>
            <a:ext cx="310896" cy="310896"/>
          </a:xfrm>
          <a:prstGeom prst="ellipse">
            <a:avLst/>
          </a:prstGeom>
          <a:solidFill>
            <a:srgbClr val="2E7D5B"/>
          </a:solidFill>
          <a:ln w="12700">
            <a:solidFill>
              <a:srgbClr val="2E7D5B"/>
            </a:solidFill>
            <a:prstDash val="solid"/>
          </a:ln>
        </p:spPr>
        <p:txBody>
          <a:bodyPr/>
          <a:p/>
        </p:txBody>
      </p:sp>
      <p:sp>
        <p:nvSpPr>
          <p:cNvPr id="13" name="Text 11"/>
          <p:cNvSpPr/>
          <p:nvPr/>
        </p:nvSpPr>
        <p:spPr>
          <a:xfrm>
            <a:off x="914400" y="3090672"/>
            <a:ext cx="219456" cy="18288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4" name="Text 12"/>
          <p:cNvSpPr/>
          <p:nvPr/>
        </p:nvSpPr>
        <p:spPr>
          <a:xfrm>
            <a:off x="1307592" y="3026664"/>
            <a:ext cx="4617720" cy="438912"/>
          </a:xfrm>
          <a:prstGeom prst="rect">
            <a:avLst/>
          </a:prstGeom>
          <a:noFill/>
          <a:ln/>
        </p:spPr>
        <p:txBody>
          <a:bodyPr wrap="square" lIns="0" tIns="0" rIns="0" bIns="0" rtlCol="0" anchor="ctr">
            <a:normAutofit/>
          </a:bodyPr>
          <a:lstStyle/>
          <a:p>
            <a:pPr indent="0" marL="0">
              <a:buNone/>
            </a:pPr>
            <a:r>
              <a:rPr lang="en-US" sz="1150" dirty="0">
                <a:solidFill>
                  <a:srgbClr val="182026"/>
                </a:solidFill>
              </a:rPr>
              <a:t>Required PRD / product artifacts complete</a:t>
            </a:r>
            <a:endParaRPr lang="en-US" sz="1150" dirty="0"/>
          </a:p>
        </p:txBody>
      </p:sp>
      <p:sp>
        <p:nvSpPr>
          <p:cNvPr id="15" name="Shape 13"/>
          <p:cNvSpPr/>
          <p:nvPr/>
        </p:nvSpPr>
        <p:spPr>
          <a:xfrm>
            <a:off x="868680" y="3877056"/>
            <a:ext cx="310896" cy="310896"/>
          </a:xfrm>
          <a:prstGeom prst="ellipse">
            <a:avLst/>
          </a:prstGeom>
          <a:solidFill>
            <a:srgbClr val="2E7D5B"/>
          </a:solidFill>
          <a:ln w="12700">
            <a:solidFill>
              <a:srgbClr val="2E7D5B"/>
            </a:solidFill>
            <a:prstDash val="solid"/>
          </a:ln>
        </p:spPr>
        <p:txBody>
          <a:bodyPr/>
          <a:p/>
        </p:txBody>
      </p:sp>
      <p:sp>
        <p:nvSpPr>
          <p:cNvPr id="16" name="Text 14"/>
          <p:cNvSpPr/>
          <p:nvPr/>
        </p:nvSpPr>
        <p:spPr>
          <a:xfrm>
            <a:off x="914400" y="3895344"/>
            <a:ext cx="219456" cy="18288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7" name="Text 15"/>
          <p:cNvSpPr/>
          <p:nvPr/>
        </p:nvSpPr>
        <p:spPr>
          <a:xfrm>
            <a:off x="1307592" y="3831336"/>
            <a:ext cx="4617720" cy="438912"/>
          </a:xfrm>
          <a:prstGeom prst="rect">
            <a:avLst/>
          </a:prstGeom>
          <a:noFill/>
          <a:ln/>
        </p:spPr>
        <p:txBody>
          <a:bodyPr wrap="square" lIns="0" tIns="0" rIns="0" bIns="0" rtlCol="0" anchor="ctr">
            <a:normAutofit/>
          </a:bodyPr>
          <a:lstStyle/>
          <a:p>
            <a:pPr indent="0" marL="0">
              <a:buNone/>
            </a:pPr>
            <a:r>
              <a:rPr lang="en-US" sz="1150" dirty="0">
                <a:solidFill>
                  <a:srgbClr val="182026"/>
                </a:solidFill>
              </a:rPr>
              <a:t>Prototype completed where appropriate</a:t>
            </a:r>
            <a:endParaRPr lang="en-US" sz="1150" dirty="0"/>
          </a:p>
        </p:txBody>
      </p:sp>
      <p:sp>
        <p:nvSpPr>
          <p:cNvPr id="18" name="Shape 16"/>
          <p:cNvSpPr/>
          <p:nvPr/>
        </p:nvSpPr>
        <p:spPr>
          <a:xfrm>
            <a:off x="868680" y="4681728"/>
            <a:ext cx="310896" cy="310896"/>
          </a:xfrm>
          <a:prstGeom prst="ellipse">
            <a:avLst/>
          </a:prstGeom>
          <a:solidFill>
            <a:srgbClr val="2E7D5B"/>
          </a:solidFill>
          <a:ln w="12700">
            <a:solidFill>
              <a:srgbClr val="2E7D5B"/>
            </a:solidFill>
            <a:prstDash val="solid"/>
          </a:ln>
        </p:spPr>
        <p:txBody>
          <a:bodyPr/>
          <a:p/>
        </p:txBody>
      </p:sp>
      <p:sp>
        <p:nvSpPr>
          <p:cNvPr id="19" name="Text 17"/>
          <p:cNvSpPr/>
          <p:nvPr/>
        </p:nvSpPr>
        <p:spPr>
          <a:xfrm>
            <a:off x="914400" y="4700016"/>
            <a:ext cx="219456" cy="18288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0" name="Text 18"/>
          <p:cNvSpPr/>
          <p:nvPr/>
        </p:nvSpPr>
        <p:spPr>
          <a:xfrm>
            <a:off x="1307592" y="4636008"/>
            <a:ext cx="4617720" cy="438912"/>
          </a:xfrm>
          <a:prstGeom prst="rect">
            <a:avLst/>
          </a:prstGeom>
          <a:noFill/>
          <a:ln/>
        </p:spPr>
        <p:txBody>
          <a:bodyPr wrap="square" lIns="0" tIns="0" rIns="0" bIns="0" rtlCol="0" anchor="ctr">
            <a:normAutofit/>
          </a:bodyPr>
          <a:lstStyle/>
          <a:p>
            <a:pPr indent="0" marL="0">
              <a:buNone/>
            </a:pPr>
            <a:r>
              <a:rPr lang="en-US" sz="1150" dirty="0">
                <a:solidFill>
                  <a:srgbClr val="182026"/>
                </a:solidFill>
              </a:rPr>
              <a:t>Technical feasibility reviewed</a:t>
            </a:r>
            <a:endParaRPr lang="en-US" sz="1150" dirty="0"/>
          </a:p>
        </p:txBody>
      </p:sp>
      <p:sp>
        <p:nvSpPr>
          <p:cNvPr id="21" name="Shape 19"/>
          <p:cNvSpPr/>
          <p:nvPr/>
        </p:nvSpPr>
        <p:spPr>
          <a:xfrm>
            <a:off x="6263640" y="1463040"/>
            <a:ext cx="310896" cy="310896"/>
          </a:xfrm>
          <a:prstGeom prst="ellipse">
            <a:avLst/>
          </a:prstGeom>
          <a:solidFill>
            <a:srgbClr val="2E7D5B"/>
          </a:solidFill>
          <a:ln w="12700">
            <a:solidFill>
              <a:srgbClr val="2E7D5B"/>
            </a:solidFill>
            <a:prstDash val="solid"/>
          </a:ln>
        </p:spPr>
        <p:txBody>
          <a:bodyPr/>
          <a:p/>
        </p:txBody>
      </p:sp>
      <p:sp>
        <p:nvSpPr>
          <p:cNvPr id="22" name="Text 20"/>
          <p:cNvSpPr/>
          <p:nvPr/>
        </p:nvSpPr>
        <p:spPr>
          <a:xfrm>
            <a:off x="6309360" y="1481328"/>
            <a:ext cx="219456" cy="18288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3" name="Text 21"/>
          <p:cNvSpPr/>
          <p:nvPr/>
        </p:nvSpPr>
        <p:spPr>
          <a:xfrm>
            <a:off x="6702552" y="1417320"/>
            <a:ext cx="4617720" cy="438912"/>
          </a:xfrm>
          <a:prstGeom prst="rect">
            <a:avLst/>
          </a:prstGeom>
          <a:noFill/>
          <a:ln/>
        </p:spPr>
        <p:txBody>
          <a:bodyPr wrap="square" lIns="0" tIns="0" rIns="0" bIns="0" rtlCol="0" anchor="ctr">
            <a:normAutofit/>
          </a:bodyPr>
          <a:lstStyle/>
          <a:p>
            <a:pPr indent="0" marL="0">
              <a:buNone/>
            </a:pPr>
            <a:r>
              <a:rPr lang="en-US" sz="1150" dirty="0">
                <a:solidFill>
                  <a:srgbClr val="182026"/>
                </a:solidFill>
              </a:rPr>
              <a:t>Major dependencies identified</a:t>
            </a:r>
            <a:endParaRPr lang="en-US" sz="1150" dirty="0"/>
          </a:p>
        </p:txBody>
      </p:sp>
      <p:sp>
        <p:nvSpPr>
          <p:cNvPr id="24" name="Shape 22"/>
          <p:cNvSpPr/>
          <p:nvPr/>
        </p:nvSpPr>
        <p:spPr>
          <a:xfrm>
            <a:off x="6263640" y="2267712"/>
            <a:ext cx="310896" cy="310896"/>
          </a:xfrm>
          <a:prstGeom prst="ellipse">
            <a:avLst/>
          </a:prstGeom>
          <a:solidFill>
            <a:srgbClr val="2E7D5B"/>
          </a:solidFill>
          <a:ln w="12700">
            <a:solidFill>
              <a:srgbClr val="2E7D5B"/>
            </a:solidFill>
            <a:prstDash val="solid"/>
          </a:ln>
        </p:spPr>
        <p:txBody>
          <a:bodyPr/>
          <a:p/>
        </p:txBody>
      </p:sp>
      <p:sp>
        <p:nvSpPr>
          <p:cNvPr id="25" name="Text 23"/>
          <p:cNvSpPr/>
          <p:nvPr/>
        </p:nvSpPr>
        <p:spPr>
          <a:xfrm>
            <a:off x="6309360" y="2286000"/>
            <a:ext cx="219456" cy="18288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6" name="Text 24"/>
          <p:cNvSpPr/>
          <p:nvPr/>
        </p:nvSpPr>
        <p:spPr>
          <a:xfrm>
            <a:off x="6702552" y="2221992"/>
            <a:ext cx="4617720" cy="438912"/>
          </a:xfrm>
          <a:prstGeom prst="rect">
            <a:avLst/>
          </a:prstGeom>
          <a:noFill/>
          <a:ln/>
        </p:spPr>
        <p:txBody>
          <a:bodyPr wrap="square" lIns="0" tIns="0" rIns="0" bIns="0" rtlCol="0" anchor="ctr">
            <a:normAutofit/>
          </a:bodyPr>
          <a:lstStyle/>
          <a:p>
            <a:pPr indent="0" marL="0">
              <a:buNone/>
            </a:pPr>
            <a:r>
              <a:rPr lang="en-US" sz="1150" dirty="0">
                <a:solidFill>
                  <a:srgbClr val="182026"/>
                </a:solidFill>
              </a:rPr>
              <a:t>Engineering sizing completed</a:t>
            </a:r>
            <a:endParaRPr lang="en-US" sz="1150" dirty="0"/>
          </a:p>
        </p:txBody>
      </p:sp>
      <p:sp>
        <p:nvSpPr>
          <p:cNvPr id="27" name="Shape 25"/>
          <p:cNvSpPr/>
          <p:nvPr/>
        </p:nvSpPr>
        <p:spPr>
          <a:xfrm>
            <a:off x="6263640" y="3072384"/>
            <a:ext cx="310896" cy="310896"/>
          </a:xfrm>
          <a:prstGeom prst="ellipse">
            <a:avLst/>
          </a:prstGeom>
          <a:solidFill>
            <a:srgbClr val="2E7D5B"/>
          </a:solidFill>
          <a:ln w="12700">
            <a:solidFill>
              <a:srgbClr val="2E7D5B"/>
            </a:solidFill>
            <a:prstDash val="solid"/>
          </a:ln>
        </p:spPr>
        <p:txBody>
          <a:bodyPr/>
          <a:p/>
        </p:txBody>
      </p:sp>
      <p:sp>
        <p:nvSpPr>
          <p:cNvPr id="28" name="Text 26"/>
          <p:cNvSpPr/>
          <p:nvPr/>
        </p:nvSpPr>
        <p:spPr>
          <a:xfrm>
            <a:off x="6309360" y="3090672"/>
            <a:ext cx="219456" cy="18288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9" name="Text 27"/>
          <p:cNvSpPr/>
          <p:nvPr/>
        </p:nvSpPr>
        <p:spPr>
          <a:xfrm>
            <a:off x="6702552" y="3026664"/>
            <a:ext cx="4617720" cy="438912"/>
          </a:xfrm>
          <a:prstGeom prst="rect">
            <a:avLst/>
          </a:prstGeom>
          <a:noFill/>
          <a:ln/>
        </p:spPr>
        <p:txBody>
          <a:bodyPr wrap="square" lIns="0" tIns="0" rIns="0" bIns="0" rtlCol="0" anchor="ctr">
            <a:normAutofit/>
          </a:bodyPr>
          <a:lstStyle/>
          <a:p>
            <a:pPr indent="0" marL="0">
              <a:buNone/>
            </a:pPr>
            <a:r>
              <a:rPr lang="en-US" sz="1150" dirty="0">
                <a:solidFill>
                  <a:srgbClr val="182026"/>
                </a:solidFill>
              </a:rPr>
              <a:t>Capacity allocated / sequencing agreed</a:t>
            </a:r>
            <a:endParaRPr lang="en-US" sz="1150" dirty="0"/>
          </a:p>
        </p:txBody>
      </p:sp>
      <p:sp>
        <p:nvSpPr>
          <p:cNvPr id="30" name="Shape 28"/>
          <p:cNvSpPr/>
          <p:nvPr/>
        </p:nvSpPr>
        <p:spPr>
          <a:xfrm>
            <a:off x="6263640" y="3877056"/>
            <a:ext cx="310896" cy="310896"/>
          </a:xfrm>
          <a:prstGeom prst="ellipse">
            <a:avLst/>
          </a:prstGeom>
          <a:solidFill>
            <a:srgbClr val="2E7D5B"/>
          </a:solidFill>
          <a:ln w="12700">
            <a:solidFill>
              <a:srgbClr val="2E7D5B"/>
            </a:solidFill>
            <a:prstDash val="solid"/>
          </a:ln>
        </p:spPr>
        <p:txBody>
          <a:bodyPr/>
          <a:p/>
        </p:txBody>
      </p:sp>
      <p:sp>
        <p:nvSpPr>
          <p:cNvPr id="31" name="Text 29"/>
          <p:cNvSpPr/>
          <p:nvPr/>
        </p:nvSpPr>
        <p:spPr>
          <a:xfrm>
            <a:off x="6309360" y="3895344"/>
            <a:ext cx="219456" cy="18288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2" name="Text 30"/>
          <p:cNvSpPr/>
          <p:nvPr/>
        </p:nvSpPr>
        <p:spPr>
          <a:xfrm>
            <a:off x="6702552" y="3831336"/>
            <a:ext cx="4617720" cy="438912"/>
          </a:xfrm>
          <a:prstGeom prst="rect">
            <a:avLst/>
          </a:prstGeom>
          <a:noFill/>
          <a:ln/>
        </p:spPr>
        <p:txBody>
          <a:bodyPr wrap="square" lIns="0" tIns="0" rIns="0" bIns="0" rtlCol="0" anchor="ctr">
            <a:normAutofit/>
          </a:bodyPr>
          <a:lstStyle/>
          <a:p>
            <a:pPr indent="0" marL="0">
              <a:buNone/>
            </a:pPr>
            <a:r>
              <a:rPr lang="en-US" sz="1150" dirty="0">
                <a:solidFill>
                  <a:srgbClr val="182026"/>
                </a:solidFill>
              </a:rPr>
              <a:t>Product + Engineering explicitly approve commitment</a:t>
            </a:r>
            <a:endParaRPr lang="en-US" sz="1150" dirty="0"/>
          </a:p>
        </p:txBody>
      </p:sp>
      <p:sp>
        <p:nvSpPr>
          <p:cNvPr id="33" name="Shape 31"/>
          <p:cNvSpPr/>
          <p:nvPr/>
        </p:nvSpPr>
        <p:spPr>
          <a:xfrm>
            <a:off x="2057400" y="5532120"/>
            <a:ext cx="8092440" cy="594360"/>
          </a:xfrm>
          <a:prstGeom prst="roundRect">
            <a:avLst/>
          </a:prstGeom>
          <a:solidFill>
            <a:srgbClr val="E8F2EC"/>
          </a:solidFill>
          <a:ln w="12700">
            <a:solidFill>
              <a:srgbClr val="2E7D5B"/>
            </a:solidFill>
            <a:prstDash val="solid"/>
          </a:ln>
        </p:spPr>
        <p:txBody>
          <a:bodyPr/>
          <a:p/>
        </p:txBody>
      </p:sp>
      <p:sp>
        <p:nvSpPr>
          <p:cNvPr id="34" name="Text 32"/>
          <p:cNvSpPr/>
          <p:nvPr/>
        </p:nvSpPr>
        <p:spPr>
          <a:xfrm>
            <a:off x="2286000" y="5696712"/>
            <a:ext cx="7635240" cy="228600"/>
          </a:xfrm>
          <a:prstGeom prst="rect">
            <a:avLst/>
          </a:prstGeom>
          <a:noFill/>
          <a:ln/>
        </p:spPr>
        <p:txBody>
          <a:bodyPr wrap="square" lIns="0" tIns="0" rIns="0" bIns="0" rtlCol="0" anchor="ctr"/>
          <a:lstStyle/>
          <a:p>
            <a:pPr algn="ctr" indent="0" marL="0">
              <a:buNone/>
            </a:pPr>
            <a:r>
              <a:rPr lang="en-US" sz="1400" b="1" dirty="0">
                <a:solidFill>
                  <a:srgbClr val="2E7D5B"/>
                </a:solidFill>
              </a:rPr>
              <a:t>Committed = an explicit joint decision, not a side effect of appearing in a quarter.</a:t>
            </a:r>
            <a:endParaRPr lang="en-US" sz="1400" dirty="0"/>
          </a:p>
        </p:txBody>
      </p:sp>
      <p:sp>
        <p:nvSpPr>
          <p:cNvPr id="35" name="Text 33"/>
          <p:cNvSpPr/>
          <p:nvPr/>
        </p:nvSpPr>
        <p:spPr>
          <a:xfrm>
            <a:off x="11201400" y="6473952"/>
            <a:ext cx="320040" cy="182880"/>
          </a:xfrm>
          <a:prstGeom prst="rect">
            <a:avLst/>
          </a:prstGeom>
          <a:noFill/>
          <a:ln/>
        </p:spPr>
        <p:txBody>
          <a:bodyPr wrap="square" lIns="0" tIns="0" rIns="0" bIns="0" rtlCol="0" anchor="ctr"/>
          <a:lstStyle/>
          <a:p>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OPERATING CADENCE</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Run one monthly Product &amp; Delivery Outlook</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777240" y="1371600"/>
            <a:ext cx="411480" cy="411480"/>
          </a:xfrm>
          <a:prstGeom prst="ellipse">
            <a:avLst/>
          </a:prstGeom>
          <a:solidFill>
            <a:srgbClr val="00787D"/>
          </a:solidFill>
          <a:ln w="12700">
            <a:solidFill>
              <a:srgbClr val="00787D"/>
            </a:solidFill>
            <a:prstDash val="solid"/>
          </a:ln>
        </p:spPr>
        <p:txBody>
          <a:bodyPr/>
          <a:p/>
        </p:txBody>
      </p:sp>
      <p:sp>
        <p:nvSpPr>
          <p:cNvPr id="7" name="Text 5"/>
          <p:cNvSpPr/>
          <p:nvPr/>
        </p:nvSpPr>
        <p:spPr>
          <a:xfrm>
            <a:off x="868680" y="1444752"/>
            <a:ext cx="228600" cy="182880"/>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8" name="Text 6"/>
          <p:cNvSpPr/>
          <p:nvPr/>
        </p:nvSpPr>
        <p:spPr>
          <a:xfrm>
            <a:off x="1371600" y="1325880"/>
            <a:ext cx="2240280" cy="365760"/>
          </a:xfrm>
          <a:prstGeom prst="rect">
            <a:avLst/>
          </a:prstGeom>
          <a:noFill/>
          <a:ln/>
        </p:spPr>
        <p:txBody>
          <a:bodyPr wrap="square" lIns="0" tIns="0" rIns="0" bIns="0" rtlCol="0" anchor="ctr"/>
          <a:lstStyle/>
          <a:p>
            <a:pPr indent="0" marL="0">
              <a:buNone/>
            </a:pPr>
            <a:r>
              <a:rPr lang="en-US" sz="1300" b="1" dirty="0">
                <a:solidFill>
                  <a:srgbClr val="123047"/>
                </a:solidFill>
              </a:rPr>
              <a:t>Strategy changes</a:t>
            </a:r>
            <a:endParaRPr lang="en-US" sz="1300" dirty="0"/>
          </a:p>
        </p:txBody>
      </p:sp>
      <p:sp>
        <p:nvSpPr>
          <p:cNvPr id="9" name="Text 7"/>
          <p:cNvSpPr/>
          <p:nvPr/>
        </p:nvSpPr>
        <p:spPr>
          <a:xfrm>
            <a:off x="3657600" y="1325880"/>
            <a:ext cx="7040880" cy="365760"/>
          </a:xfrm>
          <a:prstGeom prst="rect">
            <a:avLst/>
          </a:prstGeom>
          <a:noFill/>
          <a:ln/>
        </p:spPr>
        <p:txBody>
          <a:bodyPr wrap="square" lIns="0" tIns="0" rIns="0" bIns="0" rtlCol="0" anchor="ctr"/>
          <a:lstStyle/>
          <a:p>
            <a:pPr indent="0" marL="0">
              <a:buNone/>
            </a:pPr>
            <a:r>
              <a:rPr lang="en-US" sz="1150" dirty="0">
                <a:solidFill>
                  <a:srgbClr val="66747D"/>
                </a:solidFill>
              </a:rPr>
              <a:t>Goals, customer/market evidence</a:t>
            </a:r>
            <a:endParaRPr lang="en-US" sz="1150" dirty="0"/>
          </a:p>
        </p:txBody>
      </p:sp>
      <p:sp>
        <p:nvSpPr>
          <p:cNvPr id="10" name="Shape 8"/>
          <p:cNvSpPr/>
          <p:nvPr/>
        </p:nvSpPr>
        <p:spPr>
          <a:xfrm>
            <a:off x="777240" y="2121408"/>
            <a:ext cx="411480" cy="411480"/>
          </a:xfrm>
          <a:prstGeom prst="ellipse">
            <a:avLst/>
          </a:prstGeom>
          <a:solidFill>
            <a:srgbClr val="00787D"/>
          </a:solidFill>
          <a:ln w="12700">
            <a:solidFill>
              <a:srgbClr val="00787D"/>
            </a:solidFill>
            <a:prstDash val="solid"/>
          </a:ln>
        </p:spPr>
        <p:txBody>
          <a:bodyPr/>
          <a:p/>
        </p:txBody>
      </p:sp>
      <p:sp>
        <p:nvSpPr>
          <p:cNvPr id="11" name="Text 9"/>
          <p:cNvSpPr/>
          <p:nvPr/>
        </p:nvSpPr>
        <p:spPr>
          <a:xfrm>
            <a:off x="868680" y="2194560"/>
            <a:ext cx="228600" cy="182880"/>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2" name="Text 10"/>
          <p:cNvSpPr/>
          <p:nvPr/>
        </p:nvSpPr>
        <p:spPr>
          <a:xfrm>
            <a:off x="1371600" y="2075688"/>
            <a:ext cx="2240280" cy="365760"/>
          </a:xfrm>
          <a:prstGeom prst="rect">
            <a:avLst/>
          </a:prstGeom>
          <a:noFill/>
          <a:ln/>
        </p:spPr>
        <p:txBody>
          <a:bodyPr wrap="square" lIns="0" tIns="0" rIns="0" bIns="0" rtlCol="0" anchor="ctr"/>
          <a:lstStyle/>
          <a:p>
            <a:pPr indent="0" marL="0">
              <a:buNone/>
            </a:pPr>
            <a:r>
              <a:rPr lang="en-US" sz="1300" b="1" dirty="0">
                <a:solidFill>
                  <a:srgbClr val="123047"/>
                </a:solidFill>
              </a:rPr>
              <a:t>Roadmap movement</a:t>
            </a:r>
            <a:endParaRPr lang="en-US" sz="1300" dirty="0"/>
          </a:p>
        </p:txBody>
      </p:sp>
      <p:sp>
        <p:nvSpPr>
          <p:cNvPr id="13" name="Text 11"/>
          <p:cNvSpPr/>
          <p:nvPr/>
        </p:nvSpPr>
        <p:spPr>
          <a:xfrm>
            <a:off x="3657600" y="2075688"/>
            <a:ext cx="7040880" cy="365760"/>
          </a:xfrm>
          <a:prstGeom prst="rect">
            <a:avLst/>
          </a:prstGeom>
          <a:noFill/>
          <a:ln/>
        </p:spPr>
        <p:txBody>
          <a:bodyPr wrap="square" lIns="0" tIns="0" rIns="0" bIns="0" rtlCol="0" anchor="ctr"/>
          <a:lstStyle/>
          <a:p>
            <a:pPr indent="0" marL="0">
              <a:buNone/>
            </a:pPr>
            <a:r>
              <a:rPr lang="en-US" sz="1150" dirty="0">
                <a:solidFill>
                  <a:srgbClr val="66747D"/>
                </a:solidFill>
              </a:rPr>
              <a:t>Adds, removals, quarter changes + rationale</a:t>
            </a:r>
            <a:endParaRPr lang="en-US" sz="1150" dirty="0"/>
          </a:p>
        </p:txBody>
      </p:sp>
      <p:sp>
        <p:nvSpPr>
          <p:cNvPr id="14" name="Shape 12"/>
          <p:cNvSpPr/>
          <p:nvPr/>
        </p:nvSpPr>
        <p:spPr>
          <a:xfrm>
            <a:off x="777240" y="2871216"/>
            <a:ext cx="411480" cy="411480"/>
          </a:xfrm>
          <a:prstGeom prst="ellipse">
            <a:avLst/>
          </a:prstGeom>
          <a:solidFill>
            <a:srgbClr val="00787D"/>
          </a:solidFill>
          <a:ln w="12700">
            <a:solidFill>
              <a:srgbClr val="00787D"/>
            </a:solidFill>
            <a:prstDash val="solid"/>
          </a:ln>
        </p:spPr>
        <p:txBody>
          <a:bodyPr/>
          <a:p/>
        </p:txBody>
      </p:sp>
      <p:sp>
        <p:nvSpPr>
          <p:cNvPr id="15" name="Text 13"/>
          <p:cNvSpPr/>
          <p:nvPr/>
        </p:nvSpPr>
        <p:spPr>
          <a:xfrm>
            <a:off x="868680" y="2944368"/>
            <a:ext cx="228600" cy="182880"/>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Text 14"/>
          <p:cNvSpPr/>
          <p:nvPr/>
        </p:nvSpPr>
        <p:spPr>
          <a:xfrm>
            <a:off x="1371600" y="2825496"/>
            <a:ext cx="2240280" cy="365760"/>
          </a:xfrm>
          <a:prstGeom prst="rect">
            <a:avLst/>
          </a:prstGeom>
          <a:noFill/>
          <a:ln/>
        </p:spPr>
        <p:txBody>
          <a:bodyPr wrap="square" lIns="0" tIns="0" rIns="0" bIns="0" rtlCol="0" anchor="ctr"/>
          <a:lstStyle/>
          <a:p>
            <a:pPr indent="0" marL="0">
              <a:buNone/>
            </a:pPr>
            <a:r>
              <a:rPr lang="en-US" sz="1300" b="1" dirty="0">
                <a:solidFill>
                  <a:srgbClr val="123047"/>
                </a:solidFill>
              </a:rPr>
              <a:t>Discovery movement</a:t>
            </a:r>
            <a:endParaRPr lang="en-US" sz="1300" dirty="0"/>
          </a:p>
        </p:txBody>
      </p:sp>
      <p:sp>
        <p:nvSpPr>
          <p:cNvPr id="17" name="Text 15"/>
          <p:cNvSpPr/>
          <p:nvPr/>
        </p:nvSpPr>
        <p:spPr>
          <a:xfrm>
            <a:off x="3657600" y="2825496"/>
            <a:ext cx="7040880" cy="365760"/>
          </a:xfrm>
          <a:prstGeom prst="rect">
            <a:avLst/>
          </a:prstGeom>
          <a:noFill/>
          <a:ln/>
        </p:spPr>
        <p:txBody>
          <a:bodyPr wrap="square" lIns="0" tIns="0" rIns="0" bIns="0" rtlCol="0" anchor="ctr"/>
          <a:lstStyle/>
          <a:p>
            <a:pPr indent="0" marL="0">
              <a:buNone/>
            </a:pPr>
            <a:r>
              <a:rPr lang="en-US" sz="1150" dirty="0">
                <a:solidFill>
                  <a:srgbClr val="66747D"/>
                </a:solidFill>
              </a:rPr>
              <a:t>Validated, Artefact Ready, paused, killed</a:t>
            </a:r>
            <a:endParaRPr lang="en-US" sz="1150" dirty="0"/>
          </a:p>
        </p:txBody>
      </p:sp>
      <p:sp>
        <p:nvSpPr>
          <p:cNvPr id="18" name="Shape 16"/>
          <p:cNvSpPr/>
          <p:nvPr/>
        </p:nvSpPr>
        <p:spPr>
          <a:xfrm>
            <a:off x="777240" y="3621024"/>
            <a:ext cx="411480" cy="411480"/>
          </a:xfrm>
          <a:prstGeom prst="ellipse">
            <a:avLst/>
          </a:prstGeom>
          <a:solidFill>
            <a:srgbClr val="123047"/>
          </a:solidFill>
          <a:ln w="12700">
            <a:solidFill>
              <a:srgbClr val="123047"/>
            </a:solidFill>
            <a:prstDash val="solid"/>
          </a:ln>
        </p:spPr>
        <p:txBody>
          <a:bodyPr/>
          <a:p/>
        </p:txBody>
      </p:sp>
      <p:sp>
        <p:nvSpPr>
          <p:cNvPr id="19" name="Text 17"/>
          <p:cNvSpPr/>
          <p:nvPr/>
        </p:nvSpPr>
        <p:spPr>
          <a:xfrm>
            <a:off x="868680" y="3694176"/>
            <a:ext cx="228600" cy="182880"/>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20" name="Text 18"/>
          <p:cNvSpPr/>
          <p:nvPr/>
        </p:nvSpPr>
        <p:spPr>
          <a:xfrm>
            <a:off x="1371600" y="3575304"/>
            <a:ext cx="2240280" cy="365760"/>
          </a:xfrm>
          <a:prstGeom prst="rect">
            <a:avLst/>
          </a:prstGeom>
          <a:noFill/>
          <a:ln/>
        </p:spPr>
        <p:txBody>
          <a:bodyPr wrap="square" lIns="0" tIns="0" rIns="0" bIns="0" rtlCol="0" anchor="ctr"/>
          <a:lstStyle/>
          <a:p>
            <a:pPr indent="0" marL="0">
              <a:buNone/>
            </a:pPr>
            <a:r>
              <a:rPr lang="en-US" sz="1300" b="1" dirty="0">
                <a:solidFill>
                  <a:srgbClr val="123047"/>
                </a:solidFill>
              </a:rPr>
              <a:t>Delivery forecast</a:t>
            </a:r>
            <a:endParaRPr lang="en-US" sz="1300" dirty="0"/>
          </a:p>
        </p:txBody>
      </p:sp>
      <p:sp>
        <p:nvSpPr>
          <p:cNvPr id="21" name="Text 19"/>
          <p:cNvSpPr/>
          <p:nvPr/>
        </p:nvSpPr>
        <p:spPr>
          <a:xfrm>
            <a:off x="3657600" y="3575304"/>
            <a:ext cx="7040880" cy="365760"/>
          </a:xfrm>
          <a:prstGeom prst="rect">
            <a:avLst/>
          </a:prstGeom>
          <a:noFill/>
          <a:ln/>
        </p:spPr>
        <p:txBody>
          <a:bodyPr wrap="square" lIns="0" tIns="0" rIns="0" bIns="0" rtlCol="0" anchor="ctr"/>
          <a:lstStyle/>
          <a:p>
            <a:pPr indent="0" marL="0">
              <a:buNone/>
            </a:pPr>
            <a:r>
              <a:rPr lang="en-US" sz="1150" dirty="0">
                <a:solidFill>
                  <a:srgbClr val="66747D"/>
                </a:solidFill>
              </a:rPr>
              <a:t>Date-range / confidence / dependency changes</a:t>
            </a:r>
            <a:endParaRPr lang="en-US" sz="1150" dirty="0"/>
          </a:p>
        </p:txBody>
      </p:sp>
      <p:sp>
        <p:nvSpPr>
          <p:cNvPr id="22" name="Shape 20"/>
          <p:cNvSpPr/>
          <p:nvPr/>
        </p:nvSpPr>
        <p:spPr>
          <a:xfrm>
            <a:off x="777240" y="4370832"/>
            <a:ext cx="411480" cy="411480"/>
          </a:xfrm>
          <a:prstGeom prst="ellipse">
            <a:avLst/>
          </a:prstGeom>
          <a:solidFill>
            <a:srgbClr val="123047"/>
          </a:solidFill>
          <a:ln w="12700">
            <a:solidFill>
              <a:srgbClr val="123047"/>
            </a:solidFill>
            <a:prstDash val="solid"/>
          </a:ln>
        </p:spPr>
        <p:txBody>
          <a:bodyPr/>
          <a:p/>
        </p:txBody>
      </p:sp>
      <p:sp>
        <p:nvSpPr>
          <p:cNvPr id="23" name="Text 21"/>
          <p:cNvSpPr/>
          <p:nvPr/>
        </p:nvSpPr>
        <p:spPr>
          <a:xfrm>
            <a:off x="868680" y="4443984"/>
            <a:ext cx="228600" cy="182880"/>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4" name="Text 22"/>
          <p:cNvSpPr/>
          <p:nvPr/>
        </p:nvSpPr>
        <p:spPr>
          <a:xfrm>
            <a:off x="1371600" y="4325112"/>
            <a:ext cx="2240280" cy="365760"/>
          </a:xfrm>
          <a:prstGeom prst="rect">
            <a:avLst/>
          </a:prstGeom>
          <a:noFill/>
          <a:ln/>
        </p:spPr>
        <p:txBody>
          <a:bodyPr wrap="square" lIns="0" tIns="0" rIns="0" bIns="0" rtlCol="0" anchor="ctr"/>
          <a:lstStyle/>
          <a:p>
            <a:pPr indent="0" marL="0">
              <a:buNone/>
            </a:pPr>
            <a:r>
              <a:rPr lang="en-US" sz="1300" b="1" dirty="0">
                <a:solidFill>
                  <a:srgbClr val="123047"/>
                </a:solidFill>
              </a:rPr>
              <a:t>Commercial commitments</a:t>
            </a:r>
            <a:endParaRPr lang="en-US" sz="1300" dirty="0"/>
          </a:p>
        </p:txBody>
      </p:sp>
      <p:sp>
        <p:nvSpPr>
          <p:cNvPr id="25" name="Text 23"/>
          <p:cNvSpPr/>
          <p:nvPr/>
        </p:nvSpPr>
        <p:spPr>
          <a:xfrm>
            <a:off x="3657600" y="4325112"/>
            <a:ext cx="7040880" cy="365760"/>
          </a:xfrm>
          <a:prstGeom prst="rect">
            <a:avLst/>
          </a:prstGeom>
          <a:noFill/>
          <a:ln/>
        </p:spPr>
        <p:txBody>
          <a:bodyPr wrap="square" lIns="0" tIns="0" rIns="0" bIns="0" rtlCol="0" anchor="ctr"/>
          <a:lstStyle/>
          <a:p>
            <a:pPr indent="0" marL="0">
              <a:buNone/>
            </a:pPr>
            <a:r>
              <a:rPr lang="en-US" sz="1150" dirty="0">
                <a:solidFill>
                  <a:srgbClr val="66747D"/>
                </a:solidFill>
              </a:rPr>
              <a:t>New promises, exceptions, strategic deals</a:t>
            </a:r>
            <a:endParaRPr lang="en-US" sz="1150" dirty="0"/>
          </a:p>
        </p:txBody>
      </p:sp>
      <p:sp>
        <p:nvSpPr>
          <p:cNvPr id="26" name="Shape 24"/>
          <p:cNvSpPr/>
          <p:nvPr/>
        </p:nvSpPr>
        <p:spPr>
          <a:xfrm>
            <a:off x="777240" y="5120640"/>
            <a:ext cx="411480" cy="411480"/>
          </a:xfrm>
          <a:prstGeom prst="ellipse">
            <a:avLst/>
          </a:prstGeom>
          <a:solidFill>
            <a:srgbClr val="123047"/>
          </a:solidFill>
          <a:ln w="12700">
            <a:solidFill>
              <a:srgbClr val="123047"/>
            </a:solidFill>
            <a:prstDash val="solid"/>
          </a:ln>
        </p:spPr>
        <p:txBody>
          <a:bodyPr/>
          <a:p/>
        </p:txBody>
      </p:sp>
      <p:sp>
        <p:nvSpPr>
          <p:cNvPr id="27" name="Text 25"/>
          <p:cNvSpPr/>
          <p:nvPr/>
        </p:nvSpPr>
        <p:spPr>
          <a:xfrm>
            <a:off x="868680" y="5193792"/>
            <a:ext cx="228600" cy="182880"/>
          </a:xfrm>
          <a:prstGeom prst="rect">
            <a:avLst/>
          </a:prstGeom>
          <a:no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28" name="Text 26"/>
          <p:cNvSpPr/>
          <p:nvPr/>
        </p:nvSpPr>
        <p:spPr>
          <a:xfrm>
            <a:off x="1371600" y="5074920"/>
            <a:ext cx="2240280" cy="365760"/>
          </a:xfrm>
          <a:prstGeom prst="rect">
            <a:avLst/>
          </a:prstGeom>
          <a:noFill/>
          <a:ln/>
        </p:spPr>
        <p:txBody>
          <a:bodyPr wrap="square" lIns="0" tIns="0" rIns="0" bIns="0" rtlCol="0" anchor="ctr"/>
          <a:lstStyle/>
          <a:p>
            <a:pPr indent="0" marL="0">
              <a:buNone/>
            </a:pPr>
            <a:r>
              <a:rPr lang="en-US" sz="1300" b="1" dirty="0">
                <a:solidFill>
                  <a:srgbClr val="123047"/>
                </a:solidFill>
              </a:rPr>
              <a:t>Trade-offs</a:t>
            </a:r>
            <a:endParaRPr lang="en-US" sz="1300" dirty="0"/>
          </a:p>
        </p:txBody>
      </p:sp>
      <p:sp>
        <p:nvSpPr>
          <p:cNvPr id="29" name="Text 27"/>
          <p:cNvSpPr/>
          <p:nvPr/>
        </p:nvSpPr>
        <p:spPr>
          <a:xfrm>
            <a:off x="3657600" y="5074920"/>
            <a:ext cx="7040880" cy="365760"/>
          </a:xfrm>
          <a:prstGeom prst="rect">
            <a:avLst/>
          </a:prstGeom>
          <a:noFill/>
          <a:ln/>
        </p:spPr>
        <p:txBody>
          <a:bodyPr wrap="square" lIns="0" tIns="0" rIns="0" bIns="0" rtlCol="0" anchor="ctr"/>
          <a:lstStyle/>
          <a:p>
            <a:pPr indent="0" marL="0">
              <a:buNone/>
            </a:pPr>
            <a:r>
              <a:rPr lang="en-US" sz="1150" dirty="0">
                <a:solidFill>
                  <a:srgbClr val="66747D"/>
                </a:solidFill>
              </a:rPr>
              <a:t>What moves if a new priority enters?</a:t>
            </a:r>
            <a:endParaRPr lang="en-US" sz="1150" dirty="0"/>
          </a:p>
        </p:txBody>
      </p:sp>
      <p:sp>
        <p:nvSpPr>
          <p:cNvPr id="30" name="Text 28"/>
          <p:cNvSpPr/>
          <p:nvPr/>
        </p:nvSpPr>
        <p:spPr>
          <a:xfrm>
            <a:off x="914400" y="5989320"/>
            <a:ext cx="10332720" cy="320040"/>
          </a:xfrm>
          <a:prstGeom prst="rect">
            <a:avLst/>
          </a:prstGeom>
          <a:noFill/>
          <a:ln/>
        </p:spPr>
        <p:txBody>
          <a:bodyPr wrap="square" lIns="0" tIns="0" rIns="0" bIns="0" rtlCol="0" anchor="ctr"/>
          <a:lstStyle/>
          <a:p>
            <a:pPr algn="ctr" indent="0" marL="0">
              <a:buNone/>
            </a:pPr>
            <a:r>
              <a:rPr lang="en-US" sz="1300" b="1" dirty="0">
                <a:solidFill>
                  <a:srgbClr val="00787D"/>
                </a:solidFill>
              </a:rPr>
              <a:t>45–60 min monthly • Quarterly 90-min investment review for larger portfolio decisions</a:t>
            </a:r>
            <a:endParaRPr lang="en-US" sz="1300" dirty="0"/>
          </a:p>
        </p:txBody>
      </p:sp>
      <p:sp>
        <p:nvSpPr>
          <p:cNvPr id="31" name="Text 29"/>
          <p:cNvSpPr/>
          <p:nvPr/>
        </p:nvSpPr>
        <p:spPr>
          <a:xfrm>
            <a:off x="11201400" y="6473952"/>
            <a:ext cx="320040" cy="182880"/>
          </a:xfrm>
          <a:prstGeom prst="rect">
            <a:avLst/>
          </a:prstGeom>
          <a:noFill/>
          <a:ln/>
        </p:spPr>
        <p:txBody>
          <a:bodyPr wrap="square" lIns="0" tIns="0" rIns="0" bIns="0" rtlCol="0" anchor="ctr"/>
          <a:lstStyle/>
          <a:p>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GOVERNANCE</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Decision rights: make promises deliberately</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685800" y="1417320"/>
            <a:ext cx="3840480" cy="438912"/>
          </a:xfrm>
          <a:prstGeom prst="rect">
            <a:avLst/>
          </a:prstGeom>
          <a:solidFill>
            <a:srgbClr val="123047"/>
          </a:solidFill>
          <a:ln w="6350">
            <a:solidFill>
              <a:srgbClr val="FFFFFF"/>
            </a:solidFill>
            <a:prstDash val="solid"/>
          </a:ln>
        </p:spPr>
        <p:txBody>
          <a:bodyPr/>
          <a:p/>
        </p:txBody>
      </p:sp>
      <p:sp>
        <p:nvSpPr>
          <p:cNvPr id="7" name="Text 5"/>
          <p:cNvSpPr/>
          <p:nvPr/>
        </p:nvSpPr>
        <p:spPr>
          <a:xfrm>
            <a:off x="740664" y="1527048"/>
            <a:ext cx="3730752" cy="182880"/>
          </a:xfrm>
          <a:prstGeom prst="rect">
            <a:avLst/>
          </a:prstGeom>
          <a:noFill/>
          <a:ln/>
        </p:spPr>
        <p:txBody>
          <a:bodyPr wrap="square" lIns="0" tIns="0" rIns="0" bIns="0" rtlCol="0" anchor="ctr"/>
          <a:lstStyle/>
          <a:p>
            <a:pPr algn="l" indent="0" marL="0">
              <a:buNone/>
            </a:pPr>
            <a:r>
              <a:rPr lang="en-US" sz="900" b="1" dirty="0">
                <a:solidFill>
                  <a:srgbClr val="FFFFFF"/>
                </a:solidFill>
              </a:rPr>
              <a:t>Decision</a:t>
            </a:r>
            <a:endParaRPr lang="en-US" sz="900" dirty="0"/>
          </a:p>
        </p:txBody>
      </p:sp>
      <p:sp>
        <p:nvSpPr>
          <p:cNvPr id="8" name="Shape 6"/>
          <p:cNvSpPr/>
          <p:nvPr/>
        </p:nvSpPr>
        <p:spPr>
          <a:xfrm>
            <a:off x="4526280" y="1417320"/>
            <a:ext cx="1417320" cy="438912"/>
          </a:xfrm>
          <a:prstGeom prst="rect">
            <a:avLst/>
          </a:prstGeom>
          <a:solidFill>
            <a:srgbClr val="123047"/>
          </a:solidFill>
          <a:ln w="6350">
            <a:solidFill>
              <a:srgbClr val="FFFFFF"/>
            </a:solidFill>
            <a:prstDash val="solid"/>
          </a:ln>
        </p:spPr>
        <p:txBody>
          <a:bodyPr/>
          <a:p/>
        </p:txBody>
      </p:sp>
      <p:sp>
        <p:nvSpPr>
          <p:cNvPr id="9" name="Text 7"/>
          <p:cNvSpPr/>
          <p:nvPr/>
        </p:nvSpPr>
        <p:spPr>
          <a:xfrm>
            <a:off x="4581144" y="1527048"/>
            <a:ext cx="1307592" cy="182880"/>
          </a:xfrm>
          <a:prstGeom prst="rect">
            <a:avLst/>
          </a:prstGeom>
          <a:noFill/>
          <a:ln/>
        </p:spPr>
        <p:txBody>
          <a:bodyPr wrap="square" lIns="0" tIns="0" rIns="0" bIns="0" rtlCol="0" anchor="ctr"/>
          <a:lstStyle/>
          <a:p>
            <a:pPr algn="ctr" indent="0" marL="0">
              <a:buNone/>
            </a:pPr>
            <a:r>
              <a:rPr lang="en-US" sz="900" b="1" dirty="0">
                <a:solidFill>
                  <a:srgbClr val="FFFFFF"/>
                </a:solidFill>
              </a:rPr>
              <a:t>Product</a:t>
            </a:r>
            <a:endParaRPr lang="en-US" sz="900" dirty="0"/>
          </a:p>
        </p:txBody>
      </p:sp>
      <p:sp>
        <p:nvSpPr>
          <p:cNvPr id="10" name="Shape 8"/>
          <p:cNvSpPr/>
          <p:nvPr/>
        </p:nvSpPr>
        <p:spPr>
          <a:xfrm>
            <a:off x="5943600" y="1417320"/>
            <a:ext cx="1600200" cy="438912"/>
          </a:xfrm>
          <a:prstGeom prst="rect">
            <a:avLst/>
          </a:prstGeom>
          <a:solidFill>
            <a:srgbClr val="123047"/>
          </a:solidFill>
          <a:ln w="6350">
            <a:solidFill>
              <a:srgbClr val="FFFFFF"/>
            </a:solidFill>
            <a:prstDash val="solid"/>
          </a:ln>
        </p:spPr>
        <p:txBody>
          <a:bodyPr/>
          <a:p/>
        </p:txBody>
      </p:sp>
      <p:sp>
        <p:nvSpPr>
          <p:cNvPr id="11" name="Text 9"/>
          <p:cNvSpPr/>
          <p:nvPr/>
        </p:nvSpPr>
        <p:spPr>
          <a:xfrm>
            <a:off x="5998464" y="1527048"/>
            <a:ext cx="1490472" cy="182880"/>
          </a:xfrm>
          <a:prstGeom prst="rect">
            <a:avLst/>
          </a:prstGeom>
          <a:noFill/>
          <a:ln/>
        </p:spPr>
        <p:txBody>
          <a:bodyPr wrap="square" lIns="0" tIns="0" rIns="0" bIns="0" rtlCol="0" anchor="ctr"/>
          <a:lstStyle/>
          <a:p>
            <a:pPr algn="ctr" indent="0" marL="0">
              <a:buNone/>
            </a:pPr>
            <a:r>
              <a:rPr lang="en-US" sz="900" b="1" dirty="0">
                <a:solidFill>
                  <a:srgbClr val="FFFFFF"/>
                </a:solidFill>
              </a:rPr>
              <a:t>CTO / Eng</a:t>
            </a:r>
            <a:endParaRPr lang="en-US" sz="900" dirty="0"/>
          </a:p>
        </p:txBody>
      </p:sp>
      <p:sp>
        <p:nvSpPr>
          <p:cNvPr id="12" name="Shape 10"/>
          <p:cNvSpPr/>
          <p:nvPr/>
        </p:nvSpPr>
        <p:spPr>
          <a:xfrm>
            <a:off x="7543800" y="1417320"/>
            <a:ext cx="1417320" cy="438912"/>
          </a:xfrm>
          <a:prstGeom prst="rect">
            <a:avLst/>
          </a:prstGeom>
          <a:solidFill>
            <a:srgbClr val="123047"/>
          </a:solidFill>
          <a:ln w="6350">
            <a:solidFill>
              <a:srgbClr val="FFFFFF"/>
            </a:solidFill>
            <a:prstDash val="solid"/>
          </a:ln>
        </p:spPr>
        <p:txBody>
          <a:bodyPr/>
          <a:p/>
        </p:txBody>
      </p:sp>
      <p:sp>
        <p:nvSpPr>
          <p:cNvPr id="13" name="Text 11"/>
          <p:cNvSpPr/>
          <p:nvPr/>
        </p:nvSpPr>
        <p:spPr>
          <a:xfrm>
            <a:off x="7598664" y="1527048"/>
            <a:ext cx="1307592" cy="182880"/>
          </a:xfrm>
          <a:prstGeom prst="rect">
            <a:avLst/>
          </a:prstGeom>
          <a:noFill/>
          <a:ln/>
        </p:spPr>
        <p:txBody>
          <a:bodyPr wrap="square" lIns="0" tIns="0" rIns="0" bIns="0" rtlCol="0" anchor="ctr"/>
          <a:lstStyle/>
          <a:p>
            <a:pPr algn="ctr" indent="0" marL="0">
              <a:buNone/>
            </a:pPr>
            <a:r>
              <a:rPr lang="en-US" sz="900" b="1" dirty="0">
                <a:solidFill>
                  <a:srgbClr val="FFFFFF"/>
                </a:solidFill>
              </a:rPr>
              <a:t>CEO</a:t>
            </a:r>
            <a:endParaRPr lang="en-US" sz="900" dirty="0"/>
          </a:p>
        </p:txBody>
      </p:sp>
      <p:sp>
        <p:nvSpPr>
          <p:cNvPr id="14" name="Shape 12"/>
          <p:cNvSpPr/>
          <p:nvPr/>
        </p:nvSpPr>
        <p:spPr>
          <a:xfrm>
            <a:off x="8961120" y="1417320"/>
            <a:ext cx="1417320" cy="438912"/>
          </a:xfrm>
          <a:prstGeom prst="rect">
            <a:avLst/>
          </a:prstGeom>
          <a:solidFill>
            <a:srgbClr val="123047"/>
          </a:solidFill>
          <a:ln w="6350">
            <a:solidFill>
              <a:srgbClr val="FFFFFF"/>
            </a:solidFill>
            <a:prstDash val="solid"/>
          </a:ln>
        </p:spPr>
        <p:txBody>
          <a:bodyPr/>
          <a:p/>
        </p:txBody>
      </p:sp>
      <p:sp>
        <p:nvSpPr>
          <p:cNvPr id="15" name="Text 13"/>
          <p:cNvSpPr/>
          <p:nvPr/>
        </p:nvSpPr>
        <p:spPr>
          <a:xfrm>
            <a:off x="9015984" y="1527048"/>
            <a:ext cx="1307592" cy="182880"/>
          </a:xfrm>
          <a:prstGeom prst="rect">
            <a:avLst/>
          </a:prstGeom>
          <a:noFill/>
          <a:ln/>
        </p:spPr>
        <p:txBody>
          <a:bodyPr wrap="square" lIns="0" tIns="0" rIns="0" bIns="0" rtlCol="0" anchor="ctr"/>
          <a:lstStyle/>
          <a:p>
            <a:pPr algn="ctr" indent="0" marL="0">
              <a:buNone/>
            </a:pPr>
            <a:r>
              <a:rPr lang="en-US" sz="900" b="1" dirty="0">
                <a:solidFill>
                  <a:srgbClr val="FFFFFF"/>
                </a:solidFill>
              </a:rPr>
              <a:t>Sales</a:t>
            </a:r>
            <a:endParaRPr lang="en-US" sz="900" dirty="0"/>
          </a:p>
        </p:txBody>
      </p:sp>
      <p:sp>
        <p:nvSpPr>
          <p:cNvPr id="16" name="Shape 14"/>
          <p:cNvSpPr/>
          <p:nvPr/>
        </p:nvSpPr>
        <p:spPr>
          <a:xfrm>
            <a:off x="685800" y="1856232"/>
            <a:ext cx="3840480" cy="603504"/>
          </a:xfrm>
          <a:prstGeom prst="rect">
            <a:avLst/>
          </a:prstGeom>
          <a:solidFill>
            <a:srgbClr val="F5F7F8"/>
          </a:solidFill>
          <a:ln w="6350">
            <a:solidFill>
              <a:srgbClr val="D9E0E3"/>
            </a:solidFill>
            <a:prstDash val="solid"/>
          </a:ln>
        </p:spPr>
        <p:txBody>
          <a:bodyPr/>
          <a:p/>
        </p:txBody>
      </p:sp>
      <p:sp>
        <p:nvSpPr>
          <p:cNvPr id="17" name="Text 15"/>
          <p:cNvSpPr/>
          <p:nvPr/>
        </p:nvSpPr>
        <p:spPr>
          <a:xfrm>
            <a:off x="740664" y="2020824"/>
            <a:ext cx="3730752" cy="201168"/>
          </a:xfrm>
          <a:prstGeom prst="rect">
            <a:avLst/>
          </a:prstGeom>
          <a:noFill/>
          <a:ln/>
        </p:spPr>
        <p:txBody>
          <a:bodyPr wrap="square" lIns="0" tIns="0" rIns="0" bIns="0" rtlCol="0" anchor="ctr"/>
          <a:lstStyle/>
          <a:p>
            <a:pPr algn="l" indent="0" marL="0">
              <a:buNone/>
            </a:pPr>
            <a:r>
              <a:rPr lang="en-US" sz="1000" dirty="0">
                <a:solidFill>
                  <a:srgbClr val="182026"/>
                </a:solidFill>
              </a:rPr>
              <a:t>Goals / themes</a:t>
            </a:r>
            <a:endParaRPr lang="en-US" sz="1000" dirty="0"/>
          </a:p>
        </p:txBody>
      </p:sp>
      <p:sp>
        <p:nvSpPr>
          <p:cNvPr id="18" name="Shape 16"/>
          <p:cNvSpPr/>
          <p:nvPr/>
        </p:nvSpPr>
        <p:spPr>
          <a:xfrm>
            <a:off x="4526280" y="1856232"/>
            <a:ext cx="1417320" cy="603504"/>
          </a:xfrm>
          <a:prstGeom prst="rect">
            <a:avLst/>
          </a:prstGeom>
          <a:solidFill>
            <a:srgbClr val="F5F7F8"/>
          </a:solidFill>
          <a:ln w="6350">
            <a:solidFill>
              <a:srgbClr val="D9E0E3"/>
            </a:solidFill>
            <a:prstDash val="solid"/>
          </a:ln>
        </p:spPr>
        <p:txBody>
          <a:bodyPr/>
          <a:p/>
        </p:txBody>
      </p:sp>
      <p:sp>
        <p:nvSpPr>
          <p:cNvPr id="19" name="Text 17"/>
          <p:cNvSpPr/>
          <p:nvPr/>
        </p:nvSpPr>
        <p:spPr>
          <a:xfrm>
            <a:off x="4581144" y="2020824"/>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R</a:t>
            </a:r>
            <a:endParaRPr lang="en-US" sz="1000" dirty="0"/>
          </a:p>
        </p:txBody>
      </p:sp>
      <p:sp>
        <p:nvSpPr>
          <p:cNvPr id="20" name="Shape 18"/>
          <p:cNvSpPr/>
          <p:nvPr/>
        </p:nvSpPr>
        <p:spPr>
          <a:xfrm>
            <a:off x="5943600" y="1856232"/>
            <a:ext cx="1600200" cy="603504"/>
          </a:xfrm>
          <a:prstGeom prst="rect">
            <a:avLst/>
          </a:prstGeom>
          <a:solidFill>
            <a:srgbClr val="F5F7F8"/>
          </a:solidFill>
          <a:ln w="6350">
            <a:solidFill>
              <a:srgbClr val="D9E0E3"/>
            </a:solidFill>
            <a:prstDash val="solid"/>
          </a:ln>
        </p:spPr>
        <p:txBody>
          <a:bodyPr/>
          <a:p/>
        </p:txBody>
      </p:sp>
      <p:sp>
        <p:nvSpPr>
          <p:cNvPr id="21" name="Text 19"/>
          <p:cNvSpPr/>
          <p:nvPr/>
        </p:nvSpPr>
        <p:spPr>
          <a:xfrm>
            <a:off x="5998464" y="2020824"/>
            <a:ext cx="1490472" cy="201168"/>
          </a:xfrm>
          <a:prstGeom prst="rect">
            <a:avLst/>
          </a:prstGeom>
          <a:noFill/>
          <a:ln/>
        </p:spPr>
        <p:txBody>
          <a:bodyPr wrap="square" lIns="0" tIns="0" rIns="0" bIns="0" rtlCol="0" anchor="ctr"/>
          <a:lstStyle/>
          <a:p>
            <a:pPr algn="ctr" indent="0" marL="0">
              <a:buNone/>
            </a:pPr>
            <a:r>
              <a:rPr lang="en-US" sz="1000" b="1" dirty="0">
                <a:solidFill>
                  <a:srgbClr val="182026"/>
                </a:solidFill>
              </a:rPr>
              <a:t>C</a:t>
            </a:r>
            <a:endParaRPr lang="en-US" sz="1000" dirty="0"/>
          </a:p>
        </p:txBody>
      </p:sp>
      <p:sp>
        <p:nvSpPr>
          <p:cNvPr id="22" name="Shape 20"/>
          <p:cNvSpPr/>
          <p:nvPr/>
        </p:nvSpPr>
        <p:spPr>
          <a:xfrm>
            <a:off x="7543800" y="1856232"/>
            <a:ext cx="1417320" cy="603504"/>
          </a:xfrm>
          <a:prstGeom prst="rect">
            <a:avLst/>
          </a:prstGeom>
          <a:solidFill>
            <a:srgbClr val="F5F7F8"/>
          </a:solidFill>
          <a:ln w="6350">
            <a:solidFill>
              <a:srgbClr val="D9E0E3"/>
            </a:solidFill>
            <a:prstDash val="solid"/>
          </a:ln>
        </p:spPr>
        <p:txBody>
          <a:bodyPr/>
          <a:p/>
        </p:txBody>
      </p:sp>
      <p:sp>
        <p:nvSpPr>
          <p:cNvPr id="23" name="Text 21"/>
          <p:cNvSpPr/>
          <p:nvPr/>
        </p:nvSpPr>
        <p:spPr>
          <a:xfrm>
            <a:off x="7598664" y="2020824"/>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A</a:t>
            </a:r>
            <a:endParaRPr lang="en-US" sz="1000" dirty="0"/>
          </a:p>
        </p:txBody>
      </p:sp>
      <p:sp>
        <p:nvSpPr>
          <p:cNvPr id="24" name="Shape 22"/>
          <p:cNvSpPr/>
          <p:nvPr/>
        </p:nvSpPr>
        <p:spPr>
          <a:xfrm>
            <a:off x="8961120" y="1856232"/>
            <a:ext cx="1417320" cy="603504"/>
          </a:xfrm>
          <a:prstGeom prst="rect">
            <a:avLst/>
          </a:prstGeom>
          <a:solidFill>
            <a:srgbClr val="F5F7F8"/>
          </a:solidFill>
          <a:ln w="6350">
            <a:solidFill>
              <a:srgbClr val="D9E0E3"/>
            </a:solidFill>
            <a:prstDash val="solid"/>
          </a:ln>
        </p:spPr>
        <p:txBody>
          <a:bodyPr/>
          <a:p/>
        </p:txBody>
      </p:sp>
      <p:sp>
        <p:nvSpPr>
          <p:cNvPr id="25" name="Text 23"/>
          <p:cNvSpPr/>
          <p:nvPr/>
        </p:nvSpPr>
        <p:spPr>
          <a:xfrm>
            <a:off x="9015984" y="2020824"/>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C</a:t>
            </a:r>
            <a:endParaRPr lang="en-US" sz="1000" dirty="0"/>
          </a:p>
        </p:txBody>
      </p:sp>
      <p:sp>
        <p:nvSpPr>
          <p:cNvPr id="26" name="Shape 24"/>
          <p:cNvSpPr/>
          <p:nvPr/>
        </p:nvSpPr>
        <p:spPr>
          <a:xfrm>
            <a:off x="685800" y="2459736"/>
            <a:ext cx="3840480" cy="603504"/>
          </a:xfrm>
          <a:prstGeom prst="rect">
            <a:avLst/>
          </a:prstGeom>
          <a:solidFill>
            <a:srgbClr val="FFFFFF"/>
          </a:solidFill>
          <a:ln w="6350">
            <a:solidFill>
              <a:srgbClr val="D9E0E3"/>
            </a:solidFill>
            <a:prstDash val="solid"/>
          </a:ln>
        </p:spPr>
        <p:txBody>
          <a:bodyPr/>
          <a:p/>
        </p:txBody>
      </p:sp>
      <p:sp>
        <p:nvSpPr>
          <p:cNvPr id="27" name="Text 25"/>
          <p:cNvSpPr/>
          <p:nvPr/>
        </p:nvSpPr>
        <p:spPr>
          <a:xfrm>
            <a:off x="740664" y="2624328"/>
            <a:ext cx="3730752" cy="201168"/>
          </a:xfrm>
          <a:prstGeom prst="rect">
            <a:avLst/>
          </a:prstGeom>
          <a:noFill/>
          <a:ln/>
        </p:spPr>
        <p:txBody>
          <a:bodyPr wrap="square" lIns="0" tIns="0" rIns="0" bIns="0" rtlCol="0" anchor="ctr"/>
          <a:lstStyle/>
          <a:p>
            <a:pPr algn="l" indent="0" marL="0">
              <a:buNone/>
            </a:pPr>
            <a:r>
              <a:rPr lang="en-US" sz="1000" dirty="0">
                <a:solidFill>
                  <a:srgbClr val="182026"/>
                </a:solidFill>
              </a:rPr>
              <a:t>Roadmap sequencing</a:t>
            </a:r>
            <a:endParaRPr lang="en-US" sz="1000" dirty="0"/>
          </a:p>
        </p:txBody>
      </p:sp>
      <p:sp>
        <p:nvSpPr>
          <p:cNvPr id="28" name="Shape 26"/>
          <p:cNvSpPr/>
          <p:nvPr/>
        </p:nvSpPr>
        <p:spPr>
          <a:xfrm>
            <a:off x="4526280" y="2459736"/>
            <a:ext cx="1417320" cy="603504"/>
          </a:xfrm>
          <a:prstGeom prst="rect">
            <a:avLst/>
          </a:prstGeom>
          <a:solidFill>
            <a:srgbClr val="FFFFFF"/>
          </a:solidFill>
          <a:ln w="6350">
            <a:solidFill>
              <a:srgbClr val="D9E0E3"/>
            </a:solidFill>
            <a:prstDash val="solid"/>
          </a:ln>
        </p:spPr>
        <p:txBody>
          <a:bodyPr/>
          <a:p/>
        </p:txBody>
      </p:sp>
      <p:sp>
        <p:nvSpPr>
          <p:cNvPr id="29" name="Text 27"/>
          <p:cNvSpPr/>
          <p:nvPr/>
        </p:nvSpPr>
        <p:spPr>
          <a:xfrm>
            <a:off x="4581144" y="2624328"/>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R</a:t>
            </a:r>
            <a:endParaRPr lang="en-US" sz="1000" dirty="0"/>
          </a:p>
        </p:txBody>
      </p:sp>
      <p:sp>
        <p:nvSpPr>
          <p:cNvPr id="30" name="Shape 28"/>
          <p:cNvSpPr/>
          <p:nvPr/>
        </p:nvSpPr>
        <p:spPr>
          <a:xfrm>
            <a:off x="5943600" y="2459736"/>
            <a:ext cx="1600200" cy="603504"/>
          </a:xfrm>
          <a:prstGeom prst="rect">
            <a:avLst/>
          </a:prstGeom>
          <a:solidFill>
            <a:srgbClr val="FFFFFF"/>
          </a:solidFill>
          <a:ln w="6350">
            <a:solidFill>
              <a:srgbClr val="D9E0E3"/>
            </a:solidFill>
            <a:prstDash val="solid"/>
          </a:ln>
        </p:spPr>
        <p:txBody>
          <a:bodyPr/>
          <a:p/>
        </p:txBody>
      </p:sp>
      <p:sp>
        <p:nvSpPr>
          <p:cNvPr id="31" name="Text 29"/>
          <p:cNvSpPr/>
          <p:nvPr/>
        </p:nvSpPr>
        <p:spPr>
          <a:xfrm>
            <a:off x="5998464" y="2624328"/>
            <a:ext cx="1490472" cy="201168"/>
          </a:xfrm>
          <a:prstGeom prst="rect">
            <a:avLst/>
          </a:prstGeom>
          <a:noFill/>
          <a:ln/>
        </p:spPr>
        <p:txBody>
          <a:bodyPr wrap="square" lIns="0" tIns="0" rIns="0" bIns="0" rtlCol="0" anchor="ctr"/>
          <a:lstStyle/>
          <a:p>
            <a:pPr algn="ctr" indent="0" marL="0">
              <a:buNone/>
            </a:pPr>
            <a:r>
              <a:rPr lang="en-US" sz="1000" b="1" dirty="0">
                <a:solidFill>
                  <a:srgbClr val="182026"/>
                </a:solidFill>
              </a:rPr>
              <a:t>C</a:t>
            </a:r>
            <a:endParaRPr lang="en-US" sz="1000" dirty="0"/>
          </a:p>
        </p:txBody>
      </p:sp>
      <p:sp>
        <p:nvSpPr>
          <p:cNvPr id="32" name="Shape 30"/>
          <p:cNvSpPr/>
          <p:nvPr/>
        </p:nvSpPr>
        <p:spPr>
          <a:xfrm>
            <a:off x="7543800" y="2459736"/>
            <a:ext cx="1417320" cy="603504"/>
          </a:xfrm>
          <a:prstGeom prst="rect">
            <a:avLst/>
          </a:prstGeom>
          <a:solidFill>
            <a:srgbClr val="FFFFFF"/>
          </a:solidFill>
          <a:ln w="6350">
            <a:solidFill>
              <a:srgbClr val="D9E0E3"/>
            </a:solidFill>
            <a:prstDash val="solid"/>
          </a:ln>
        </p:spPr>
        <p:txBody>
          <a:bodyPr/>
          <a:p/>
        </p:txBody>
      </p:sp>
      <p:sp>
        <p:nvSpPr>
          <p:cNvPr id="33" name="Text 31"/>
          <p:cNvSpPr/>
          <p:nvPr/>
        </p:nvSpPr>
        <p:spPr>
          <a:xfrm>
            <a:off x="7598664" y="2624328"/>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A*</a:t>
            </a:r>
            <a:endParaRPr lang="en-US" sz="1000" dirty="0"/>
          </a:p>
        </p:txBody>
      </p:sp>
      <p:sp>
        <p:nvSpPr>
          <p:cNvPr id="34" name="Shape 32"/>
          <p:cNvSpPr/>
          <p:nvPr/>
        </p:nvSpPr>
        <p:spPr>
          <a:xfrm>
            <a:off x="8961120" y="2459736"/>
            <a:ext cx="1417320" cy="603504"/>
          </a:xfrm>
          <a:prstGeom prst="rect">
            <a:avLst/>
          </a:prstGeom>
          <a:solidFill>
            <a:srgbClr val="FFFFFF"/>
          </a:solidFill>
          <a:ln w="6350">
            <a:solidFill>
              <a:srgbClr val="D9E0E3"/>
            </a:solidFill>
            <a:prstDash val="solid"/>
          </a:ln>
        </p:spPr>
        <p:txBody>
          <a:bodyPr/>
          <a:p/>
        </p:txBody>
      </p:sp>
      <p:sp>
        <p:nvSpPr>
          <p:cNvPr id="35" name="Text 33"/>
          <p:cNvSpPr/>
          <p:nvPr/>
        </p:nvSpPr>
        <p:spPr>
          <a:xfrm>
            <a:off x="9015984" y="2624328"/>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C</a:t>
            </a:r>
            <a:endParaRPr lang="en-US" sz="1000" dirty="0"/>
          </a:p>
        </p:txBody>
      </p:sp>
      <p:sp>
        <p:nvSpPr>
          <p:cNvPr id="36" name="Shape 34"/>
          <p:cNvSpPr/>
          <p:nvPr/>
        </p:nvSpPr>
        <p:spPr>
          <a:xfrm>
            <a:off x="685800" y="3063240"/>
            <a:ext cx="3840480" cy="603504"/>
          </a:xfrm>
          <a:prstGeom prst="rect">
            <a:avLst/>
          </a:prstGeom>
          <a:solidFill>
            <a:srgbClr val="F5F7F8"/>
          </a:solidFill>
          <a:ln w="6350">
            <a:solidFill>
              <a:srgbClr val="D9E0E3"/>
            </a:solidFill>
            <a:prstDash val="solid"/>
          </a:ln>
        </p:spPr>
        <p:txBody>
          <a:bodyPr/>
          <a:p/>
        </p:txBody>
      </p:sp>
      <p:sp>
        <p:nvSpPr>
          <p:cNvPr id="37" name="Text 35"/>
          <p:cNvSpPr/>
          <p:nvPr/>
        </p:nvSpPr>
        <p:spPr>
          <a:xfrm>
            <a:off x="740664" y="3227832"/>
            <a:ext cx="3730752" cy="201168"/>
          </a:xfrm>
          <a:prstGeom prst="rect">
            <a:avLst/>
          </a:prstGeom>
          <a:noFill/>
          <a:ln/>
        </p:spPr>
        <p:txBody>
          <a:bodyPr wrap="square" lIns="0" tIns="0" rIns="0" bIns="0" rtlCol="0" anchor="ctr"/>
          <a:lstStyle/>
          <a:p>
            <a:pPr algn="l" indent="0" marL="0">
              <a:buNone/>
            </a:pPr>
            <a:r>
              <a:rPr lang="en-US" sz="1000" dirty="0">
                <a:solidFill>
                  <a:srgbClr val="182026"/>
                </a:solidFill>
              </a:rPr>
              <a:t>Artefact Ready</a:t>
            </a:r>
            <a:endParaRPr lang="en-US" sz="1000" dirty="0"/>
          </a:p>
        </p:txBody>
      </p:sp>
      <p:sp>
        <p:nvSpPr>
          <p:cNvPr id="38" name="Shape 36"/>
          <p:cNvSpPr/>
          <p:nvPr/>
        </p:nvSpPr>
        <p:spPr>
          <a:xfrm>
            <a:off x="4526280" y="3063240"/>
            <a:ext cx="1417320" cy="603504"/>
          </a:xfrm>
          <a:prstGeom prst="rect">
            <a:avLst/>
          </a:prstGeom>
          <a:solidFill>
            <a:srgbClr val="F5F7F8"/>
          </a:solidFill>
          <a:ln w="6350">
            <a:solidFill>
              <a:srgbClr val="D9E0E3"/>
            </a:solidFill>
            <a:prstDash val="solid"/>
          </a:ln>
        </p:spPr>
        <p:txBody>
          <a:bodyPr/>
          <a:p/>
        </p:txBody>
      </p:sp>
      <p:sp>
        <p:nvSpPr>
          <p:cNvPr id="39" name="Text 37"/>
          <p:cNvSpPr/>
          <p:nvPr/>
        </p:nvSpPr>
        <p:spPr>
          <a:xfrm>
            <a:off x="4581144" y="3227832"/>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A/R</a:t>
            </a:r>
            <a:endParaRPr lang="en-US" sz="1000" dirty="0"/>
          </a:p>
        </p:txBody>
      </p:sp>
      <p:sp>
        <p:nvSpPr>
          <p:cNvPr id="40" name="Shape 38"/>
          <p:cNvSpPr/>
          <p:nvPr/>
        </p:nvSpPr>
        <p:spPr>
          <a:xfrm>
            <a:off x="5943600" y="3063240"/>
            <a:ext cx="1600200" cy="603504"/>
          </a:xfrm>
          <a:prstGeom prst="rect">
            <a:avLst/>
          </a:prstGeom>
          <a:solidFill>
            <a:srgbClr val="F5F7F8"/>
          </a:solidFill>
          <a:ln w="6350">
            <a:solidFill>
              <a:srgbClr val="D9E0E3"/>
            </a:solidFill>
            <a:prstDash val="solid"/>
          </a:ln>
        </p:spPr>
        <p:txBody>
          <a:bodyPr/>
          <a:p/>
        </p:txBody>
      </p:sp>
      <p:sp>
        <p:nvSpPr>
          <p:cNvPr id="41" name="Text 39"/>
          <p:cNvSpPr/>
          <p:nvPr/>
        </p:nvSpPr>
        <p:spPr>
          <a:xfrm>
            <a:off x="5998464" y="3227832"/>
            <a:ext cx="1490472" cy="201168"/>
          </a:xfrm>
          <a:prstGeom prst="rect">
            <a:avLst/>
          </a:prstGeom>
          <a:noFill/>
          <a:ln/>
        </p:spPr>
        <p:txBody>
          <a:bodyPr wrap="square" lIns="0" tIns="0" rIns="0" bIns="0" rtlCol="0" anchor="ctr"/>
          <a:lstStyle/>
          <a:p>
            <a:pPr algn="ctr" indent="0" marL="0">
              <a:buNone/>
            </a:pPr>
            <a:r>
              <a:rPr lang="en-US" sz="1000" b="1" dirty="0">
                <a:solidFill>
                  <a:srgbClr val="182026"/>
                </a:solidFill>
              </a:rPr>
              <a:t>C/R</a:t>
            </a:r>
            <a:endParaRPr lang="en-US" sz="1000" dirty="0"/>
          </a:p>
        </p:txBody>
      </p:sp>
      <p:sp>
        <p:nvSpPr>
          <p:cNvPr id="42" name="Shape 40"/>
          <p:cNvSpPr/>
          <p:nvPr/>
        </p:nvSpPr>
        <p:spPr>
          <a:xfrm>
            <a:off x="7543800" y="3063240"/>
            <a:ext cx="1417320" cy="603504"/>
          </a:xfrm>
          <a:prstGeom prst="rect">
            <a:avLst/>
          </a:prstGeom>
          <a:solidFill>
            <a:srgbClr val="F5F7F8"/>
          </a:solidFill>
          <a:ln w="6350">
            <a:solidFill>
              <a:srgbClr val="D9E0E3"/>
            </a:solidFill>
            <a:prstDash val="solid"/>
          </a:ln>
        </p:spPr>
        <p:txBody>
          <a:bodyPr/>
          <a:p/>
        </p:txBody>
      </p:sp>
      <p:sp>
        <p:nvSpPr>
          <p:cNvPr id="43" name="Text 41"/>
          <p:cNvSpPr/>
          <p:nvPr/>
        </p:nvSpPr>
        <p:spPr>
          <a:xfrm>
            <a:off x="7598664" y="3227832"/>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I</a:t>
            </a:r>
            <a:endParaRPr lang="en-US" sz="1000" dirty="0"/>
          </a:p>
        </p:txBody>
      </p:sp>
      <p:sp>
        <p:nvSpPr>
          <p:cNvPr id="44" name="Shape 42"/>
          <p:cNvSpPr/>
          <p:nvPr/>
        </p:nvSpPr>
        <p:spPr>
          <a:xfrm>
            <a:off x="8961120" y="3063240"/>
            <a:ext cx="1417320" cy="603504"/>
          </a:xfrm>
          <a:prstGeom prst="rect">
            <a:avLst/>
          </a:prstGeom>
          <a:solidFill>
            <a:srgbClr val="F5F7F8"/>
          </a:solidFill>
          <a:ln w="6350">
            <a:solidFill>
              <a:srgbClr val="D9E0E3"/>
            </a:solidFill>
            <a:prstDash val="solid"/>
          </a:ln>
        </p:spPr>
        <p:txBody>
          <a:bodyPr/>
          <a:p/>
        </p:txBody>
      </p:sp>
      <p:sp>
        <p:nvSpPr>
          <p:cNvPr id="45" name="Text 43"/>
          <p:cNvSpPr/>
          <p:nvPr/>
        </p:nvSpPr>
        <p:spPr>
          <a:xfrm>
            <a:off x="9015984" y="3227832"/>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C</a:t>
            </a:r>
            <a:endParaRPr lang="en-US" sz="1000" dirty="0"/>
          </a:p>
        </p:txBody>
      </p:sp>
      <p:sp>
        <p:nvSpPr>
          <p:cNvPr id="46" name="Shape 44"/>
          <p:cNvSpPr/>
          <p:nvPr/>
        </p:nvSpPr>
        <p:spPr>
          <a:xfrm>
            <a:off x="685800" y="3666744"/>
            <a:ext cx="3840480" cy="603504"/>
          </a:xfrm>
          <a:prstGeom prst="rect">
            <a:avLst/>
          </a:prstGeom>
          <a:solidFill>
            <a:srgbClr val="FFFFFF"/>
          </a:solidFill>
          <a:ln w="6350">
            <a:solidFill>
              <a:srgbClr val="D9E0E3"/>
            </a:solidFill>
            <a:prstDash val="solid"/>
          </a:ln>
        </p:spPr>
        <p:txBody>
          <a:bodyPr/>
          <a:p/>
        </p:txBody>
      </p:sp>
      <p:sp>
        <p:nvSpPr>
          <p:cNvPr id="47" name="Text 45"/>
          <p:cNvSpPr/>
          <p:nvPr/>
        </p:nvSpPr>
        <p:spPr>
          <a:xfrm>
            <a:off x="740664" y="3831336"/>
            <a:ext cx="3730752" cy="201168"/>
          </a:xfrm>
          <a:prstGeom prst="rect">
            <a:avLst/>
          </a:prstGeom>
          <a:noFill/>
          <a:ln/>
        </p:spPr>
        <p:txBody>
          <a:bodyPr wrap="square" lIns="0" tIns="0" rIns="0" bIns="0" rtlCol="0" anchor="ctr"/>
          <a:lstStyle/>
          <a:p>
            <a:pPr algn="l" indent="0" marL="0">
              <a:buNone/>
            </a:pPr>
            <a:r>
              <a:rPr lang="en-US" sz="1000" dirty="0">
                <a:solidFill>
                  <a:srgbClr val="182026"/>
                </a:solidFill>
              </a:rPr>
              <a:t>Delivery forecast</a:t>
            </a:r>
            <a:endParaRPr lang="en-US" sz="1000" dirty="0"/>
          </a:p>
        </p:txBody>
      </p:sp>
      <p:sp>
        <p:nvSpPr>
          <p:cNvPr id="48" name="Shape 46"/>
          <p:cNvSpPr/>
          <p:nvPr/>
        </p:nvSpPr>
        <p:spPr>
          <a:xfrm>
            <a:off x="4526280" y="3666744"/>
            <a:ext cx="1417320" cy="603504"/>
          </a:xfrm>
          <a:prstGeom prst="rect">
            <a:avLst/>
          </a:prstGeom>
          <a:solidFill>
            <a:srgbClr val="FFFFFF"/>
          </a:solidFill>
          <a:ln w="6350">
            <a:solidFill>
              <a:srgbClr val="D9E0E3"/>
            </a:solidFill>
            <a:prstDash val="solid"/>
          </a:ln>
        </p:spPr>
        <p:txBody>
          <a:bodyPr/>
          <a:p/>
        </p:txBody>
      </p:sp>
      <p:sp>
        <p:nvSpPr>
          <p:cNvPr id="49" name="Text 47"/>
          <p:cNvSpPr/>
          <p:nvPr/>
        </p:nvSpPr>
        <p:spPr>
          <a:xfrm>
            <a:off x="4581144" y="3831336"/>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C</a:t>
            </a:r>
            <a:endParaRPr lang="en-US" sz="1000" dirty="0"/>
          </a:p>
        </p:txBody>
      </p:sp>
      <p:sp>
        <p:nvSpPr>
          <p:cNvPr id="50" name="Shape 48"/>
          <p:cNvSpPr/>
          <p:nvPr/>
        </p:nvSpPr>
        <p:spPr>
          <a:xfrm>
            <a:off x="5943600" y="3666744"/>
            <a:ext cx="1600200" cy="603504"/>
          </a:xfrm>
          <a:prstGeom prst="rect">
            <a:avLst/>
          </a:prstGeom>
          <a:solidFill>
            <a:srgbClr val="FFFFFF"/>
          </a:solidFill>
          <a:ln w="6350">
            <a:solidFill>
              <a:srgbClr val="D9E0E3"/>
            </a:solidFill>
            <a:prstDash val="solid"/>
          </a:ln>
        </p:spPr>
        <p:txBody>
          <a:bodyPr/>
          <a:p/>
        </p:txBody>
      </p:sp>
      <p:sp>
        <p:nvSpPr>
          <p:cNvPr id="51" name="Text 49"/>
          <p:cNvSpPr/>
          <p:nvPr/>
        </p:nvSpPr>
        <p:spPr>
          <a:xfrm>
            <a:off x="5998464" y="3831336"/>
            <a:ext cx="1490472" cy="201168"/>
          </a:xfrm>
          <a:prstGeom prst="rect">
            <a:avLst/>
          </a:prstGeom>
          <a:noFill/>
          <a:ln/>
        </p:spPr>
        <p:txBody>
          <a:bodyPr wrap="square" lIns="0" tIns="0" rIns="0" bIns="0" rtlCol="0" anchor="ctr"/>
          <a:lstStyle/>
          <a:p>
            <a:pPr algn="ctr" indent="0" marL="0">
              <a:buNone/>
            </a:pPr>
            <a:r>
              <a:rPr lang="en-US" sz="1000" b="1" dirty="0">
                <a:solidFill>
                  <a:srgbClr val="182026"/>
                </a:solidFill>
              </a:rPr>
              <a:t>A/R</a:t>
            </a:r>
            <a:endParaRPr lang="en-US" sz="1000" dirty="0"/>
          </a:p>
        </p:txBody>
      </p:sp>
      <p:sp>
        <p:nvSpPr>
          <p:cNvPr id="52" name="Shape 50"/>
          <p:cNvSpPr/>
          <p:nvPr/>
        </p:nvSpPr>
        <p:spPr>
          <a:xfrm>
            <a:off x="7543800" y="3666744"/>
            <a:ext cx="1417320" cy="603504"/>
          </a:xfrm>
          <a:prstGeom prst="rect">
            <a:avLst/>
          </a:prstGeom>
          <a:solidFill>
            <a:srgbClr val="FFFFFF"/>
          </a:solidFill>
          <a:ln w="6350">
            <a:solidFill>
              <a:srgbClr val="D9E0E3"/>
            </a:solidFill>
            <a:prstDash val="solid"/>
          </a:ln>
        </p:spPr>
        <p:txBody>
          <a:bodyPr/>
          <a:p/>
        </p:txBody>
      </p:sp>
      <p:sp>
        <p:nvSpPr>
          <p:cNvPr id="53" name="Text 51"/>
          <p:cNvSpPr/>
          <p:nvPr/>
        </p:nvSpPr>
        <p:spPr>
          <a:xfrm>
            <a:off x="7598664" y="3831336"/>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I</a:t>
            </a:r>
            <a:endParaRPr lang="en-US" sz="1000" dirty="0"/>
          </a:p>
        </p:txBody>
      </p:sp>
      <p:sp>
        <p:nvSpPr>
          <p:cNvPr id="54" name="Shape 52"/>
          <p:cNvSpPr/>
          <p:nvPr/>
        </p:nvSpPr>
        <p:spPr>
          <a:xfrm>
            <a:off x="8961120" y="3666744"/>
            <a:ext cx="1417320" cy="603504"/>
          </a:xfrm>
          <a:prstGeom prst="rect">
            <a:avLst/>
          </a:prstGeom>
          <a:solidFill>
            <a:srgbClr val="FFFFFF"/>
          </a:solidFill>
          <a:ln w="6350">
            <a:solidFill>
              <a:srgbClr val="D9E0E3"/>
            </a:solidFill>
            <a:prstDash val="solid"/>
          </a:ln>
        </p:spPr>
        <p:txBody>
          <a:bodyPr/>
          <a:p/>
        </p:txBody>
      </p:sp>
      <p:sp>
        <p:nvSpPr>
          <p:cNvPr id="55" name="Text 53"/>
          <p:cNvSpPr/>
          <p:nvPr/>
        </p:nvSpPr>
        <p:spPr>
          <a:xfrm>
            <a:off x="9015984" y="3831336"/>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I</a:t>
            </a:r>
            <a:endParaRPr lang="en-US" sz="1000" dirty="0"/>
          </a:p>
        </p:txBody>
      </p:sp>
      <p:sp>
        <p:nvSpPr>
          <p:cNvPr id="56" name="Shape 54"/>
          <p:cNvSpPr/>
          <p:nvPr/>
        </p:nvSpPr>
        <p:spPr>
          <a:xfrm>
            <a:off x="685800" y="4270248"/>
            <a:ext cx="3840480" cy="603504"/>
          </a:xfrm>
          <a:prstGeom prst="rect">
            <a:avLst/>
          </a:prstGeom>
          <a:solidFill>
            <a:srgbClr val="F5F7F8"/>
          </a:solidFill>
          <a:ln w="6350">
            <a:solidFill>
              <a:srgbClr val="D9E0E3"/>
            </a:solidFill>
            <a:prstDash val="solid"/>
          </a:ln>
        </p:spPr>
        <p:txBody>
          <a:bodyPr/>
          <a:p/>
        </p:txBody>
      </p:sp>
      <p:sp>
        <p:nvSpPr>
          <p:cNvPr id="57" name="Text 55"/>
          <p:cNvSpPr/>
          <p:nvPr/>
        </p:nvSpPr>
        <p:spPr>
          <a:xfrm>
            <a:off x="740664" y="4434840"/>
            <a:ext cx="3730752" cy="201168"/>
          </a:xfrm>
          <a:prstGeom prst="rect">
            <a:avLst/>
          </a:prstGeom>
          <a:noFill/>
          <a:ln/>
        </p:spPr>
        <p:txBody>
          <a:bodyPr wrap="square" lIns="0" tIns="0" rIns="0" bIns="0" rtlCol="0" anchor="ctr"/>
          <a:lstStyle/>
          <a:p>
            <a:pPr algn="l" indent="0" marL="0">
              <a:buNone/>
            </a:pPr>
            <a:r>
              <a:rPr lang="en-US" sz="1000" dirty="0">
                <a:solidFill>
                  <a:srgbClr val="182026"/>
                </a:solidFill>
              </a:rPr>
              <a:t>Committed status</a:t>
            </a:r>
            <a:endParaRPr lang="en-US" sz="1000" dirty="0"/>
          </a:p>
        </p:txBody>
      </p:sp>
      <p:sp>
        <p:nvSpPr>
          <p:cNvPr id="58" name="Shape 56"/>
          <p:cNvSpPr/>
          <p:nvPr/>
        </p:nvSpPr>
        <p:spPr>
          <a:xfrm>
            <a:off x="4526280" y="4270248"/>
            <a:ext cx="1417320" cy="603504"/>
          </a:xfrm>
          <a:prstGeom prst="rect">
            <a:avLst/>
          </a:prstGeom>
          <a:solidFill>
            <a:srgbClr val="F5F7F8"/>
          </a:solidFill>
          <a:ln w="6350">
            <a:solidFill>
              <a:srgbClr val="D9E0E3"/>
            </a:solidFill>
            <a:prstDash val="solid"/>
          </a:ln>
        </p:spPr>
        <p:txBody>
          <a:bodyPr/>
          <a:p/>
        </p:txBody>
      </p:sp>
      <p:sp>
        <p:nvSpPr>
          <p:cNvPr id="59" name="Text 57"/>
          <p:cNvSpPr/>
          <p:nvPr/>
        </p:nvSpPr>
        <p:spPr>
          <a:xfrm>
            <a:off x="4581144" y="4434840"/>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R</a:t>
            </a:r>
            <a:endParaRPr lang="en-US" sz="1000" dirty="0"/>
          </a:p>
        </p:txBody>
      </p:sp>
      <p:sp>
        <p:nvSpPr>
          <p:cNvPr id="60" name="Shape 58"/>
          <p:cNvSpPr/>
          <p:nvPr/>
        </p:nvSpPr>
        <p:spPr>
          <a:xfrm>
            <a:off x="5943600" y="4270248"/>
            <a:ext cx="1600200" cy="603504"/>
          </a:xfrm>
          <a:prstGeom prst="rect">
            <a:avLst/>
          </a:prstGeom>
          <a:solidFill>
            <a:srgbClr val="F5F7F8"/>
          </a:solidFill>
          <a:ln w="6350">
            <a:solidFill>
              <a:srgbClr val="D9E0E3"/>
            </a:solidFill>
            <a:prstDash val="solid"/>
          </a:ln>
        </p:spPr>
        <p:txBody>
          <a:bodyPr/>
          <a:p/>
        </p:txBody>
      </p:sp>
      <p:sp>
        <p:nvSpPr>
          <p:cNvPr id="61" name="Text 59"/>
          <p:cNvSpPr/>
          <p:nvPr/>
        </p:nvSpPr>
        <p:spPr>
          <a:xfrm>
            <a:off x="5998464" y="4434840"/>
            <a:ext cx="1490472" cy="201168"/>
          </a:xfrm>
          <a:prstGeom prst="rect">
            <a:avLst/>
          </a:prstGeom>
          <a:noFill/>
          <a:ln/>
        </p:spPr>
        <p:txBody>
          <a:bodyPr wrap="square" lIns="0" tIns="0" rIns="0" bIns="0" rtlCol="0" anchor="ctr"/>
          <a:lstStyle/>
          <a:p>
            <a:pPr algn="ctr" indent="0" marL="0">
              <a:buNone/>
            </a:pPr>
            <a:r>
              <a:rPr lang="en-US" sz="1000" b="1" dirty="0">
                <a:solidFill>
                  <a:srgbClr val="182026"/>
                </a:solidFill>
              </a:rPr>
              <a:t>R</a:t>
            </a:r>
            <a:endParaRPr lang="en-US" sz="1000" dirty="0"/>
          </a:p>
        </p:txBody>
      </p:sp>
      <p:sp>
        <p:nvSpPr>
          <p:cNvPr id="62" name="Shape 60"/>
          <p:cNvSpPr/>
          <p:nvPr/>
        </p:nvSpPr>
        <p:spPr>
          <a:xfrm>
            <a:off x="7543800" y="4270248"/>
            <a:ext cx="1417320" cy="603504"/>
          </a:xfrm>
          <a:prstGeom prst="rect">
            <a:avLst/>
          </a:prstGeom>
          <a:solidFill>
            <a:srgbClr val="F5F7F8"/>
          </a:solidFill>
          <a:ln w="6350">
            <a:solidFill>
              <a:srgbClr val="D9E0E3"/>
            </a:solidFill>
            <a:prstDash val="solid"/>
          </a:ln>
        </p:spPr>
        <p:txBody>
          <a:bodyPr/>
          <a:p/>
        </p:txBody>
      </p:sp>
      <p:sp>
        <p:nvSpPr>
          <p:cNvPr id="63" name="Text 61"/>
          <p:cNvSpPr/>
          <p:nvPr/>
        </p:nvSpPr>
        <p:spPr>
          <a:xfrm>
            <a:off x="7598664" y="4434840"/>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A*</a:t>
            </a:r>
            <a:endParaRPr lang="en-US" sz="1000" dirty="0"/>
          </a:p>
        </p:txBody>
      </p:sp>
      <p:sp>
        <p:nvSpPr>
          <p:cNvPr id="64" name="Shape 62"/>
          <p:cNvSpPr/>
          <p:nvPr/>
        </p:nvSpPr>
        <p:spPr>
          <a:xfrm>
            <a:off x="8961120" y="4270248"/>
            <a:ext cx="1417320" cy="603504"/>
          </a:xfrm>
          <a:prstGeom prst="rect">
            <a:avLst/>
          </a:prstGeom>
          <a:solidFill>
            <a:srgbClr val="F5F7F8"/>
          </a:solidFill>
          <a:ln w="6350">
            <a:solidFill>
              <a:srgbClr val="D9E0E3"/>
            </a:solidFill>
            <a:prstDash val="solid"/>
          </a:ln>
        </p:spPr>
        <p:txBody>
          <a:bodyPr/>
          <a:p/>
        </p:txBody>
      </p:sp>
      <p:sp>
        <p:nvSpPr>
          <p:cNvPr id="65" name="Text 63"/>
          <p:cNvSpPr/>
          <p:nvPr/>
        </p:nvSpPr>
        <p:spPr>
          <a:xfrm>
            <a:off x="9015984" y="4434840"/>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C</a:t>
            </a:r>
            <a:endParaRPr lang="en-US" sz="1000" dirty="0"/>
          </a:p>
        </p:txBody>
      </p:sp>
      <p:sp>
        <p:nvSpPr>
          <p:cNvPr id="66" name="Shape 64"/>
          <p:cNvSpPr/>
          <p:nvPr/>
        </p:nvSpPr>
        <p:spPr>
          <a:xfrm>
            <a:off x="685800" y="4873752"/>
            <a:ext cx="3840480" cy="603504"/>
          </a:xfrm>
          <a:prstGeom prst="rect">
            <a:avLst/>
          </a:prstGeom>
          <a:solidFill>
            <a:srgbClr val="FFFFFF"/>
          </a:solidFill>
          <a:ln w="6350">
            <a:solidFill>
              <a:srgbClr val="D9E0E3"/>
            </a:solidFill>
            <a:prstDash val="solid"/>
          </a:ln>
        </p:spPr>
        <p:txBody>
          <a:bodyPr/>
          <a:p/>
        </p:txBody>
      </p:sp>
      <p:sp>
        <p:nvSpPr>
          <p:cNvPr id="67" name="Text 65"/>
          <p:cNvSpPr/>
          <p:nvPr/>
        </p:nvSpPr>
        <p:spPr>
          <a:xfrm>
            <a:off x="740664" y="5038344"/>
            <a:ext cx="3730752" cy="201168"/>
          </a:xfrm>
          <a:prstGeom prst="rect">
            <a:avLst/>
          </a:prstGeom>
          <a:noFill/>
          <a:ln/>
        </p:spPr>
        <p:txBody>
          <a:bodyPr wrap="square" lIns="0" tIns="0" rIns="0" bIns="0" rtlCol="0" anchor="ctr"/>
          <a:lstStyle/>
          <a:p>
            <a:pPr algn="l" indent="0" marL="0">
              <a:buNone/>
            </a:pPr>
            <a:r>
              <a:rPr lang="en-US" sz="1000" dirty="0">
                <a:solidFill>
                  <a:srgbClr val="182026"/>
                </a:solidFill>
              </a:rPr>
              <a:t>Customer date promise</a:t>
            </a:r>
            <a:endParaRPr lang="en-US" sz="1000" dirty="0"/>
          </a:p>
        </p:txBody>
      </p:sp>
      <p:sp>
        <p:nvSpPr>
          <p:cNvPr id="68" name="Shape 66"/>
          <p:cNvSpPr/>
          <p:nvPr/>
        </p:nvSpPr>
        <p:spPr>
          <a:xfrm>
            <a:off x="4526280" y="4873752"/>
            <a:ext cx="1417320" cy="603504"/>
          </a:xfrm>
          <a:prstGeom prst="rect">
            <a:avLst/>
          </a:prstGeom>
          <a:solidFill>
            <a:srgbClr val="FFFFFF"/>
          </a:solidFill>
          <a:ln w="6350">
            <a:solidFill>
              <a:srgbClr val="D9E0E3"/>
            </a:solidFill>
            <a:prstDash val="solid"/>
          </a:ln>
        </p:spPr>
        <p:txBody>
          <a:bodyPr/>
          <a:p/>
        </p:txBody>
      </p:sp>
      <p:sp>
        <p:nvSpPr>
          <p:cNvPr id="69" name="Text 67"/>
          <p:cNvSpPr/>
          <p:nvPr/>
        </p:nvSpPr>
        <p:spPr>
          <a:xfrm>
            <a:off x="4581144" y="5038344"/>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C</a:t>
            </a:r>
            <a:endParaRPr lang="en-US" sz="1000" dirty="0"/>
          </a:p>
        </p:txBody>
      </p:sp>
      <p:sp>
        <p:nvSpPr>
          <p:cNvPr id="70" name="Shape 68"/>
          <p:cNvSpPr/>
          <p:nvPr/>
        </p:nvSpPr>
        <p:spPr>
          <a:xfrm>
            <a:off x="5943600" y="4873752"/>
            <a:ext cx="1600200" cy="603504"/>
          </a:xfrm>
          <a:prstGeom prst="rect">
            <a:avLst/>
          </a:prstGeom>
          <a:solidFill>
            <a:srgbClr val="FFFFFF"/>
          </a:solidFill>
          <a:ln w="6350">
            <a:solidFill>
              <a:srgbClr val="D9E0E3"/>
            </a:solidFill>
            <a:prstDash val="solid"/>
          </a:ln>
        </p:spPr>
        <p:txBody>
          <a:bodyPr/>
          <a:p/>
        </p:txBody>
      </p:sp>
      <p:sp>
        <p:nvSpPr>
          <p:cNvPr id="71" name="Text 69"/>
          <p:cNvSpPr/>
          <p:nvPr/>
        </p:nvSpPr>
        <p:spPr>
          <a:xfrm>
            <a:off x="5998464" y="5038344"/>
            <a:ext cx="1490472" cy="201168"/>
          </a:xfrm>
          <a:prstGeom prst="rect">
            <a:avLst/>
          </a:prstGeom>
          <a:noFill/>
          <a:ln/>
        </p:spPr>
        <p:txBody>
          <a:bodyPr wrap="square" lIns="0" tIns="0" rIns="0" bIns="0" rtlCol="0" anchor="ctr"/>
          <a:lstStyle/>
          <a:p>
            <a:pPr algn="ctr" indent="0" marL="0">
              <a:buNone/>
            </a:pPr>
            <a:r>
              <a:rPr lang="en-US" sz="1000" b="1" dirty="0">
                <a:solidFill>
                  <a:srgbClr val="182026"/>
                </a:solidFill>
              </a:rPr>
              <a:t>C</a:t>
            </a:r>
            <a:endParaRPr lang="en-US" sz="1000" dirty="0"/>
          </a:p>
        </p:txBody>
      </p:sp>
      <p:sp>
        <p:nvSpPr>
          <p:cNvPr id="72" name="Shape 70"/>
          <p:cNvSpPr/>
          <p:nvPr/>
        </p:nvSpPr>
        <p:spPr>
          <a:xfrm>
            <a:off x="7543800" y="4873752"/>
            <a:ext cx="1417320" cy="603504"/>
          </a:xfrm>
          <a:prstGeom prst="rect">
            <a:avLst/>
          </a:prstGeom>
          <a:solidFill>
            <a:srgbClr val="FFFFFF"/>
          </a:solidFill>
          <a:ln w="6350">
            <a:solidFill>
              <a:srgbClr val="D9E0E3"/>
            </a:solidFill>
            <a:prstDash val="solid"/>
          </a:ln>
        </p:spPr>
        <p:txBody>
          <a:bodyPr/>
          <a:p/>
        </p:txBody>
      </p:sp>
      <p:sp>
        <p:nvSpPr>
          <p:cNvPr id="73" name="Text 71"/>
          <p:cNvSpPr/>
          <p:nvPr/>
        </p:nvSpPr>
        <p:spPr>
          <a:xfrm>
            <a:off x="7598664" y="5038344"/>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A*</a:t>
            </a:r>
            <a:endParaRPr lang="en-US" sz="1000" dirty="0"/>
          </a:p>
        </p:txBody>
      </p:sp>
      <p:sp>
        <p:nvSpPr>
          <p:cNvPr id="74" name="Shape 72"/>
          <p:cNvSpPr/>
          <p:nvPr/>
        </p:nvSpPr>
        <p:spPr>
          <a:xfrm>
            <a:off x="8961120" y="4873752"/>
            <a:ext cx="1417320" cy="603504"/>
          </a:xfrm>
          <a:prstGeom prst="rect">
            <a:avLst/>
          </a:prstGeom>
          <a:solidFill>
            <a:srgbClr val="FFFFFF"/>
          </a:solidFill>
          <a:ln w="6350">
            <a:solidFill>
              <a:srgbClr val="D9E0E3"/>
            </a:solidFill>
            <a:prstDash val="solid"/>
          </a:ln>
        </p:spPr>
        <p:txBody>
          <a:bodyPr/>
          <a:p/>
        </p:txBody>
      </p:sp>
      <p:sp>
        <p:nvSpPr>
          <p:cNvPr id="75" name="Text 73"/>
          <p:cNvSpPr/>
          <p:nvPr/>
        </p:nvSpPr>
        <p:spPr>
          <a:xfrm>
            <a:off x="9015984" y="5038344"/>
            <a:ext cx="1307592" cy="201168"/>
          </a:xfrm>
          <a:prstGeom prst="rect">
            <a:avLst/>
          </a:prstGeom>
          <a:noFill/>
          <a:ln/>
        </p:spPr>
        <p:txBody>
          <a:bodyPr wrap="square" lIns="0" tIns="0" rIns="0" bIns="0" rtlCol="0" anchor="ctr"/>
          <a:lstStyle/>
          <a:p>
            <a:pPr algn="ctr" indent="0" marL="0">
              <a:buNone/>
            </a:pPr>
            <a:r>
              <a:rPr lang="en-US" sz="1000" b="1" dirty="0">
                <a:solidFill>
                  <a:srgbClr val="182026"/>
                </a:solidFill>
              </a:rPr>
              <a:t>R†</a:t>
            </a:r>
            <a:endParaRPr lang="en-US" sz="1000" dirty="0"/>
          </a:p>
        </p:txBody>
      </p:sp>
      <p:sp>
        <p:nvSpPr>
          <p:cNvPr id="76" name="Text 74"/>
          <p:cNvSpPr/>
          <p:nvPr/>
        </p:nvSpPr>
        <p:spPr>
          <a:xfrm>
            <a:off x="731520" y="5623560"/>
            <a:ext cx="10515600" cy="320040"/>
          </a:xfrm>
          <a:prstGeom prst="rect">
            <a:avLst/>
          </a:prstGeom>
          <a:noFill/>
          <a:ln/>
        </p:spPr>
        <p:txBody>
          <a:bodyPr wrap="square" lIns="0" tIns="0" rIns="0" bIns="0" rtlCol="0" anchor="ctr"/>
          <a:lstStyle/>
          <a:p>
            <a:pPr indent="0" marL="0">
              <a:buNone/>
            </a:pPr>
            <a:r>
              <a:rPr lang="en-US" sz="950" dirty="0">
                <a:solidFill>
                  <a:srgbClr val="66747D"/>
                </a:solidFill>
              </a:rPr>
              <a:t>* CEO accountability for material portfolio / strategic commitments.   † Sales within approved communication policy; exceptions escalate.</a:t>
            </a:r>
            <a:endParaRPr lang="en-US" sz="950" dirty="0"/>
          </a:p>
        </p:txBody>
      </p:sp>
      <p:sp>
        <p:nvSpPr>
          <p:cNvPr id="77" name="Text 75"/>
          <p:cNvSpPr/>
          <p:nvPr/>
        </p:nvSpPr>
        <p:spPr>
          <a:xfrm>
            <a:off x="11201400" y="6473952"/>
            <a:ext cx="320040" cy="182880"/>
          </a:xfrm>
          <a:prstGeom prst="rect">
            <a:avLst/>
          </a:prstGeom>
          <a:noFill/>
          <a:ln/>
        </p:spPr>
        <p:txBody>
          <a:bodyPr wrap="square" lIns="0" tIns="0" rIns="0" bIns="0" rtlCol="0" anchor="ctr"/>
          <a:lstStyle/>
          <a:p>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ACTION PLAN</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30-day implementation: fix the contract, not the tooling</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685800" y="1600200"/>
            <a:ext cx="2468880" cy="3291840"/>
          </a:xfrm>
          <a:prstGeom prst="roundRect">
            <a:avLst/>
          </a:prstGeom>
          <a:solidFill>
            <a:srgbClr val="EAF4F4"/>
          </a:solidFill>
          <a:ln w="12700">
            <a:solidFill>
              <a:srgbClr val="D7E0E3"/>
            </a:solidFill>
            <a:prstDash val="solid"/>
          </a:ln>
        </p:spPr>
        <p:txBody>
          <a:bodyPr/>
          <a:p/>
        </p:txBody>
      </p:sp>
      <p:sp>
        <p:nvSpPr>
          <p:cNvPr id="7" name="Shape 5"/>
          <p:cNvSpPr/>
          <p:nvPr/>
        </p:nvSpPr>
        <p:spPr>
          <a:xfrm>
            <a:off x="1188720" y="1874520"/>
            <a:ext cx="1463040" cy="310896"/>
          </a:xfrm>
          <a:prstGeom prst="roundRect">
            <a:avLst>
              <a:gd name="adj" fmla="val 23529"/>
            </a:avLst>
          </a:prstGeom>
          <a:solidFill>
            <a:srgbClr val="00787D"/>
          </a:solidFill>
          <a:ln w="12700">
            <a:solidFill>
              <a:srgbClr val="00787D"/>
            </a:solidFill>
            <a:prstDash val="solid"/>
          </a:ln>
        </p:spPr>
        <p:txBody>
          <a:bodyPr/>
          <a:p/>
        </p:txBody>
      </p:sp>
      <p:sp>
        <p:nvSpPr>
          <p:cNvPr id="8" name="Text 6"/>
          <p:cNvSpPr/>
          <p:nvPr/>
        </p:nvSpPr>
        <p:spPr>
          <a:xfrm>
            <a:off x="1261872" y="1911096"/>
            <a:ext cx="1316736" cy="182880"/>
          </a:xfrm>
          <a:prstGeom prst="rect">
            <a:avLst/>
          </a:prstGeom>
          <a:noFill/>
          <a:ln/>
        </p:spPr>
        <p:txBody>
          <a:bodyPr wrap="square" lIns="0" tIns="0" rIns="0" bIns="0" rtlCol="0" anchor="ctr"/>
          <a:lstStyle/>
          <a:p>
            <a:pPr algn="ctr" indent="0" marL="0">
              <a:buNone/>
            </a:pPr>
            <a:r>
              <a:rPr lang="en-US" sz="900" b="1" dirty="0">
                <a:solidFill>
                  <a:srgbClr val="FFFFFF"/>
                </a:solidFill>
              </a:rPr>
              <a:t>WEEK 1</a:t>
            </a:r>
            <a:endParaRPr lang="en-US" sz="900" dirty="0"/>
          </a:p>
        </p:txBody>
      </p:sp>
      <p:sp>
        <p:nvSpPr>
          <p:cNvPr id="9" name="Text 7"/>
          <p:cNvSpPr/>
          <p:nvPr/>
        </p:nvSpPr>
        <p:spPr>
          <a:xfrm>
            <a:off x="914400" y="2606040"/>
            <a:ext cx="2011680" cy="384048"/>
          </a:xfrm>
          <a:prstGeom prst="rect">
            <a:avLst/>
          </a:prstGeom>
          <a:noFill/>
          <a:ln/>
        </p:spPr>
        <p:txBody>
          <a:bodyPr wrap="square" lIns="0" tIns="0" rIns="0" bIns="0" rtlCol="0" anchor="ctr"/>
          <a:lstStyle/>
          <a:p>
            <a:pPr algn="ctr" indent="0" marL="0">
              <a:buNone/>
            </a:pPr>
            <a:r>
              <a:rPr lang="en-US" sz="1500" b="1" dirty="0">
                <a:solidFill>
                  <a:srgbClr val="123047"/>
                </a:solidFill>
              </a:rPr>
              <a:t>Agree definitions</a:t>
            </a:r>
            <a:endParaRPr lang="en-US" sz="1500" dirty="0"/>
          </a:p>
        </p:txBody>
      </p:sp>
      <p:sp>
        <p:nvSpPr>
          <p:cNvPr id="10" name="Text 8"/>
          <p:cNvSpPr/>
          <p:nvPr/>
        </p:nvSpPr>
        <p:spPr>
          <a:xfrm>
            <a:off x="960120" y="3246120"/>
            <a:ext cx="1920240" cy="1005840"/>
          </a:xfrm>
          <a:prstGeom prst="rect">
            <a:avLst/>
          </a:prstGeom>
          <a:noFill/>
          <a:ln/>
        </p:spPr>
        <p:txBody>
          <a:bodyPr wrap="square" lIns="0" tIns="0" rIns="0" bIns="0" rtlCol="0" anchor="ctr">
            <a:normAutofit/>
          </a:bodyPr>
          <a:lstStyle/>
          <a:p>
            <a:pPr algn="ctr" indent="0" marL="0">
              <a:buNone/>
            </a:pPr>
            <a:r>
              <a:rPr lang="en-US" sz="1100" dirty="0">
                <a:solidFill>
                  <a:srgbClr val="66747D"/>
                </a:solidFill>
              </a:rPr>
              <a:t>Quarter • Artefact Ready • Forecast • Committed • Customer-communicable</a:t>
            </a:r>
            <a:endParaRPr lang="en-US" sz="1100" dirty="0"/>
          </a:p>
        </p:txBody>
      </p:sp>
      <p:sp>
        <p:nvSpPr>
          <p:cNvPr id="11" name="Shape 9"/>
          <p:cNvSpPr/>
          <p:nvPr/>
        </p:nvSpPr>
        <p:spPr>
          <a:xfrm>
            <a:off x="3502152" y="1600200"/>
            <a:ext cx="2468880" cy="3291840"/>
          </a:xfrm>
          <a:prstGeom prst="roundRect">
            <a:avLst/>
          </a:prstGeom>
          <a:solidFill>
            <a:srgbClr val="F3F5F6"/>
          </a:solidFill>
          <a:ln w="12700">
            <a:solidFill>
              <a:srgbClr val="D7E0E3"/>
            </a:solidFill>
            <a:prstDash val="solid"/>
          </a:ln>
        </p:spPr>
        <p:txBody>
          <a:bodyPr/>
          <a:p/>
        </p:txBody>
      </p:sp>
      <p:sp>
        <p:nvSpPr>
          <p:cNvPr id="12" name="Shape 10"/>
          <p:cNvSpPr/>
          <p:nvPr/>
        </p:nvSpPr>
        <p:spPr>
          <a:xfrm>
            <a:off x="4005072" y="1874520"/>
            <a:ext cx="1463040" cy="310896"/>
          </a:xfrm>
          <a:prstGeom prst="roundRect">
            <a:avLst>
              <a:gd name="adj" fmla="val 23529"/>
            </a:avLst>
          </a:prstGeom>
          <a:solidFill>
            <a:srgbClr val="00787D"/>
          </a:solidFill>
          <a:ln w="12700">
            <a:solidFill>
              <a:srgbClr val="00787D"/>
            </a:solidFill>
            <a:prstDash val="solid"/>
          </a:ln>
        </p:spPr>
        <p:txBody>
          <a:bodyPr/>
          <a:p/>
        </p:txBody>
      </p:sp>
      <p:sp>
        <p:nvSpPr>
          <p:cNvPr id="13" name="Text 11"/>
          <p:cNvSpPr/>
          <p:nvPr/>
        </p:nvSpPr>
        <p:spPr>
          <a:xfrm>
            <a:off x="4078224" y="1911096"/>
            <a:ext cx="1316736" cy="182880"/>
          </a:xfrm>
          <a:prstGeom prst="rect">
            <a:avLst/>
          </a:prstGeom>
          <a:noFill/>
          <a:ln/>
        </p:spPr>
        <p:txBody>
          <a:bodyPr wrap="square" lIns="0" tIns="0" rIns="0" bIns="0" rtlCol="0" anchor="ctr"/>
          <a:lstStyle/>
          <a:p>
            <a:pPr algn="ctr" indent="0" marL="0">
              <a:buNone/>
            </a:pPr>
            <a:r>
              <a:rPr lang="en-US" sz="900" b="1" dirty="0">
                <a:solidFill>
                  <a:srgbClr val="FFFFFF"/>
                </a:solidFill>
              </a:rPr>
              <a:t>WEEK 2</a:t>
            </a:r>
            <a:endParaRPr lang="en-US" sz="900" dirty="0"/>
          </a:p>
        </p:txBody>
      </p:sp>
      <p:sp>
        <p:nvSpPr>
          <p:cNvPr id="14" name="Text 12"/>
          <p:cNvSpPr/>
          <p:nvPr/>
        </p:nvSpPr>
        <p:spPr>
          <a:xfrm>
            <a:off x="3730752" y="2606040"/>
            <a:ext cx="2011680" cy="384048"/>
          </a:xfrm>
          <a:prstGeom prst="rect">
            <a:avLst/>
          </a:prstGeom>
          <a:noFill/>
          <a:ln/>
        </p:spPr>
        <p:txBody>
          <a:bodyPr wrap="square" lIns="0" tIns="0" rIns="0" bIns="0" rtlCol="0" anchor="ctr"/>
          <a:lstStyle/>
          <a:p>
            <a:pPr algn="ctr" indent="0" marL="0">
              <a:buNone/>
            </a:pPr>
            <a:r>
              <a:rPr lang="en-US" sz="1500" b="1" dirty="0">
                <a:solidFill>
                  <a:srgbClr val="123047"/>
                </a:solidFill>
              </a:rPr>
              <a:t>Configure views</a:t>
            </a:r>
            <a:endParaRPr lang="en-US" sz="1500" dirty="0"/>
          </a:p>
        </p:txBody>
      </p:sp>
      <p:sp>
        <p:nvSpPr>
          <p:cNvPr id="15" name="Text 13"/>
          <p:cNvSpPr/>
          <p:nvPr/>
        </p:nvSpPr>
        <p:spPr>
          <a:xfrm>
            <a:off x="3776472" y="3246120"/>
            <a:ext cx="1920240" cy="1005840"/>
          </a:xfrm>
          <a:prstGeom prst="rect">
            <a:avLst/>
          </a:prstGeom>
          <a:noFill/>
          <a:ln/>
        </p:spPr>
        <p:txBody>
          <a:bodyPr wrap="square" lIns="0" tIns="0" rIns="0" bIns="0" rtlCol="0" anchor="ctr">
            <a:normAutofit/>
          </a:bodyPr>
          <a:lstStyle/>
          <a:p>
            <a:pPr algn="ctr" indent="0" marL="0">
              <a:buNone/>
            </a:pPr>
            <a:r>
              <a:rPr lang="en-US" sz="1100" dirty="0">
                <a:solidFill>
                  <a:srgbClr val="66747D"/>
                </a:solidFill>
              </a:rPr>
              <a:t>CEO • CTO • Sales views + commitment/confidence fields</a:t>
            </a:r>
            <a:endParaRPr lang="en-US" sz="1100" dirty="0"/>
          </a:p>
        </p:txBody>
      </p:sp>
      <p:sp>
        <p:nvSpPr>
          <p:cNvPr id="16" name="Shape 14"/>
          <p:cNvSpPr/>
          <p:nvPr/>
        </p:nvSpPr>
        <p:spPr>
          <a:xfrm>
            <a:off x="6318504" y="1600200"/>
            <a:ext cx="2468880" cy="3291840"/>
          </a:xfrm>
          <a:prstGeom prst="roundRect">
            <a:avLst/>
          </a:prstGeom>
          <a:solidFill>
            <a:srgbClr val="EAF4F4"/>
          </a:solidFill>
          <a:ln w="12700">
            <a:solidFill>
              <a:srgbClr val="D7E0E3"/>
            </a:solidFill>
            <a:prstDash val="solid"/>
          </a:ln>
        </p:spPr>
        <p:txBody>
          <a:bodyPr/>
          <a:p/>
        </p:txBody>
      </p:sp>
      <p:sp>
        <p:nvSpPr>
          <p:cNvPr id="17" name="Shape 15"/>
          <p:cNvSpPr/>
          <p:nvPr/>
        </p:nvSpPr>
        <p:spPr>
          <a:xfrm>
            <a:off x="6821424" y="1874520"/>
            <a:ext cx="1463040" cy="310896"/>
          </a:xfrm>
          <a:prstGeom prst="roundRect">
            <a:avLst>
              <a:gd name="adj" fmla="val 23529"/>
            </a:avLst>
          </a:prstGeom>
          <a:solidFill>
            <a:srgbClr val="123047"/>
          </a:solidFill>
          <a:ln w="12700">
            <a:solidFill>
              <a:srgbClr val="123047"/>
            </a:solidFill>
            <a:prstDash val="solid"/>
          </a:ln>
        </p:spPr>
        <p:txBody>
          <a:bodyPr/>
          <a:p/>
        </p:txBody>
      </p:sp>
      <p:sp>
        <p:nvSpPr>
          <p:cNvPr id="18" name="Text 16"/>
          <p:cNvSpPr/>
          <p:nvPr/>
        </p:nvSpPr>
        <p:spPr>
          <a:xfrm>
            <a:off x="6894576" y="1911096"/>
            <a:ext cx="1316736" cy="182880"/>
          </a:xfrm>
          <a:prstGeom prst="rect">
            <a:avLst/>
          </a:prstGeom>
          <a:noFill/>
          <a:ln/>
        </p:spPr>
        <p:txBody>
          <a:bodyPr wrap="square" lIns="0" tIns="0" rIns="0" bIns="0" rtlCol="0" anchor="ctr"/>
          <a:lstStyle/>
          <a:p>
            <a:pPr algn="ctr" indent="0" marL="0">
              <a:buNone/>
            </a:pPr>
            <a:r>
              <a:rPr lang="en-US" sz="900" b="1" dirty="0">
                <a:solidFill>
                  <a:srgbClr val="FFFFFF"/>
                </a:solidFill>
              </a:rPr>
              <a:t>WEEK 3</a:t>
            </a:r>
            <a:endParaRPr lang="en-US" sz="900" dirty="0"/>
          </a:p>
        </p:txBody>
      </p:sp>
      <p:sp>
        <p:nvSpPr>
          <p:cNvPr id="19" name="Text 17"/>
          <p:cNvSpPr/>
          <p:nvPr/>
        </p:nvSpPr>
        <p:spPr>
          <a:xfrm>
            <a:off x="6547104" y="2606040"/>
            <a:ext cx="2011680" cy="384048"/>
          </a:xfrm>
          <a:prstGeom prst="rect">
            <a:avLst/>
          </a:prstGeom>
          <a:noFill/>
          <a:ln/>
        </p:spPr>
        <p:txBody>
          <a:bodyPr wrap="square" lIns="0" tIns="0" rIns="0" bIns="0" rtlCol="0" anchor="ctr"/>
          <a:lstStyle/>
          <a:p>
            <a:pPr algn="ctr" indent="0" marL="0">
              <a:buNone/>
            </a:pPr>
            <a:r>
              <a:rPr lang="en-US" sz="1500" b="1" dirty="0">
                <a:solidFill>
                  <a:srgbClr val="123047"/>
                </a:solidFill>
              </a:rPr>
              <a:t>Pilot</a:t>
            </a:r>
            <a:endParaRPr lang="en-US" sz="1500" dirty="0"/>
          </a:p>
        </p:txBody>
      </p:sp>
      <p:sp>
        <p:nvSpPr>
          <p:cNvPr id="20" name="Text 18"/>
          <p:cNvSpPr/>
          <p:nvPr/>
        </p:nvSpPr>
        <p:spPr>
          <a:xfrm>
            <a:off x="6592824" y="3246120"/>
            <a:ext cx="1920240" cy="1005840"/>
          </a:xfrm>
          <a:prstGeom prst="rect">
            <a:avLst/>
          </a:prstGeom>
          <a:noFill/>
          <a:ln/>
        </p:spPr>
        <p:txBody>
          <a:bodyPr wrap="square" lIns="0" tIns="0" rIns="0" bIns="0" rtlCol="0" anchor="ctr">
            <a:normAutofit/>
          </a:bodyPr>
          <a:lstStyle/>
          <a:p>
            <a:pPr algn="ctr" indent="0" marL="0">
              <a:buNone/>
            </a:pPr>
            <a:r>
              <a:rPr lang="en-US" sz="1100" dirty="0">
                <a:solidFill>
                  <a:srgbClr val="66747D"/>
                </a:solidFill>
              </a:rPr>
              <a:t>Apply to top 10–15 initiatives; resolve ambiguous dates and statuses</a:t>
            </a:r>
            <a:endParaRPr lang="en-US" sz="1100" dirty="0"/>
          </a:p>
        </p:txBody>
      </p:sp>
      <p:sp>
        <p:nvSpPr>
          <p:cNvPr id="21" name="Shape 19"/>
          <p:cNvSpPr/>
          <p:nvPr/>
        </p:nvSpPr>
        <p:spPr>
          <a:xfrm>
            <a:off x="9134856" y="1600200"/>
            <a:ext cx="2468880" cy="3291840"/>
          </a:xfrm>
          <a:prstGeom prst="roundRect">
            <a:avLst/>
          </a:prstGeom>
          <a:solidFill>
            <a:srgbClr val="F3F5F6"/>
          </a:solidFill>
          <a:ln w="12700">
            <a:solidFill>
              <a:srgbClr val="D7E0E3"/>
            </a:solidFill>
            <a:prstDash val="solid"/>
          </a:ln>
        </p:spPr>
        <p:txBody>
          <a:bodyPr/>
          <a:p/>
        </p:txBody>
      </p:sp>
      <p:sp>
        <p:nvSpPr>
          <p:cNvPr id="22" name="Shape 20"/>
          <p:cNvSpPr/>
          <p:nvPr/>
        </p:nvSpPr>
        <p:spPr>
          <a:xfrm>
            <a:off x="9637776" y="1874520"/>
            <a:ext cx="1463040" cy="310896"/>
          </a:xfrm>
          <a:prstGeom prst="roundRect">
            <a:avLst>
              <a:gd name="adj" fmla="val 23529"/>
            </a:avLst>
          </a:prstGeom>
          <a:solidFill>
            <a:srgbClr val="123047"/>
          </a:solidFill>
          <a:ln w="12700">
            <a:solidFill>
              <a:srgbClr val="123047"/>
            </a:solidFill>
            <a:prstDash val="solid"/>
          </a:ln>
        </p:spPr>
        <p:txBody>
          <a:bodyPr/>
          <a:p/>
        </p:txBody>
      </p:sp>
      <p:sp>
        <p:nvSpPr>
          <p:cNvPr id="23" name="Text 21"/>
          <p:cNvSpPr/>
          <p:nvPr/>
        </p:nvSpPr>
        <p:spPr>
          <a:xfrm>
            <a:off x="9710928" y="1911096"/>
            <a:ext cx="1316736" cy="182880"/>
          </a:xfrm>
          <a:prstGeom prst="rect">
            <a:avLst/>
          </a:prstGeom>
          <a:noFill/>
          <a:ln/>
        </p:spPr>
        <p:txBody>
          <a:bodyPr wrap="square" lIns="0" tIns="0" rIns="0" bIns="0" rtlCol="0" anchor="ctr"/>
          <a:lstStyle/>
          <a:p>
            <a:pPr algn="ctr" indent="0" marL="0">
              <a:buNone/>
            </a:pPr>
            <a:r>
              <a:rPr lang="en-US" sz="900" b="1" dirty="0">
                <a:solidFill>
                  <a:srgbClr val="FFFFFF"/>
                </a:solidFill>
              </a:rPr>
              <a:t>WEEK 4</a:t>
            </a:r>
            <a:endParaRPr lang="en-US" sz="900" dirty="0"/>
          </a:p>
        </p:txBody>
      </p:sp>
      <p:sp>
        <p:nvSpPr>
          <p:cNvPr id="24" name="Text 22"/>
          <p:cNvSpPr/>
          <p:nvPr/>
        </p:nvSpPr>
        <p:spPr>
          <a:xfrm>
            <a:off x="9363456" y="2606040"/>
            <a:ext cx="2011680" cy="384048"/>
          </a:xfrm>
          <a:prstGeom prst="rect">
            <a:avLst/>
          </a:prstGeom>
          <a:noFill/>
          <a:ln/>
        </p:spPr>
        <p:txBody>
          <a:bodyPr wrap="square" lIns="0" tIns="0" rIns="0" bIns="0" rtlCol="0" anchor="ctr"/>
          <a:lstStyle/>
          <a:p>
            <a:pPr algn="ctr" indent="0" marL="0">
              <a:buNone/>
            </a:pPr>
            <a:r>
              <a:rPr lang="en-US" sz="1500" b="1" dirty="0">
                <a:solidFill>
                  <a:srgbClr val="123047"/>
                </a:solidFill>
              </a:rPr>
              <a:t>Operate</a:t>
            </a:r>
            <a:endParaRPr lang="en-US" sz="1500" dirty="0"/>
          </a:p>
        </p:txBody>
      </p:sp>
      <p:sp>
        <p:nvSpPr>
          <p:cNvPr id="25" name="Text 23"/>
          <p:cNvSpPr/>
          <p:nvPr/>
        </p:nvSpPr>
        <p:spPr>
          <a:xfrm>
            <a:off x="9409176" y="3246120"/>
            <a:ext cx="1920240" cy="1005840"/>
          </a:xfrm>
          <a:prstGeom prst="rect">
            <a:avLst/>
          </a:prstGeom>
          <a:noFill/>
          <a:ln/>
        </p:spPr>
        <p:txBody>
          <a:bodyPr wrap="square" lIns="0" tIns="0" rIns="0" bIns="0" rtlCol="0" anchor="ctr">
            <a:normAutofit/>
          </a:bodyPr>
          <a:lstStyle/>
          <a:p>
            <a:pPr algn="ctr" indent="0" marL="0">
              <a:buNone/>
            </a:pPr>
            <a:r>
              <a:rPr lang="en-US" sz="1100" dirty="0">
                <a:solidFill>
                  <a:srgbClr val="66747D"/>
                </a:solidFill>
              </a:rPr>
              <a:t>Run first Product &amp; Delivery Outlook; capture decisions and forecast changes</a:t>
            </a:r>
            <a:endParaRPr lang="en-US" sz="1100" dirty="0"/>
          </a:p>
        </p:txBody>
      </p:sp>
      <p:sp>
        <p:nvSpPr>
          <p:cNvPr id="26" name="Text 24"/>
          <p:cNvSpPr/>
          <p:nvPr/>
        </p:nvSpPr>
        <p:spPr>
          <a:xfrm>
            <a:off x="822960" y="5394960"/>
            <a:ext cx="10515600" cy="594360"/>
          </a:xfrm>
          <a:prstGeom prst="rect">
            <a:avLst/>
          </a:prstGeom>
          <a:noFill/>
          <a:ln/>
        </p:spPr>
        <p:txBody>
          <a:bodyPr wrap="square" lIns="0" tIns="0" rIns="0" bIns="0" rtlCol="0" anchor="ctr"/>
          <a:lstStyle/>
          <a:p>
            <a:pPr algn="ctr" indent="0" marL="0">
              <a:buNone/>
            </a:pPr>
            <a:r>
              <a:rPr lang="en-US" sz="1500" b="1" dirty="0">
                <a:solidFill>
                  <a:srgbClr val="123047"/>
                </a:solidFill>
              </a:rPr>
              <a:t>Success test: can each executive answer WHY? • HOW MATURE? • WHEN? • WHAT MAY I PROMISE? without interpreting the quarter differently?</a:t>
            </a:r>
            <a:endParaRPr lang="en-US" sz="1500" dirty="0"/>
          </a:p>
        </p:txBody>
      </p:sp>
      <p:sp>
        <p:nvSpPr>
          <p:cNvPr id="27" name="Text 25"/>
          <p:cNvSpPr/>
          <p:nvPr/>
        </p:nvSpPr>
        <p:spPr>
          <a:xfrm>
            <a:off x="11201400" y="6473952"/>
            <a:ext cx="320040" cy="182880"/>
          </a:xfrm>
          <a:prstGeom prst="rect">
            <a:avLst/>
          </a:prstGeom>
          <a:noFill/>
          <a:ln/>
        </p:spPr>
        <p:txBody>
          <a:bodyPr wrap="square" lIns="0" tIns="0" rIns="0" bIns="0" rtlCol="0" anchor="ctr"/>
          <a:lstStyle/>
          <a:p>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DECISION</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Executive decisions requested today</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822960" y="1344168"/>
            <a:ext cx="384048" cy="384048"/>
          </a:xfrm>
          <a:prstGeom prst="ellipse">
            <a:avLst/>
          </a:prstGeom>
          <a:solidFill>
            <a:srgbClr val="00787D"/>
          </a:solidFill>
          <a:ln w="12700">
            <a:solidFill>
              <a:srgbClr val="00787D"/>
            </a:solidFill>
            <a:prstDash val="solid"/>
          </a:ln>
        </p:spPr>
        <p:txBody>
          <a:bodyPr/>
          <a:p/>
        </p:txBody>
      </p:sp>
      <p:sp>
        <p:nvSpPr>
          <p:cNvPr id="7" name="Text 5"/>
          <p:cNvSpPr/>
          <p:nvPr/>
        </p:nvSpPr>
        <p:spPr>
          <a:xfrm>
            <a:off x="914400" y="1417320"/>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8" name="Text 6"/>
          <p:cNvSpPr/>
          <p:nvPr/>
        </p:nvSpPr>
        <p:spPr>
          <a:xfrm>
            <a:off x="1417320" y="1325880"/>
            <a:ext cx="9692640" cy="411480"/>
          </a:xfrm>
          <a:prstGeom prst="rect">
            <a:avLst/>
          </a:prstGeom>
          <a:noFill/>
          <a:ln/>
        </p:spPr>
        <p:txBody>
          <a:bodyPr wrap="square" lIns="0" tIns="0" rIns="0" bIns="0" rtlCol="0" anchor="ctr"/>
          <a:lstStyle/>
          <a:p>
            <a:pPr indent="0" marL="0">
              <a:buNone/>
            </a:pPr>
            <a:r>
              <a:rPr lang="en-US" sz="1350" b="1" dirty="0">
                <a:solidFill>
                  <a:srgbClr val="123047"/>
                </a:solidFill>
              </a:rPr>
              <a:t>Confirm JPD is the product roadmap source of truth</a:t>
            </a:r>
            <a:endParaRPr lang="en-US" sz="1350" dirty="0"/>
          </a:p>
        </p:txBody>
      </p:sp>
      <p:sp>
        <p:nvSpPr>
          <p:cNvPr id="9" name="Shape 7"/>
          <p:cNvSpPr/>
          <p:nvPr/>
        </p:nvSpPr>
        <p:spPr>
          <a:xfrm>
            <a:off x="822960" y="2075688"/>
            <a:ext cx="384048" cy="384048"/>
          </a:xfrm>
          <a:prstGeom prst="ellipse">
            <a:avLst/>
          </a:prstGeom>
          <a:solidFill>
            <a:srgbClr val="00787D"/>
          </a:solidFill>
          <a:ln w="12700">
            <a:solidFill>
              <a:srgbClr val="00787D"/>
            </a:solidFill>
            <a:prstDash val="solid"/>
          </a:ln>
        </p:spPr>
        <p:txBody>
          <a:bodyPr/>
          <a:p/>
        </p:txBody>
      </p:sp>
      <p:sp>
        <p:nvSpPr>
          <p:cNvPr id="10" name="Text 8"/>
          <p:cNvSpPr/>
          <p:nvPr/>
        </p:nvSpPr>
        <p:spPr>
          <a:xfrm>
            <a:off x="914400" y="2148840"/>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1" name="Text 9"/>
          <p:cNvSpPr/>
          <p:nvPr/>
        </p:nvSpPr>
        <p:spPr>
          <a:xfrm>
            <a:off x="1417320" y="2057400"/>
            <a:ext cx="9692640" cy="411480"/>
          </a:xfrm>
          <a:prstGeom prst="rect">
            <a:avLst/>
          </a:prstGeom>
          <a:noFill/>
          <a:ln/>
        </p:spPr>
        <p:txBody>
          <a:bodyPr wrap="square" lIns="0" tIns="0" rIns="0" bIns="0" rtlCol="0" anchor="ctr"/>
          <a:lstStyle/>
          <a:p>
            <a:pPr indent="0" marL="0">
              <a:buNone/>
            </a:pPr>
            <a:r>
              <a:rPr lang="en-US" sz="1350" dirty="0">
                <a:solidFill>
                  <a:srgbClr val="123047"/>
                </a:solidFill>
              </a:rPr>
              <a:t>Define roadmap quarter as planning intent, not automatic delivery commitment</a:t>
            </a:r>
            <a:endParaRPr lang="en-US" sz="1350" dirty="0"/>
          </a:p>
        </p:txBody>
      </p:sp>
      <p:sp>
        <p:nvSpPr>
          <p:cNvPr id="12" name="Shape 10"/>
          <p:cNvSpPr/>
          <p:nvPr/>
        </p:nvSpPr>
        <p:spPr>
          <a:xfrm>
            <a:off x="822960" y="2807208"/>
            <a:ext cx="384048" cy="384048"/>
          </a:xfrm>
          <a:prstGeom prst="ellipse">
            <a:avLst/>
          </a:prstGeom>
          <a:solidFill>
            <a:srgbClr val="00787D"/>
          </a:solidFill>
          <a:ln w="12700">
            <a:solidFill>
              <a:srgbClr val="00787D"/>
            </a:solidFill>
            <a:prstDash val="solid"/>
          </a:ln>
        </p:spPr>
        <p:txBody>
          <a:bodyPr/>
          <a:p/>
        </p:txBody>
      </p:sp>
      <p:sp>
        <p:nvSpPr>
          <p:cNvPr id="13" name="Text 11"/>
          <p:cNvSpPr/>
          <p:nvPr/>
        </p:nvSpPr>
        <p:spPr>
          <a:xfrm>
            <a:off x="914400" y="2880360"/>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4" name="Text 12"/>
          <p:cNvSpPr/>
          <p:nvPr/>
        </p:nvSpPr>
        <p:spPr>
          <a:xfrm>
            <a:off x="1417320" y="2788920"/>
            <a:ext cx="9692640" cy="411480"/>
          </a:xfrm>
          <a:prstGeom prst="rect">
            <a:avLst/>
          </a:prstGeom>
          <a:noFill/>
          <a:ln/>
        </p:spPr>
        <p:txBody>
          <a:bodyPr wrap="square" lIns="0" tIns="0" rIns="0" bIns="0" rtlCol="0" anchor="ctr"/>
          <a:lstStyle/>
          <a:p>
            <a:pPr indent="0" marL="0">
              <a:buNone/>
            </a:pPr>
            <a:r>
              <a:rPr lang="en-US" sz="1350" dirty="0">
                <a:solidFill>
                  <a:srgbClr val="123047"/>
                </a:solidFill>
              </a:rPr>
              <a:t>Keep Discovery Maturity + Artefact Ready as readiness model</a:t>
            </a:r>
            <a:endParaRPr lang="en-US" sz="1350" dirty="0"/>
          </a:p>
        </p:txBody>
      </p:sp>
      <p:sp>
        <p:nvSpPr>
          <p:cNvPr id="15" name="Shape 13"/>
          <p:cNvSpPr/>
          <p:nvPr/>
        </p:nvSpPr>
        <p:spPr>
          <a:xfrm>
            <a:off x="822960" y="3538728"/>
            <a:ext cx="384048" cy="384048"/>
          </a:xfrm>
          <a:prstGeom prst="ellipse">
            <a:avLst/>
          </a:prstGeom>
          <a:solidFill>
            <a:srgbClr val="00787D"/>
          </a:solidFill>
          <a:ln w="12700">
            <a:solidFill>
              <a:srgbClr val="00787D"/>
            </a:solidFill>
            <a:prstDash val="solid"/>
          </a:ln>
        </p:spPr>
        <p:txBody>
          <a:bodyPr/>
          <a:p/>
        </p:txBody>
      </p:sp>
      <p:sp>
        <p:nvSpPr>
          <p:cNvPr id="16" name="Text 14"/>
          <p:cNvSpPr/>
          <p:nvPr/>
        </p:nvSpPr>
        <p:spPr>
          <a:xfrm>
            <a:off x="914400" y="3611880"/>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17" name="Text 15"/>
          <p:cNvSpPr/>
          <p:nvPr/>
        </p:nvSpPr>
        <p:spPr>
          <a:xfrm>
            <a:off x="1417320" y="3520440"/>
            <a:ext cx="9692640" cy="411480"/>
          </a:xfrm>
          <a:prstGeom prst="rect">
            <a:avLst/>
          </a:prstGeom>
          <a:noFill/>
          <a:ln/>
        </p:spPr>
        <p:txBody>
          <a:bodyPr wrap="square" lIns="0" tIns="0" rIns="0" bIns="0" rtlCol="0" anchor="ctr"/>
          <a:lstStyle/>
          <a:p>
            <a:pPr indent="0" marL="0">
              <a:buNone/>
            </a:pPr>
            <a:r>
              <a:rPr lang="en-US" sz="1350" dirty="0">
                <a:solidFill>
                  <a:srgbClr val="123047"/>
                </a:solidFill>
              </a:rPr>
              <a:t>Adopt a separate Forecast / Committed contract jointly with Engineering</a:t>
            </a:r>
            <a:endParaRPr lang="en-US" sz="1350" dirty="0"/>
          </a:p>
        </p:txBody>
      </p:sp>
      <p:sp>
        <p:nvSpPr>
          <p:cNvPr id="18" name="Shape 16"/>
          <p:cNvSpPr/>
          <p:nvPr/>
        </p:nvSpPr>
        <p:spPr>
          <a:xfrm>
            <a:off x="822960" y="4270248"/>
            <a:ext cx="384048" cy="384048"/>
          </a:xfrm>
          <a:prstGeom prst="ellipse">
            <a:avLst/>
          </a:prstGeom>
          <a:solidFill>
            <a:srgbClr val="00787D"/>
          </a:solidFill>
          <a:ln w="12700">
            <a:solidFill>
              <a:srgbClr val="00787D"/>
            </a:solidFill>
            <a:prstDash val="solid"/>
          </a:ln>
        </p:spPr>
        <p:txBody>
          <a:bodyPr/>
          <a:p/>
        </p:txBody>
      </p:sp>
      <p:sp>
        <p:nvSpPr>
          <p:cNvPr id="19" name="Text 17"/>
          <p:cNvSpPr/>
          <p:nvPr/>
        </p:nvSpPr>
        <p:spPr>
          <a:xfrm>
            <a:off x="914400" y="4343400"/>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20" name="Text 18"/>
          <p:cNvSpPr/>
          <p:nvPr/>
        </p:nvSpPr>
        <p:spPr>
          <a:xfrm>
            <a:off x="1417320" y="4251960"/>
            <a:ext cx="9692640" cy="411480"/>
          </a:xfrm>
          <a:prstGeom prst="rect">
            <a:avLst/>
          </a:prstGeom>
          <a:noFill/>
          <a:ln/>
        </p:spPr>
        <p:txBody>
          <a:bodyPr wrap="square" lIns="0" tIns="0" rIns="0" bIns="0" rtlCol="0" anchor="ctr"/>
          <a:lstStyle/>
          <a:p>
            <a:pPr indent="0" marL="0">
              <a:buNone/>
            </a:pPr>
            <a:r>
              <a:rPr lang="en-US" sz="1350" dirty="0">
                <a:solidFill>
                  <a:srgbClr val="123047"/>
                </a:solidFill>
              </a:rPr>
              <a:t>Publish CEO, CTO and Sales views from the same underlying data</a:t>
            </a:r>
            <a:endParaRPr lang="en-US" sz="1350" dirty="0"/>
          </a:p>
        </p:txBody>
      </p:sp>
      <p:sp>
        <p:nvSpPr>
          <p:cNvPr id="21" name="Shape 19"/>
          <p:cNvSpPr/>
          <p:nvPr/>
        </p:nvSpPr>
        <p:spPr>
          <a:xfrm>
            <a:off x="822960" y="5001768"/>
            <a:ext cx="384048" cy="384048"/>
          </a:xfrm>
          <a:prstGeom prst="ellipse">
            <a:avLst/>
          </a:prstGeom>
          <a:solidFill>
            <a:srgbClr val="00787D"/>
          </a:solidFill>
          <a:ln w="12700">
            <a:solidFill>
              <a:srgbClr val="00787D"/>
            </a:solidFill>
            <a:prstDash val="solid"/>
          </a:ln>
        </p:spPr>
        <p:txBody>
          <a:bodyPr/>
          <a:p/>
        </p:txBody>
      </p:sp>
      <p:sp>
        <p:nvSpPr>
          <p:cNvPr id="22" name="Text 20"/>
          <p:cNvSpPr/>
          <p:nvPr/>
        </p:nvSpPr>
        <p:spPr>
          <a:xfrm>
            <a:off x="914400" y="5074920"/>
            <a:ext cx="201168" cy="164592"/>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sp>
        <p:nvSpPr>
          <p:cNvPr id="23" name="Text 21"/>
          <p:cNvSpPr/>
          <p:nvPr/>
        </p:nvSpPr>
        <p:spPr>
          <a:xfrm>
            <a:off x="1417320" y="4983480"/>
            <a:ext cx="9692640" cy="411480"/>
          </a:xfrm>
          <a:prstGeom prst="rect">
            <a:avLst/>
          </a:prstGeom>
          <a:noFill/>
          <a:ln/>
        </p:spPr>
        <p:txBody>
          <a:bodyPr wrap="square" lIns="0" tIns="0" rIns="0" bIns="0" rtlCol="0" anchor="ctr"/>
          <a:lstStyle/>
          <a:p>
            <a:pPr indent="0" marL="0">
              <a:buNone/>
            </a:pPr>
            <a:r>
              <a:rPr lang="en-US" sz="1350" dirty="0">
                <a:solidFill>
                  <a:srgbClr val="123047"/>
                </a:solidFill>
              </a:rPr>
              <a:t>Govern customer date promises through explicit commercial status</a:t>
            </a:r>
            <a:endParaRPr lang="en-US" sz="1350" dirty="0"/>
          </a:p>
        </p:txBody>
      </p:sp>
      <p:sp>
        <p:nvSpPr>
          <p:cNvPr id="24" name="Shape 22"/>
          <p:cNvSpPr/>
          <p:nvPr/>
        </p:nvSpPr>
        <p:spPr>
          <a:xfrm>
            <a:off x="1645920" y="5715000"/>
            <a:ext cx="8869680" cy="530352"/>
          </a:xfrm>
          <a:prstGeom prst="roundRect">
            <a:avLst/>
          </a:prstGeom>
          <a:solidFill>
            <a:srgbClr val="123047"/>
          </a:solidFill>
          <a:ln w="12700">
            <a:solidFill>
              <a:srgbClr val="123047"/>
            </a:solidFill>
            <a:prstDash val="solid"/>
          </a:ln>
        </p:spPr>
        <p:txBody>
          <a:bodyPr/>
          <a:p/>
        </p:txBody>
      </p:sp>
      <p:sp>
        <p:nvSpPr>
          <p:cNvPr id="25" name="Text 23"/>
          <p:cNvSpPr/>
          <p:nvPr/>
        </p:nvSpPr>
        <p:spPr>
          <a:xfrm>
            <a:off x="1874520" y="5870448"/>
            <a:ext cx="8412480" cy="201168"/>
          </a:xfrm>
          <a:prstGeom prst="rect">
            <a:avLst/>
          </a:prstGeom>
          <a:noFill/>
          <a:ln/>
        </p:spPr>
        <p:txBody>
          <a:bodyPr wrap="square" lIns="0" tIns="0" rIns="0" bIns="0" rtlCol="0" anchor="ctr"/>
          <a:lstStyle/>
          <a:p>
            <a:pPr algn="ctr" indent="0" marL="0">
              <a:buNone/>
            </a:pPr>
            <a:r>
              <a:rPr lang="en-US" sz="1400" b="1" dirty="0">
                <a:solidFill>
                  <a:srgbClr val="FFFFFF"/>
                </a:solidFill>
              </a:rPr>
              <a:t>One source of truth. Different questions. Progressively higher certainty.</a:t>
            </a:r>
            <a:endParaRPr lang="en-US" sz="1400" dirty="0"/>
          </a:p>
        </p:txBody>
      </p:sp>
      <p:sp>
        <p:nvSpPr>
          <p:cNvPr id="26" name="Text 24"/>
          <p:cNvSpPr/>
          <p:nvPr/>
        </p:nvSpPr>
        <p:spPr>
          <a:xfrm>
            <a:off x="11201400" y="6473952"/>
            <a:ext cx="320040" cy="182880"/>
          </a:xfrm>
          <a:prstGeom prst="rect">
            <a:avLst/>
          </a:prstGeom>
          <a:noFill/>
          <a:ln/>
        </p:spPr>
        <p:txBody>
          <a:bodyPr wrap="square" lIns="0" tIns="0" rIns="0" bIns="0" rtlCol="0" anchor="ctr"/>
          <a:lstStyle/>
          <a:p>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787D"/>
          </a:solidFill>
          <a:ln w="12700">
            <a:solidFill>
              <a:srgbClr val="00787D"/>
            </a:solidFill>
            <a:prstDash val="solid"/>
          </a:ln>
        </p:spPr>
        <p:txBody>
          <a:bodyPr/>
          <a:p/>
        </p:txBody>
      </p:sp>
      <p:sp>
        <p:nvSpPr>
          <p:cNvPr id="3" name="Text 1"/>
          <p:cNvSpPr/>
          <p:nvPr/>
        </p:nvSpPr>
        <p:spPr>
          <a:xfrm>
            <a:off x="640080" y="320040"/>
            <a:ext cx="4114800" cy="228600"/>
          </a:xfrm>
          <a:prstGeom prst="rect">
            <a:avLst/>
          </a:prstGeom>
          <a:noFill/>
          <a:ln/>
        </p:spPr>
        <p:txBody>
          <a:bodyPr wrap="square" rtlCol="0" anchor="ctr"/>
          <a:lstStyle/>
          <a:p>
            <a:pPr indent="0" marL="0">
              <a:buNone/>
            </a:pPr>
            <a:r>
              <a:rPr lang="en-US" sz="900" b="1" spc="120" kern="0" dirty="0">
                <a:solidFill>
                  <a:srgbClr val="00787D"/>
                </a:solidFill>
                <a:latin typeface="Aptos" pitchFamily="34" charset="0"/>
                <a:ea typeface="Aptos" pitchFamily="34" charset="-122"/>
                <a:cs typeface="Aptos" pitchFamily="34" charset="-120"/>
              </a:rPr>
              <a:t>SOURCES</a:t>
            </a:r>
            <a:endParaRPr lang="en-US" sz="900" dirty="0"/>
          </a:p>
        </p:txBody>
      </p:sp>
      <p:sp>
        <p:nvSpPr>
          <p:cNvPr id="4" name="Text 2"/>
          <p:cNvSpPr/>
          <p:nvPr/>
        </p:nvSpPr>
        <p:spPr>
          <a:xfrm>
            <a:off x="640080" y="603504"/>
            <a:ext cx="10881360" cy="594360"/>
          </a:xfrm>
          <a:prstGeom prst="rect">
            <a:avLst/>
          </a:prstGeom>
          <a:noFill/>
          <a:ln/>
        </p:spPr>
        <p:txBody>
          <a:bodyPr wrap="square" lIns="0" tIns="0" rIns="0" bIns="0" rtlCol="0" anchor="ctr"/>
          <a:lstStyle/>
          <a:p>
            <a:pPr indent="0" marL="0">
              <a:buNone/>
            </a:pPr>
            <a:r>
              <a:rPr lang="en-US" sz="2700" b="1" dirty="0">
                <a:solidFill>
                  <a:srgbClr val="123047"/>
                </a:solidFill>
                <a:latin typeface="Aptos Display" pitchFamily="34" charset="0"/>
                <a:ea typeface="Aptos Display" pitchFamily="34" charset="-122"/>
                <a:cs typeface="Aptos Display" pitchFamily="34" charset="-120"/>
              </a:rPr>
              <a:t>External best-practice anchors</a:t>
            </a:r>
            <a:endParaRPr lang="en-US" sz="2700" dirty="0"/>
          </a:p>
        </p:txBody>
      </p:sp>
      <p:sp>
        <p:nvSpPr>
          <p:cNvPr id="5" name="Text 3"/>
          <p:cNvSpPr/>
          <p:nvPr/>
        </p:nvSpPr>
        <p:spPr>
          <a:xfrm>
            <a:off x="640080" y="6510528"/>
            <a:ext cx="4023360" cy="164592"/>
          </a:xfrm>
          <a:prstGeom prst="rect">
            <a:avLst/>
          </a:prstGeom>
          <a:noFill/>
          <a:ln/>
        </p:spPr>
        <p:txBody>
          <a:bodyPr wrap="square" lIns="0" tIns="0" rIns="0" bIns="0" rtlCol="0" anchor="ctr"/>
          <a:lstStyle/>
          <a:p>
            <a:pPr indent="0" marL="0">
              <a:buNone/>
            </a:pPr>
            <a:r>
              <a:rPr lang="en-US" sz="750" dirty="0">
                <a:solidFill>
                  <a:srgbClr val="8A969D"/>
                </a:solidFill>
              </a:rPr>
              <a:t>Product Roadmap • Discovery • Delivery</a:t>
            </a:r>
            <a:endParaRPr lang="en-US" sz="750" dirty="0"/>
          </a:p>
        </p:txBody>
      </p:sp>
      <p:sp>
        <p:nvSpPr>
          <p:cNvPr id="6" name="Shape 4"/>
          <p:cNvSpPr/>
          <p:nvPr/>
        </p:nvSpPr>
        <p:spPr>
          <a:xfrm>
            <a:off x="777240" y="1234440"/>
            <a:ext cx="10652760" cy="713232"/>
          </a:xfrm>
          <a:prstGeom prst="roundRect">
            <a:avLst>
              <a:gd name="adj" fmla="val 7692"/>
            </a:avLst>
          </a:prstGeom>
          <a:solidFill>
            <a:srgbClr val="F5F7F8"/>
          </a:solidFill>
          <a:ln w="10160">
            <a:solidFill>
              <a:srgbClr val="D9E0E3"/>
            </a:solidFill>
            <a:prstDash val="solid"/>
          </a:ln>
        </p:spPr>
        <p:txBody>
          <a:bodyPr/>
          <a:p/>
        </p:txBody>
      </p:sp>
      <p:sp>
        <p:nvSpPr>
          <p:cNvPr id="7" name="Shape 5"/>
          <p:cNvSpPr/>
          <p:nvPr/>
        </p:nvSpPr>
        <p:spPr>
          <a:xfrm>
            <a:off x="777240" y="1234440"/>
            <a:ext cx="54864" cy="713232"/>
          </a:xfrm>
          <a:prstGeom prst="rect">
            <a:avLst/>
          </a:prstGeom>
          <a:solidFill>
            <a:srgbClr val="00787D"/>
          </a:solidFill>
          <a:ln w="12700">
            <a:solidFill>
              <a:srgbClr val="00787D"/>
            </a:solidFill>
            <a:prstDash val="solid"/>
          </a:ln>
        </p:spPr>
        <p:txBody>
          <a:bodyPr/>
          <a:p/>
        </p:txBody>
      </p:sp>
      <p:sp>
        <p:nvSpPr>
          <p:cNvPr id="8" name="Text 6"/>
          <p:cNvSpPr/>
          <p:nvPr/>
        </p:nvSpPr>
        <p:spPr>
          <a:xfrm>
            <a:off x="978408" y="1380744"/>
            <a:ext cx="10332720" cy="274320"/>
          </a:xfrm>
          <a:prstGeom prst="rect">
            <a:avLst/>
          </a:prstGeom>
          <a:noFill/>
          <a:ln/>
        </p:spPr>
        <p:txBody>
          <a:bodyPr wrap="square" lIns="0" tIns="0" rIns="0" bIns="0" rtlCol="0" anchor="ctr"/>
          <a:lstStyle/>
          <a:p>
            <a:pPr indent="0" marL="0">
              <a:buNone/>
            </a:pPr>
            <a:r>
              <a:rPr lang="en-US" sz="1300" b="1" dirty="0">
                <a:solidFill>
                  <a:srgbClr val="123047"/>
                </a:solidFill>
              </a:rPr>
              <a:t>Atlassian / JPD</a:t>
            </a:r>
            <a:endParaRPr lang="en-US" sz="1300" dirty="0"/>
          </a:p>
        </p:txBody>
      </p:sp>
      <p:sp>
        <p:nvSpPr>
          <p:cNvPr id="9" name="Text 7"/>
          <p:cNvSpPr/>
          <p:nvPr/>
        </p:nvSpPr>
        <p:spPr>
          <a:xfrm>
            <a:off x="978408" y="1737360"/>
            <a:ext cx="10305288" cy="91440"/>
          </a:xfrm>
          <a:prstGeom prst="rect">
            <a:avLst/>
          </a:prstGeom>
          <a:noFill/>
          <a:ln/>
        </p:spPr>
        <p:txBody>
          <a:bodyPr wrap="square" lIns="0" tIns="0" rIns="0" bIns="0" rtlCol="0" anchor="ctr">
            <a:normAutofit/>
          </a:bodyPr>
          <a:lstStyle/>
          <a:p>
            <a:pPr indent="0" marL="0">
              <a:buNone/>
            </a:pPr>
            <a:r>
              <a:rPr lang="en-US" sz="1050" dirty="0">
                <a:solidFill>
                  <a:srgbClr val="182026"/>
                </a:solidFill>
              </a:rPr>
              <a:t>JPD is a prioritization and roadmapping tool; ideas may be problems, opportunities or potential solutions; committed ideas transition to delivery.</a:t>
            </a:r>
            <a:endParaRPr lang="en-US" sz="1050" dirty="0"/>
          </a:p>
        </p:txBody>
      </p:sp>
      <p:sp>
        <p:nvSpPr>
          <p:cNvPr id="10" name="Shape 8"/>
          <p:cNvSpPr/>
          <p:nvPr/>
        </p:nvSpPr>
        <p:spPr>
          <a:xfrm>
            <a:off x="777240" y="2148840"/>
            <a:ext cx="10652760" cy="713232"/>
          </a:xfrm>
          <a:prstGeom prst="roundRect">
            <a:avLst>
              <a:gd name="adj" fmla="val 7692"/>
            </a:avLst>
          </a:prstGeom>
          <a:solidFill>
            <a:srgbClr val="FFFFFF"/>
          </a:solidFill>
          <a:ln w="10160">
            <a:solidFill>
              <a:srgbClr val="D9E0E3"/>
            </a:solidFill>
            <a:prstDash val="solid"/>
          </a:ln>
        </p:spPr>
        <p:txBody>
          <a:bodyPr/>
          <a:p/>
        </p:txBody>
      </p:sp>
      <p:sp>
        <p:nvSpPr>
          <p:cNvPr id="11" name="Shape 9"/>
          <p:cNvSpPr/>
          <p:nvPr/>
        </p:nvSpPr>
        <p:spPr>
          <a:xfrm>
            <a:off x="777240" y="2148840"/>
            <a:ext cx="54864" cy="713232"/>
          </a:xfrm>
          <a:prstGeom prst="rect">
            <a:avLst/>
          </a:prstGeom>
          <a:solidFill>
            <a:srgbClr val="00787D"/>
          </a:solidFill>
          <a:ln w="12700">
            <a:solidFill>
              <a:srgbClr val="00787D"/>
            </a:solidFill>
            <a:prstDash val="solid"/>
          </a:ln>
        </p:spPr>
        <p:txBody>
          <a:bodyPr/>
          <a:p/>
        </p:txBody>
      </p:sp>
      <p:sp>
        <p:nvSpPr>
          <p:cNvPr id="12" name="Text 10"/>
          <p:cNvSpPr/>
          <p:nvPr/>
        </p:nvSpPr>
        <p:spPr>
          <a:xfrm>
            <a:off x="978408" y="2295144"/>
            <a:ext cx="10332720" cy="274320"/>
          </a:xfrm>
          <a:prstGeom prst="rect">
            <a:avLst/>
          </a:prstGeom>
          <a:noFill/>
          <a:ln/>
        </p:spPr>
        <p:txBody>
          <a:bodyPr wrap="square" lIns="0" tIns="0" rIns="0" bIns="0" rtlCol="0" anchor="ctr"/>
          <a:lstStyle/>
          <a:p>
            <a:r>
              <a:t>Atlassian / Product roadmaps</a:t>
            </a:r>
          </a:p>
          <a:p>
            <a:r>
              <a:t>Roadmaps communicate vision, direction, priorities and progress; executive roadmaps commonly use broad monthly/quarterly horizons.</a:t>
            </a:r>
          </a:p>
        </p:txBody>
      </p:sp>
      <p:sp>
        <p:nvSpPr>
          <p:cNvPr id="13" name="Text 11"/>
          <p:cNvSpPr/>
          <p:nvPr/>
        </p:nvSpPr>
        <p:spPr>
          <a:xfrm>
            <a:off x="978408" y="2651760"/>
            <a:ext cx="10305288" cy="91440"/>
          </a:xfrm>
          <a:prstGeom prst="rect">
            <a:avLst/>
          </a:prstGeom>
          <a:noFill/>
          <a:ln/>
        </p:spPr>
        <p:txBody>
          <a:bodyPr wrap="square" lIns="0" tIns="0" rIns="0" bIns="0" rtlCol="0" anchor="ctr">
            <a:normAutofit/>
          </a:bodyPr>
          <a:lstStyle/>
          <a:p>
            <a:pPr indent="0" marL="0">
              <a:buNone/>
            </a:pPr>
            <a:r>
              <a:rPr lang="en-US" sz="1050" dirty="0">
                <a:solidFill>
                  <a:srgbClr val="182026"/>
                </a:solidFill>
              </a:rPr>
              <a:t>Roadmaps communicate how and why ideas were prioritized; JPD supports curated views for stakeholders.</a:t>
            </a:r>
            <a:endParaRPr lang="en-US" sz="1050" dirty="0"/>
          </a:p>
        </p:txBody>
      </p:sp>
      <p:sp>
        <p:nvSpPr>
          <p:cNvPr id="14" name="Shape 12"/>
          <p:cNvSpPr/>
          <p:nvPr/>
        </p:nvSpPr>
        <p:spPr>
          <a:xfrm>
            <a:off x="777240" y="3063240"/>
            <a:ext cx="10652760" cy="713232"/>
          </a:xfrm>
          <a:prstGeom prst="roundRect">
            <a:avLst>
              <a:gd name="adj" fmla="val 7692"/>
            </a:avLst>
          </a:prstGeom>
          <a:solidFill>
            <a:srgbClr val="F5F7F8"/>
          </a:solidFill>
          <a:ln w="10160">
            <a:solidFill>
              <a:srgbClr val="D9E0E3"/>
            </a:solidFill>
            <a:prstDash val="solid"/>
          </a:ln>
        </p:spPr>
        <p:txBody>
          <a:bodyPr/>
          <a:p/>
        </p:txBody>
      </p:sp>
      <p:sp>
        <p:nvSpPr>
          <p:cNvPr id="15" name="Shape 13"/>
          <p:cNvSpPr/>
          <p:nvPr/>
        </p:nvSpPr>
        <p:spPr>
          <a:xfrm>
            <a:off x="777240" y="3063240"/>
            <a:ext cx="54864" cy="713232"/>
          </a:xfrm>
          <a:prstGeom prst="rect">
            <a:avLst/>
          </a:prstGeom>
          <a:solidFill>
            <a:srgbClr val="123047"/>
          </a:solidFill>
          <a:ln w="12700">
            <a:solidFill>
              <a:srgbClr val="123047"/>
            </a:solidFill>
            <a:prstDash val="solid"/>
          </a:ln>
        </p:spPr>
        <p:txBody>
          <a:bodyPr/>
          <a:p/>
        </p:txBody>
      </p:sp>
      <p:sp>
        <p:nvSpPr>
          <p:cNvPr id="16" name="Text 14"/>
          <p:cNvSpPr/>
          <p:nvPr/>
        </p:nvSpPr>
        <p:spPr>
          <a:xfrm>
            <a:off x="978408" y="3209544"/>
            <a:ext cx="10332720" cy="274320"/>
          </a:xfrm>
          <a:prstGeom prst="rect">
            <a:avLst/>
          </a:prstGeom>
          <a:noFill/>
          <a:ln/>
        </p:spPr>
        <p:txBody>
          <a:bodyPr wrap="square" lIns="0" tIns="0" rIns="0" bIns="0" rtlCol="0" anchor="ctr"/>
          <a:lstStyle/>
          <a:p>
            <a:r>
              <a:t>Productboard</a:t>
            </a:r>
          </a:p>
          <a:p>
            <a:r>
              <a:t>Roadmap communicates strategic direction; release planning is the execution-level plan for delivering decided work.</a:t>
            </a:r>
          </a:p>
        </p:txBody>
      </p:sp>
      <p:sp>
        <p:nvSpPr>
          <p:cNvPr id="17" name="Text 15"/>
          <p:cNvSpPr/>
          <p:nvPr/>
        </p:nvSpPr>
        <p:spPr>
          <a:xfrm>
            <a:off x="978408" y="3566160"/>
            <a:ext cx="10305288" cy="91440"/>
          </a:xfrm>
          <a:prstGeom prst="rect">
            <a:avLst/>
          </a:prstGeom>
          <a:noFill/>
          <a:ln/>
        </p:spPr>
        <p:txBody>
          <a:bodyPr wrap="square" lIns="0" tIns="0" rIns="0" bIns="0" rtlCol="0" anchor="ctr">
            <a:normAutofit/>
          </a:bodyPr>
          <a:lstStyle/>
          <a:p>
            <a:pPr indent="0" marL="0">
              <a:buNone/>
            </a:pPr>
            <a:r>
              <a:rPr lang="en-US" sz="1050" dirty="0">
                <a:solidFill>
                  <a:srgbClr val="182026"/>
                </a:solidFill>
              </a:rPr>
              <a:t>Roadmap = strategic direction; release plan = execution-level delivery plan and timeframe.</a:t>
            </a:r>
            <a:endParaRPr lang="en-US" sz="1050" dirty="0"/>
          </a:p>
        </p:txBody>
      </p:sp>
      <p:sp>
        <p:nvSpPr>
          <p:cNvPr id="18" name="Shape 16"/>
          <p:cNvSpPr/>
          <p:nvPr/>
        </p:nvSpPr>
        <p:spPr>
          <a:xfrm>
            <a:off x="777240" y="3977640"/>
            <a:ext cx="10652760" cy="713232"/>
          </a:xfrm>
          <a:prstGeom prst="roundRect">
            <a:avLst>
              <a:gd name="adj" fmla="val 7692"/>
            </a:avLst>
          </a:prstGeom>
          <a:solidFill>
            <a:srgbClr val="FFFFFF"/>
          </a:solidFill>
          <a:ln w="10160">
            <a:solidFill>
              <a:srgbClr val="D9E0E3"/>
            </a:solidFill>
            <a:prstDash val="solid"/>
          </a:ln>
        </p:spPr>
        <p:txBody>
          <a:bodyPr/>
          <a:p/>
        </p:txBody>
      </p:sp>
      <p:sp>
        <p:nvSpPr>
          <p:cNvPr id="19" name="Shape 17"/>
          <p:cNvSpPr/>
          <p:nvPr/>
        </p:nvSpPr>
        <p:spPr>
          <a:xfrm>
            <a:off x="777240" y="3977640"/>
            <a:ext cx="54864" cy="713232"/>
          </a:xfrm>
          <a:prstGeom prst="rect">
            <a:avLst/>
          </a:prstGeom>
          <a:solidFill>
            <a:srgbClr val="123047"/>
          </a:solidFill>
          <a:ln w="12700">
            <a:solidFill>
              <a:srgbClr val="123047"/>
            </a:solidFill>
            <a:prstDash val="solid"/>
          </a:ln>
        </p:spPr>
        <p:txBody>
          <a:bodyPr/>
          <a:p/>
        </p:txBody>
      </p:sp>
      <p:sp>
        <p:nvSpPr>
          <p:cNvPr id="20" name="Text 18"/>
          <p:cNvSpPr/>
          <p:nvPr/>
        </p:nvSpPr>
        <p:spPr>
          <a:xfrm>
            <a:off x="978408" y="4123944"/>
            <a:ext cx="10332720" cy="274320"/>
          </a:xfrm>
          <a:prstGeom prst="rect">
            <a:avLst/>
          </a:prstGeom>
          <a:noFill/>
          <a:ln/>
        </p:spPr>
        <p:txBody>
          <a:bodyPr wrap="square" lIns="0" tIns="0" rIns="0" bIns="0" rtlCol="0" anchor="ctr"/>
          <a:lstStyle/>
          <a:p>
            <a:r>
              <a:t>Aha! + ProductPlan</a:t>
            </a:r>
          </a:p>
          <a:p>
            <a:r>
              <a:t>Both distinguish strategic product roadmapping from more detailed release/delivery planning and recognize multiple valid roadmap formats.</a:t>
            </a:r>
          </a:p>
        </p:txBody>
      </p:sp>
      <p:sp>
        <p:nvSpPr>
          <p:cNvPr id="21" name="Text 19"/>
          <p:cNvSpPr/>
          <p:nvPr/>
        </p:nvSpPr>
        <p:spPr>
          <a:xfrm>
            <a:off x="978408" y="4480560"/>
            <a:ext cx="10305288" cy="91440"/>
          </a:xfrm>
          <a:prstGeom prst="rect">
            <a:avLst/>
          </a:prstGeom>
          <a:noFill/>
          <a:ln/>
        </p:spPr>
        <p:txBody>
          <a:bodyPr wrap="square" lIns="0" tIns="0" rIns="0" bIns="0" rtlCol="0" anchor="ctr">
            <a:normAutofit/>
          </a:bodyPr>
          <a:lstStyle/>
          <a:p>
            <a:pPr indent="0" marL="0">
              <a:buNone/>
            </a:pPr>
            <a:r>
              <a:rPr lang="en-US" sz="1050" dirty="0">
                <a:solidFill>
                  <a:srgbClr val="182026"/>
                </a:solidFill>
              </a:rPr>
              <a:t>Product roadmap is strategic; release roadmap focuses on timing, dependencies and launch coordination.</a:t>
            </a:r>
            <a:endParaRPr lang="en-US" sz="1050" dirty="0"/>
          </a:p>
        </p:txBody>
      </p:sp>
      <p:sp>
        <p:nvSpPr>
          <p:cNvPr id="22" name="Shape 20"/>
          <p:cNvSpPr/>
          <p:nvPr/>
        </p:nvSpPr>
        <p:spPr>
          <a:xfrm>
            <a:off x="777240" y="4892040"/>
            <a:ext cx="10652760" cy="713232"/>
          </a:xfrm>
          <a:prstGeom prst="roundRect">
            <a:avLst>
              <a:gd name="adj" fmla="val 7692"/>
            </a:avLst>
          </a:prstGeom>
          <a:solidFill>
            <a:srgbClr val="F5F7F8"/>
          </a:solidFill>
          <a:ln w="10160">
            <a:solidFill>
              <a:srgbClr val="D9E0E3"/>
            </a:solidFill>
            <a:prstDash val="solid"/>
          </a:ln>
        </p:spPr>
        <p:txBody>
          <a:bodyPr/>
          <a:p/>
        </p:txBody>
      </p:sp>
      <p:sp>
        <p:nvSpPr>
          <p:cNvPr id="23" name="Shape 21"/>
          <p:cNvSpPr/>
          <p:nvPr/>
        </p:nvSpPr>
        <p:spPr>
          <a:xfrm>
            <a:off x="777240" y="4892040"/>
            <a:ext cx="54864" cy="713232"/>
          </a:xfrm>
          <a:prstGeom prst="rect">
            <a:avLst/>
          </a:prstGeom>
          <a:solidFill>
            <a:srgbClr val="123047"/>
          </a:solidFill>
          <a:ln w="12700">
            <a:solidFill>
              <a:srgbClr val="123047"/>
            </a:solidFill>
            <a:prstDash val="solid"/>
          </a:ln>
        </p:spPr>
        <p:txBody>
          <a:bodyPr/>
          <a:p/>
        </p:txBody>
      </p:sp>
      <p:sp>
        <p:nvSpPr>
          <p:cNvPr id="24" name="Text 22"/>
          <p:cNvSpPr/>
          <p:nvPr/>
        </p:nvSpPr>
        <p:spPr>
          <a:xfrm>
            <a:off x="978408" y="5038344"/>
            <a:ext cx="10332720" cy="274320"/>
          </a:xfrm>
          <a:prstGeom prst="rect">
            <a:avLst/>
          </a:prstGeom>
          <a:noFill/>
          <a:ln/>
        </p:spPr>
        <p:txBody>
          <a:bodyPr wrap="square" lIns="0" tIns="0" rIns="0" bIns="0" rtlCol="0" anchor="ctr"/>
          <a:lstStyle/>
          <a:p>
            <a:r>
              <a:t>Product Talk + airfocus + Pendo</a:t>
            </a:r>
          </a:p>
          <a:p>
            <a:r>
              <a:t>Discovery reduces uncertainty around outcomes, opportunities and solutions; roadmaps evolve as evidence and priorities change.</a:t>
            </a:r>
          </a:p>
        </p:txBody>
      </p:sp>
      <p:sp>
        <p:nvSpPr>
          <p:cNvPr id="25" name="Text 23"/>
          <p:cNvSpPr/>
          <p:nvPr/>
        </p:nvSpPr>
        <p:spPr>
          <a:xfrm>
            <a:off x="978408" y="5394960"/>
            <a:ext cx="10305288" cy="91440"/>
          </a:xfrm>
          <a:prstGeom prst="rect">
            <a:avLst/>
          </a:prstGeom>
          <a:noFill/>
          <a:ln/>
        </p:spPr>
        <p:txBody>
          <a:bodyPr wrap="square" lIns="0" tIns="0" rIns="0" bIns="0" rtlCol="0" anchor="ctr">
            <a:normAutofit/>
          </a:bodyPr>
          <a:lstStyle/>
          <a:p>
            <a:pPr indent="0" marL="0">
              <a:buNone/>
            </a:pPr>
            <a:r>
              <a:rPr lang="en-US" sz="1050" dirty="0">
                <a:solidFill>
                  <a:srgbClr val="182026"/>
                </a:solidFill>
              </a:rPr>
              <a:t>Outcomes connect to opportunities, candidate solutions and assumption testing; discovery manages uncertainty.</a:t>
            </a:r>
            <a:endParaRPr lang="en-US" sz="1050" dirty="0"/>
          </a:p>
        </p:txBody>
      </p:sp>
      <p:sp>
        <p:nvSpPr>
          <p:cNvPr id="26" name="Text 24"/>
          <p:cNvSpPr/>
          <p:nvPr/>
        </p:nvSpPr>
        <p:spPr>
          <a:xfrm>
            <a:off x="914400" y="5989320"/>
            <a:ext cx="10332720" cy="274320"/>
          </a:xfrm>
          <a:prstGeom prst="rect">
            <a:avLst/>
          </a:prstGeom>
          <a:noFill/>
          <a:ln/>
        </p:spPr>
        <p:txBody>
          <a:bodyPr wrap="square" lIns="0" tIns="0" rIns="0" bIns="0" rtlCol="0" anchor="ctr"/>
          <a:lstStyle/>
          <a:p>
            <a:r>
              <a:t>Audited across 25 references. Full URLs, evidence table and claim-by-claim cross-check are in the companion document.</a:t>
            </a:r>
          </a:p>
        </p:txBody>
      </p:sp>
      <p:sp>
        <p:nvSpPr>
          <p:cNvPr id="27" name="Text 25"/>
          <p:cNvSpPr/>
          <p:nvPr/>
        </p:nvSpPr>
        <p:spPr>
          <a:xfrm>
            <a:off x="11201400" y="6473952"/>
            <a:ext cx="320040" cy="182880"/>
          </a:xfrm>
          <a:prstGeom prst="rect">
            <a:avLst/>
          </a:prstGeom>
          <a:noFill/>
          <a:ln/>
        </p:spPr>
        <p:txBody>
          <a:bodyPr wrap="square" lIns="0" tIns="0" rIns="0" bIns="0" rtlCol="0" anchor="ctr"/>
          <a:lstStyle/>
          <a:p>
            <a: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Roadmap to Delivery: Executive Alignment</dc:title>
  <dc:subject>Product roadmap, discovery and delivery alignment</dc:subject>
  <dc:creator>OpenAI</dc:creator>
  <cp:lastModifiedBy>OpenAI</cp:lastModifiedBy>
  <cp:revision>1</cp:revision>
  <dcterms:created xsi:type="dcterms:W3CDTF">2026-09-27T11:38:56Z</dcterms:created>
  <dcterms:modified xsi:type="dcterms:W3CDTF">2026-09-27T11:38:56Z</dcterms:modified>
</cp:coreProperties>
</file>